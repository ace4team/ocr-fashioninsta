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96" r:id="rId2"/>
    <p:sldId id="308" r:id="rId3"/>
    <p:sldId id="309" r:id="rId4"/>
    <p:sldId id="259" r:id="rId5"/>
    <p:sldId id="297" r:id="rId6"/>
    <p:sldId id="262" r:id="rId7"/>
    <p:sldId id="298" r:id="rId8"/>
    <p:sldId id="265" r:id="rId9"/>
    <p:sldId id="281" r:id="rId10"/>
    <p:sldId id="283" r:id="rId11"/>
    <p:sldId id="266" r:id="rId12"/>
    <p:sldId id="311" r:id="rId13"/>
    <p:sldId id="299" r:id="rId14"/>
    <p:sldId id="300" r:id="rId15"/>
    <p:sldId id="303" r:id="rId16"/>
    <p:sldId id="310" r:id="rId17"/>
    <p:sldId id="312" r:id="rId18"/>
    <p:sldId id="307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85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7" autoAdjust="0"/>
    <p:restoredTop sz="75089" autoAdjust="0"/>
  </p:normalViewPr>
  <p:slideViewPr>
    <p:cSldViewPr snapToGrid="0">
      <p:cViewPr varScale="1">
        <p:scale>
          <a:sx n="85" d="100"/>
          <a:sy n="85" d="100"/>
        </p:scale>
        <p:origin x="132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FormationOpenClassRoom\Cours13%20-%20R&#233;alisez%20le%20cadrage%20d&#8217;un%20projet%20IA\FashionInsta\cout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fr-FR"/>
              <a:t>Progression Chiffre Affaire Cumulé - 24 Mois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COUTS!$L$78</c:f>
              <c:strCache>
                <c:ptCount val="1"/>
                <c:pt idx="0">
                  <c:v>Réf.
Prog. CA  Cumulé</c:v>
                </c:pt>
              </c:strCache>
            </c:strRef>
          </c:tx>
          <c:spPr>
            <a:ln w="1905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COUTS!$L$79:$L$85</c:f>
              <c:numCache>
                <c:formatCode>#\ ##0\ "€"</c:formatCode>
                <c:ptCount val="7"/>
                <c:pt idx="0">
                  <c:v>0</c:v>
                </c:pt>
                <c:pt idx="1">
                  <c:v>3538.1518506868115</c:v>
                </c:pt>
                <c:pt idx="2">
                  <c:v>13545.556516640325</c:v>
                </c:pt>
                <c:pt idx="3">
                  <c:v>31930.332827490562</c:v>
                </c:pt>
                <c:pt idx="4">
                  <c:v>60235.54763298505</c:v>
                </c:pt>
                <c:pt idx="5">
                  <c:v>99793.287897247035</c:v>
                </c:pt>
                <c:pt idx="6">
                  <c:v>151793.28789724704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BFC-427D-BFCB-1C3B0D2C9BB7}"/>
            </c:ext>
          </c:extLst>
        </c:ser>
        <c:ser>
          <c:idx val="1"/>
          <c:order val="1"/>
          <c:tx>
            <c:strRef>
              <c:f>COUTS!$M$78</c:f>
              <c:strCache>
                <c:ptCount val="1"/>
                <c:pt idx="0">
                  <c:v>Hyp.
Prog. CA  Cumulé</c:v>
                </c:pt>
              </c:strCache>
            </c:strRef>
          </c:tx>
          <c:spPr>
            <a:ln w="1905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COUTS!$M$79:$M$85</c:f>
              <c:numCache>
                <c:formatCode>#\ ##0\ "€"</c:formatCode>
                <c:ptCount val="7"/>
                <c:pt idx="0">
                  <c:v>0</c:v>
                </c:pt>
                <c:pt idx="1">
                  <c:v>16511.375303205125</c:v>
                </c:pt>
                <c:pt idx="2">
                  <c:v>63212.597077654857</c:v>
                </c:pt>
                <c:pt idx="3">
                  <c:v>149008.21986162264</c:v>
                </c:pt>
                <c:pt idx="4">
                  <c:v>281099.2222872636</c:v>
                </c:pt>
                <c:pt idx="5">
                  <c:v>465702.01018715295</c:v>
                </c:pt>
                <c:pt idx="6">
                  <c:v>708368.67685381963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BFC-427D-BFCB-1C3B0D2C9BB7}"/>
            </c:ext>
          </c:extLst>
        </c:ser>
        <c:ser>
          <c:idx val="2"/>
          <c:order val="2"/>
          <c:tx>
            <c:strRef>
              <c:f>COUTS!$O$78</c:f>
              <c:strCache>
                <c:ptCount val="1"/>
                <c:pt idx="0">
                  <c:v>Gain net
Cumulé</c:v>
                </c:pt>
              </c:strCache>
            </c:strRef>
          </c:tx>
          <c:spPr>
            <a:ln w="190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/>
              </a:solidFill>
              <a:ln w="9525">
                <a:solidFill>
                  <a:schemeClr val="accent4"/>
                </a:solidFill>
              </a:ln>
              <a:effectLst/>
            </c:spPr>
          </c:marker>
          <c:xVal>
            <c:numRef>
              <c:f>COUTS!$I$79:$I$85</c:f>
              <c:numCache>
                <c:formatCode>General</c:formatCode>
                <c:ptCount val="7"/>
                <c:pt idx="0">
                  <c:v>0</c:v>
                </c:pt>
                <c:pt idx="1">
                  <c:v>4</c:v>
                </c:pt>
                <c:pt idx="2">
                  <c:v>8</c:v>
                </c:pt>
                <c:pt idx="3">
                  <c:v>12</c:v>
                </c:pt>
                <c:pt idx="4">
                  <c:v>16</c:v>
                </c:pt>
                <c:pt idx="5">
                  <c:v>20</c:v>
                </c:pt>
                <c:pt idx="6">
                  <c:v>24</c:v>
                </c:pt>
              </c:numCache>
            </c:numRef>
          </c:xVal>
          <c:yVal>
            <c:numRef>
              <c:f>COUTS!$O$79:$O$85</c:f>
              <c:numCache>
                <c:formatCode>#\ ##0\ "€"</c:formatCode>
                <c:ptCount val="7"/>
                <c:pt idx="0">
                  <c:v>-19092.169999999998</c:v>
                </c:pt>
                <c:pt idx="1">
                  <c:v>-9468.4132141483533</c:v>
                </c:pt>
                <c:pt idx="2">
                  <c:v>23875.937227681199</c:v>
                </c:pt>
                <c:pt idx="3">
                  <c:v>87937.31703413208</c:v>
                </c:pt>
                <c:pt idx="4">
                  <c:v>188373.63798761187</c:v>
                </c:pt>
                <c:pt idx="5">
                  <c:v>330069.21895657253</c:v>
                </c:pt>
                <c:pt idx="6">
                  <c:v>517386.41895657266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BFC-427D-BFCB-1C3B0D2C9B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33894528"/>
        <c:axId val="833894888"/>
      </c:scatterChart>
      <c:valAx>
        <c:axId val="8338945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888"/>
        <c:crosses val="autoZero"/>
        <c:crossBetween val="midCat"/>
      </c:valAx>
      <c:valAx>
        <c:axId val="8338948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\ ##0\ &quot;€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fr-FR"/>
          </a:p>
        </c:txPr>
        <c:crossAx val="833894528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fr-F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fr-F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736815-A20C-4B10-B29D-B64D64FDFE35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DC3EE-E837-4216-B82C-A4E0B6F89C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539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/4.0/deed.fr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521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1. Brique nouvelle dans l’univers en ligne</a:t>
            </a:r>
          </a:p>
          <a:p>
            <a:r>
              <a:rPr lang="fr-FR" dirty="0"/>
              <a:t>2. L’IA va prendre en compte les habitudes des utilisateurs et personnalisé l’expérience</a:t>
            </a:r>
          </a:p>
          <a:p>
            <a:r>
              <a:rPr lang="fr-FR" dirty="0"/>
              <a:t>3. Construire un modèle de prédiction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25044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dirty="0"/>
              <a:t>Pour notre </a:t>
            </a:r>
            <a:r>
              <a:rPr lang="fr-FR" dirty="0" err="1"/>
              <a:t>PoC</a:t>
            </a:r>
            <a:r>
              <a:rPr lang="fr-FR" dirty="0"/>
              <a:t> nous allons nous focalisé sur l’essentiel, c’est à dire….</a:t>
            </a:r>
          </a:p>
          <a:p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valide la faisabilité de la brique de recommandation, pas celle de l'application complète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7988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1C02-EF4E-7690-A684-53FCFD59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4608CA5-9F7C-FF1C-8FAD-1BB62685E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E64C414-FF66-2FEE-3A70-B7F010721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Approche 2 — Recommandation IA multimodale</a:t>
            </a:r>
          </a:p>
          <a:p>
            <a:r>
              <a:rPr lang="fr-FR" b="1" dirty="0"/>
              <a:t>Principe</a:t>
            </a:r>
            <a:endParaRPr lang="fr-FR" dirty="0"/>
          </a:p>
          <a:p>
            <a:r>
              <a:rPr lang="fr-FR" dirty="0"/>
              <a:t>Exploiter plusieurs modalités décrivant les articles afin de construire une représentation de leur contenu et d’identifier ceux qui correspondent aux préférences de l’utilisateur.</a:t>
            </a:r>
          </a:p>
          <a:p>
            <a:r>
              <a:rPr lang="fr-FR" b="1" dirty="0"/>
              <a:t>Données utilisées</a:t>
            </a:r>
            <a:endParaRPr lang="fr-FR" dirty="0"/>
          </a:p>
          <a:p>
            <a:r>
              <a:rPr lang="fr-FR" b="1" dirty="0"/>
              <a:t>Texte</a:t>
            </a:r>
            <a:r>
              <a:rPr lang="fr-FR" dirty="0"/>
              <a:t> : description, catégorie, marque, caractéristiques…</a:t>
            </a:r>
          </a:p>
          <a:p>
            <a:r>
              <a:rPr lang="fr-FR" b="1" dirty="0"/>
              <a:t>Image</a:t>
            </a:r>
            <a:r>
              <a:rPr lang="fr-FR" dirty="0"/>
              <a:t> : photo de l’article</a:t>
            </a:r>
          </a:p>
          <a:p>
            <a:r>
              <a:rPr lang="fr-FR" b="1" dirty="0"/>
              <a:t>Utilisateur</a:t>
            </a:r>
            <a:r>
              <a:rPr lang="fr-FR" dirty="0"/>
              <a:t> : historique des interactions et articles appréciés</a:t>
            </a:r>
          </a:p>
          <a:p>
            <a:r>
              <a:rPr lang="fr-FR" b="1" dirty="0"/>
              <a:t>Approche envisagée</a:t>
            </a:r>
            <a:endParaRPr lang="fr-FR" dirty="0"/>
          </a:p>
          <a:p>
            <a:r>
              <a:rPr lang="fr-FR" dirty="0"/>
              <a:t>Utiliser un modèle d’IA pour transformer les contenus des articles en </a:t>
            </a:r>
            <a:r>
              <a:rPr lang="fr-FR" b="1" dirty="0"/>
              <a:t>représentations vectorielles (</a:t>
            </a:r>
            <a:r>
              <a:rPr lang="fr-FR" b="1" dirty="0" err="1"/>
              <a:t>embeddings</a:t>
            </a:r>
            <a:r>
              <a:rPr lang="fr-FR" b="1" dirty="0"/>
              <a:t>)</a:t>
            </a:r>
            <a:r>
              <a:rPr lang="fr-FR" dirty="0"/>
              <a:t>.</a:t>
            </a:r>
          </a:p>
          <a:p>
            <a:r>
              <a:rPr lang="fr-FR" dirty="0"/>
              <a:t>Les articles appréciés par l’utilisateur permettent ensuite d'identifier les caractéristiques qui lui correspondent et de rechercher les articles similaires ou pertinents.</a:t>
            </a:r>
          </a:p>
          <a:p>
            <a:r>
              <a:rPr lang="fr-FR" b="1" dirty="0"/>
              <a:t>Pipeline</a:t>
            </a:r>
            <a:endParaRPr lang="fr-FR" dirty="0"/>
          </a:p>
          <a:p>
            <a:r>
              <a:rPr lang="fr-FR" dirty="0"/>
              <a:t>Texte + Image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Modèle multimodal / </a:t>
            </a:r>
            <a:r>
              <a:rPr lang="fr-FR" dirty="0" err="1"/>
              <a:t>embeddings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Représentation vectorielle des articles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Profil des préférences utilisateur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dirty="0"/>
              <a:t>Calcul de similarité / classement</a:t>
            </a:r>
            <a:br>
              <a:rPr lang="fr-FR" dirty="0"/>
            </a:br>
            <a:r>
              <a:rPr lang="fr-FR" dirty="0"/>
              <a:t>↓</a:t>
            </a:r>
            <a:br>
              <a:rPr lang="fr-FR" dirty="0"/>
            </a:br>
            <a:r>
              <a:rPr lang="fr-FR" b="1" dirty="0"/>
              <a:t>Top N recommandations</a:t>
            </a:r>
            <a:endParaRPr lang="fr-FR" dirty="0"/>
          </a:p>
          <a:p>
            <a:r>
              <a:rPr lang="fr-FR" b="1" dirty="0"/>
              <a:t>Évaluation</a:t>
            </a:r>
            <a:endParaRPr lang="fr-FR" dirty="0"/>
          </a:p>
          <a:p>
            <a:r>
              <a:rPr lang="fr-FR" dirty="0"/>
              <a:t>Comparer la pertinence des recommandations avec :</a:t>
            </a:r>
          </a:p>
          <a:p>
            <a:r>
              <a:rPr lang="fr-FR" b="1" dirty="0" err="1"/>
              <a:t>Precision@K</a:t>
            </a:r>
            <a:endParaRPr lang="fr-FR" dirty="0"/>
          </a:p>
          <a:p>
            <a:r>
              <a:rPr lang="fr-FR" b="1" dirty="0" err="1"/>
              <a:t>Recall@K</a:t>
            </a:r>
            <a:endParaRPr lang="fr-FR" dirty="0"/>
          </a:p>
          <a:p>
            <a:r>
              <a:rPr lang="fr-FR" b="1" dirty="0"/>
              <a:t>NDCG@K</a:t>
            </a:r>
            <a:endParaRPr lang="fr-FR" dirty="0"/>
          </a:p>
          <a:p>
            <a:r>
              <a:rPr lang="fr-FR" dirty="0"/>
              <a:t>et comparer les résultats à l’approche ML de référence.</a:t>
            </a:r>
          </a:p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CDAC5E-E10C-4EEA-429D-F1D052E21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836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dirty="0"/>
              <a:t>2 Approches complémentaires</a:t>
            </a:r>
          </a:p>
          <a:p>
            <a:endParaRPr lang="fr-FR" sz="1200" dirty="0"/>
          </a:p>
          <a:p>
            <a:r>
              <a:rPr lang="fr-FR" sz="1200" dirty="0"/>
              <a:t>Nous pouvons proposer: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Des vêtements semblables pour remplacer un élément de la garde robe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Mais également, proposer un nouvel ensemble basé sur la compatibilité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7558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34D93-9DB4-3D8B-EEAF-085E6E52A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809B8601-7D4F-E401-D645-79DB0D9E1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05F9B3-0208-F1B2-1329-7D1253FA6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noter que pour minimiser les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nous utilisons un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model pré entrainé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HuggingFace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les modèles 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les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Dataset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Blob Storage</a:t>
            </a:r>
            <a:r>
              <a:rPr lang="fr-FR" dirty="0"/>
              <a:t> est le service de stockage d'objets dans le cloud de Microsoft Azure, conçu pour héberger de grandes quantités de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données non structurées</a:t>
            </a:r>
            <a:r>
              <a:rPr lang="fr-FR" dirty="0"/>
              <a:t> (comme des images, des vidéos, des fichiers audio, des sauvegardes, des journaux ou des données de Machine Learning).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Machine Learning</a:t>
            </a:r>
            <a:r>
              <a:rPr lang="fr-FR" dirty="0"/>
              <a:t> (Azure ML) est un service cloud de Microsoft qui permet de concevoir, d'entraîner, de déployer et de gérer des modèles d'apprentissage automatique (machine </a:t>
            </a:r>
            <a:r>
              <a:rPr lang="fr-FR" dirty="0" err="1"/>
              <a:t>learning</a:t>
            </a:r>
            <a:r>
              <a:rPr lang="fr-FR" dirty="0"/>
              <a:t>) et d'intelligence artificielle à grande échelle</a:t>
            </a: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 (anciennement connu sous le nom d'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Studio</a:t>
            </a:r>
            <a:r>
              <a:rPr lang="fr-FR" dirty="0"/>
              <a:t> ou 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Foundry</a:t>
            </a:r>
            <a:r>
              <a:rPr lang="fr-FR" dirty="0"/>
              <a:t>) est la plateforme unifiée de Microsoft pour concevoir, tester, déployer et gérer des applications et des agents d'intelligence artificielle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AI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 (anciennement </a:t>
            </a:r>
            <a:r>
              <a:rPr lang="fr-FR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Cognitive </a:t>
            </a:r>
            <a:r>
              <a:rPr lang="fr-FR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fr-FR" dirty="0"/>
              <a:t>) est un service de recherche cloud géré de Microsoft qui permet d'ajouter des capacités de recherche avancées et propulsées par l'intelligence artificielle à vos applications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 App Service, Azure Container Apps (ACA) et Azure </a:t>
            </a:r>
            <a:r>
              <a:rPr lang="fr-FR" sz="1200" b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r>
              <a:rPr lang="fr-FR" sz="1200" b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Service (AKS) 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sont </a:t>
            </a:r>
            <a:r>
              <a:rPr lang="fr-FR" dirty="0"/>
              <a:t>trois services majeurs de Microsoft Azure pour héberger des applications, mais ils ciblent des besoins et des niveaux de contrôle très différents.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Pour le calcule des couts avec Azure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/>
              <a:t>https://azure.microsoft.com/fr-fr/pricing/calculator/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1B8132-A69F-68F6-C6EA-75AFAC97D0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35302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Succès du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PoC</a:t>
            </a:r>
            <a:r>
              <a:rPr lang="fr-FR" dirty="0">
                <a:effectLst/>
              </a:rPr>
              <a:t> </a:t>
            </a: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Faisabilité technique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segmentation exploitable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embeddings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exploitables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caractéristiques suffisamment fiables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Pertinence</a:t>
            </a:r>
            <a:r>
              <a:rPr lang="fr-FR" dirty="0">
                <a:effectLst/>
              </a:rPr>
              <a:t> 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modèle de compatibilité performant</a:t>
            </a:r>
            <a:r>
              <a:rPr lang="fr-FR" dirty="0">
                <a:effectLst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recommandations Top-K pertinentes</a:t>
            </a:r>
            <a:r>
              <a:rPr lang="fr-FR" dirty="0">
                <a:effectLst/>
              </a:rPr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Valeur métier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meilleure personnalisation que la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baseline</a:t>
            </a:r>
            <a:r>
              <a:rPr lang="fr-FR" dirty="0">
                <a:effectLst/>
              </a:rPr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3774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0" lang="fr-FR" altLang="fr-FR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Cela permet de vérifier que la chaîne fonctionne correctement</a:t>
            </a:r>
            <a:endParaRPr lang="fr-FR" dirty="0"/>
          </a:p>
          <a:p>
            <a:endParaRPr lang="fr-F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Modèle de compatibilité: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chaque tenue connue du </a:t>
            </a:r>
            <a:r>
              <a:rPr lang="fr-FR" dirty="0" err="1"/>
              <a:t>dataset</a:t>
            </a:r>
            <a:r>
              <a:rPr lang="fr-FR" dirty="0"/>
              <a:t>, on masque un vêtement et on demande au système de le retrouver à partir des autres vêtements.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3448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déterminer avec le métier quel niveau de pertinence rend la fonctionnalité exploitable.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4297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68802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Responsable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deréaliser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tache</a:t>
            </a:r>
            <a:endParaRPr lang="fr-FR" dirty="0">
              <a:effectLst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Approuver la tache</a:t>
            </a:r>
            <a:endParaRPr lang="fr-FR" dirty="0">
              <a:effectLst/>
            </a:endParaRP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Consultant conseil (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souvant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plusieurs sur une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meme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tache)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fr-FR" dirty="0">
                <a:effectLst/>
              </a:rPr>
              <a:t> 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Informé après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execution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pour la suite des travaux</a:t>
            </a:r>
            <a:r>
              <a:rPr lang="fr-FR" dirty="0">
                <a:effectLst/>
              </a:rPr>
              <a:t> </a:t>
            </a:r>
          </a:p>
          <a:p>
            <a:endParaRPr lang="fr-FR" dirty="0">
              <a:effectLst/>
            </a:endParaRPr>
          </a:p>
          <a:p>
            <a:r>
              <a:rPr lang="fr-FR" dirty="0">
                <a:effectLst/>
              </a:rPr>
              <a:t>Taux occupation = % pour 1 personne sur la période de travail de la phase 1 (</a:t>
            </a:r>
            <a:r>
              <a:rPr lang="fr-FR" dirty="0" err="1">
                <a:effectLst/>
              </a:rPr>
              <a:t>PoC</a:t>
            </a:r>
            <a:r>
              <a:rPr lang="fr-FR" dirty="0">
                <a:effectLst/>
              </a:rPr>
              <a:t>)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8411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593ddc2c_0_6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593ddc2c_0_6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b="1" dirty="0"/>
              <a:t>POC</a:t>
            </a:r>
            <a:endParaRPr lang="fr-FR" dirty="0"/>
          </a:p>
          <a:p>
            <a:r>
              <a:rPr lang="fr-FR" dirty="0"/>
              <a:t>COPROJ : début POC </a:t>
            </a:r>
          </a:p>
          <a:p>
            <a:r>
              <a:rPr lang="fr-FR" dirty="0"/>
              <a:t>COPROJ : après préparation du jeu de test </a:t>
            </a:r>
          </a:p>
          <a:p>
            <a:r>
              <a:rPr lang="fr-FR" dirty="0"/>
              <a:t>COPROJ : point intermédiaire sur les résultats </a:t>
            </a:r>
          </a:p>
          <a:p>
            <a:r>
              <a:rPr lang="fr-FR" dirty="0"/>
              <a:t>COPROJ : avant synthèse </a:t>
            </a:r>
          </a:p>
          <a:p>
            <a:r>
              <a:rPr lang="fr-FR" b="1" dirty="0"/>
              <a:t>COPIL : fin POC → GO / NO-GO MVP</a:t>
            </a:r>
            <a:r>
              <a:rPr lang="fr-FR" dirty="0"/>
              <a:t> </a:t>
            </a:r>
          </a:p>
          <a:p>
            <a:r>
              <a:rPr lang="fr-FR" b="1" dirty="0"/>
              <a:t>MVP</a:t>
            </a:r>
            <a:endParaRPr lang="fr-FR" dirty="0"/>
          </a:p>
          <a:p>
            <a:r>
              <a:rPr lang="fr-FR" dirty="0"/>
              <a:t>COPROJ : lancement MVP </a:t>
            </a:r>
          </a:p>
          <a:p>
            <a:r>
              <a:rPr lang="fr-FR" dirty="0"/>
              <a:t>COPROJ : point architecture/développement </a:t>
            </a:r>
          </a:p>
          <a:p>
            <a:r>
              <a:rPr lang="fr-FR" dirty="0"/>
              <a:t>COPROJ : point validation </a:t>
            </a:r>
          </a:p>
          <a:p>
            <a:r>
              <a:rPr lang="fr-FR" b="1" dirty="0"/>
              <a:t>COPIL : fin MVP → GO / NO-GO RUN</a:t>
            </a:r>
            <a:r>
              <a:rPr lang="fr-FR" dirty="0"/>
              <a:t> </a:t>
            </a:r>
          </a:p>
          <a:p>
            <a:r>
              <a:rPr lang="fr-FR" b="1" dirty="0"/>
              <a:t>RUN</a:t>
            </a:r>
            <a:endParaRPr lang="fr-FR" dirty="0"/>
          </a:p>
          <a:p>
            <a:r>
              <a:rPr lang="fr-FR" dirty="0"/>
              <a:t>COPROJ : suivi opérationnel régulier </a:t>
            </a:r>
          </a:p>
          <a:p>
            <a:r>
              <a:rPr lang="fr-FR" b="1" dirty="0"/>
              <a:t>COPIL : revue périodique</a:t>
            </a:r>
            <a:r>
              <a:rPr lang="fr-FR" dirty="0"/>
              <a:t> des KPI, coûts, qualité et feuille de route.</a:t>
            </a:r>
          </a:p>
          <a:p>
            <a:endParaRPr lang="fr-FR" dirty="0"/>
          </a:p>
          <a:p>
            <a:r>
              <a:rPr lang="fr-FR" dirty="0"/>
              <a:t>POC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Scientist</a:t>
            </a:r>
            <a:r>
              <a:rPr lang="fr-FR" dirty="0"/>
              <a:t> est le profil principal du POC : préparation du protocole, </a:t>
            </a:r>
            <a:r>
              <a:rPr lang="fr-FR" dirty="0" err="1"/>
              <a:t>embeddings</a:t>
            </a:r>
            <a:r>
              <a:rPr lang="fr-FR" dirty="0"/>
              <a:t>, similarité, modèle de compatibilité et évaluation.</a:t>
            </a:r>
          </a:p>
          <a:p>
            <a:r>
              <a:rPr lang="fr-FR" dirty="0"/>
              <a:t>Le </a:t>
            </a:r>
            <a:r>
              <a:rPr lang="fr-FR" b="1" dirty="0"/>
              <a:t>Data </a:t>
            </a:r>
            <a:r>
              <a:rPr lang="fr-FR" b="1" dirty="0" err="1"/>
              <a:t>Engineer</a:t>
            </a:r>
            <a:r>
              <a:rPr lang="fr-FR" dirty="0"/>
              <a:t> est surtout sollicité pour préparer et structurer les données. Sa charge diminue une fois le jeu de test disponible.</a:t>
            </a:r>
          </a:p>
          <a:p>
            <a:r>
              <a:rPr lang="fr-FR" dirty="0"/>
              <a:t>Le </a:t>
            </a:r>
            <a:r>
              <a:rPr lang="fr-FR" b="1" dirty="0"/>
              <a:t>Tech Lead Data</a:t>
            </a:r>
            <a:r>
              <a:rPr lang="fr-FR" dirty="0"/>
              <a:t> intervient ponctuellement pour valider l'architecture et les choix techniques.</a:t>
            </a:r>
          </a:p>
          <a:p>
            <a:r>
              <a:rPr lang="fr-FR" dirty="0"/>
              <a:t>Le </a:t>
            </a:r>
            <a:r>
              <a:rPr lang="fr-FR" b="1" dirty="0"/>
              <a:t>ML Ops</a:t>
            </a:r>
            <a:r>
              <a:rPr lang="fr-FR" dirty="0"/>
              <a:t> intervient peu au début, puis davantage lorsque les modèles doivent être évalués dans des conditions proches du déploiement.</a:t>
            </a:r>
          </a:p>
          <a:p>
            <a:endParaRPr lang="fr-FR" dirty="0"/>
          </a:p>
          <a:p>
            <a:r>
              <a:rPr lang="fr-FR" dirty="0"/>
              <a:t>MVP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68FD7-E763-8A8C-EE8E-694901B1A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75FB3C6-27AC-E8EF-601A-A14E65F40F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99DFB0E-C59D-5C1F-6362-789F1005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EF8B46-58A7-A125-A538-8E0F876637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67388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29478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</a:t>
            </a:r>
            <a:r>
              <a:rPr lang="fr-FR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licence CC BY 4.0</a:t>
            </a:r>
            <a:r>
              <a:rPr lang="fr-FR" dirty="0"/>
              <a:t> (Attribution 4.0 International) est la licence la plus ouverte de </a:t>
            </a:r>
            <a:r>
              <a:rPr lang="fr-FR" b="1" dirty="0"/>
              <a:t>Creative Commons</a:t>
            </a:r>
            <a:r>
              <a:rPr lang="fr-FR" dirty="0"/>
              <a:t>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FDC3EE-E837-4216-B82C-A4E0B6F89CB4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1468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DD21BB-1CE0-7901-61C2-3B24602F7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8FD5469-6BA4-AEC3-A5B7-904EBCD325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6950A4-FD24-F065-8B74-E08809913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1A8E2FC-709B-0B0C-C029-EBF71BD70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22FCD2-5031-5192-6F55-08DC40C0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84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2D063F-8D80-4D91-22E2-D3DEBF066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231B1F-F03E-7638-E4A4-4125EF0AF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59CBFB-7FCF-D142-FAD6-7826CF3FE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54CE63-EB05-D633-249F-5A775A114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EAE44CA-E21D-5601-228B-BF77BD1E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614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F48CDE-C309-59C4-4895-0A4BBFF9F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80C6CFE-E1FD-D0F4-6F08-5B9A363376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24640F-D135-A307-6D41-393B432B8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1984362-0410-3E83-E073-F7F8009A1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95F0DB1-2B9E-7E60-5988-AEF189FF6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04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43FC0A3-466C-4402-CC05-2C760C56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82F9EE-E6E9-63EA-CCB5-E1390FB64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4FB9B13-53D0-3EDC-C6AC-052A16943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D8CC1C4-4FDC-953F-0161-CA3C4FA71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EB0905-5001-CF99-4B0C-4886C62D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5FE4F4-019B-60F5-CD1D-BA4689D0C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3735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5D6C3A-C82D-4D1D-2005-62EAE28A0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7216FAF-EC17-1EDD-2BEF-A5ED41265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A0FD0E4-0D98-904D-CAB3-B048FDD35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3080324-FC3B-5BA8-64C8-7DF5FA3EF4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3B409B-857E-1C2A-E03E-B0FFE187DF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982A2E-A67E-3B0B-A6F3-DE0906837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33CFF35-20A1-0B0F-2D60-0744DB5D5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A7FD97-F161-6EE1-74EE-652DA1FE0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2802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CDBB13-8CA2-FA7B-C3C8-EEB3DB605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50E2318-6E16-F401-B279-2202461F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5834A39-D4BC-0C8F-50E8-46B3F88C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7330EE6B-C09A-94C7-6B0F-7E4EC221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212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F4F0933-72DA-E507-0159-F34CCA911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1B07705-56D7-EC36-E832-FCEEA99BB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A17672-C458-F1AF-C153-E98EA3804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94733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B0213D-5179-8CEB-DBB0-4B8A16480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9A7073-C342-4670-0A3D-C1A7489024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AB8202E-D7E3-1708-CD37-2631CF80F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12D6FC1-9165-CFDB-916F-7517EED9B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DB14E1F-C985-1235-1E21-3BC8A2AB5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AFCD46-3388-4030-3AB6-2567CA3E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6731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97292C-130C-97BF-1F27-E960A7E70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A8B82CE-728F-4C07-214A-B649716ACA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6D5A2F-69C8-4EB0-4EE9-429E6AD6A0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E789A3-0747-DC6A-E48F-A508E1C91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4923689-F78B-B593-D149-2FEC61348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B242A2B-08DB-4614-F5EC-340D91AA1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1541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9AA423-CEDB-9333-2D70-1477C63B3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D7517C-4A32-C725-A9A4-35038922C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6579B0D-EC4D-E8EE-125F-B9782A552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F14A52-F46D-C764-67DB-5EF3A880B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E0F349-990C-42DE-2C83-8A9F5BD66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98182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20F6AD7-2C3E-337C-C915-248B46EDD5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8491BC-9B74-18A8-CE89-91CFBC7B0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69A1F4-F529-4E90-AAC4-7E83A613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C5E071-7399-1927-27A7-870D6B7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A2405C-10FF-4A73-0165-EBEA465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5321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18212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4001160-7BC7-DA17-AE3A-7E976507F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99B181-B603-F483-F517-AAE033C3B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8419E-9B0D-2480-6D28-3A2431ACD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4EF5E-5CA6-42F0-B583-013C857A1C28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5911B9-1B6C-D2A5-A9C9-F6A3260782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E5886C3-2DD9-73CC-F407-F7101F9809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77D61-3380-444D-8D84-B08D7B835B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918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11564-E175-E802-3D69-6D7695DD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7033"/>
            <a:ext cx="10515600" cy="1039467"/>
          </a:xfrm>
          <a:noFill/>
        </p:spPr>
        <p:txBody>
          <a:bodyPr/>
          <a:lstStyle/>
          <a:p>
            <a:pPr algn="ctr"/>
            <a:r>
              <a:rPr lang="fr-FR" cap="small" dirty="0">
                <a:latin typeface="Arial Black" panose="020B0A04020102020204" pitchFamily="34" charset="0"/>
              </a:rPr>
              <a:t>Cadrage Projet IA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6367092-174E-FF50-EBDD-9C556A60D16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572" y="1027906"/>
            <a:ext cx="10515600" cy="41481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267;p34">
            <a:extLst>
              <a:ext uri="{FF2B5EF4-FFF2-40B4-BE49-F238E27FC236}">
                <a16:creationId xmlns:a16="http://schemas.microsoft.com/office/drawing/2014/main" id="{D69C45F6-759A-E5AE-CF10-AD7D38C57117}"/>
              </a:ext>
            </a:extLst>
          </p:cNvPr>
          <p:cNvSpPr txBox="1">
            <a:spLocks/>
          </p:cNvSpPr>
          <p:nvPr/>
        </p:nvSpPr>
        <p:spPr>
          <a:xfrm>
            <a:off x="309820" y="5614361"/>
            <a:ext cx="6233928" cy="115376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Formation Développeur IA</a:t>
            </a:r>
          </a:p>
          <a:p>
            <a:pPr marL="0" indent="0">
              <a:spcBef>
                <a:spcPts val="0"/>
              </a:spcBef>
              <a:buNone/>
            </a:pPr>
            <a:r>
              <a:rPr lang="fr-FR" sz="3600" i="1" dirty="0">
                <a:solidFill>
                  <a:schemeClr val="bg1">
                    <a:lumMod val="50000"/>
                  </a:schemeClr>
                </a:solidFill>
              </a:rPr>
              <a:t>Septembre 2026</a:t>
            </a:r>
          </a:p>
        </p:txBody>
      </p:sp>
      <p:sp>
        <p:nvSpPr>
          <p:cNvPr id="5" name="Google Shape;267;p34">
            <a:extLst>
              <a:ext uri="{FF2B5EF4-FFF2-40B4-BE49-F238E27FC236}">
                <a16:creationId xmlns:a16="http://schemas.microsoft.com/office/drawing/2014/main" id="{238A8E7D-3DF6-7D82-87F9-14C7E9E7DD24}"/>
              </a:ext>
            </a:extLst>
          </p:cNvPr>
          <p:cNvSpPr txBox="1">
            <a:spLocks/>
          </p:cNvSpPr>
          <p:nvPr/>
        </p:nvSpPr>
        <p:spPr>
          <a:xfrm>
            <a:off x="309820" y="5149824"/>
            <a:ext cx="2667000" cy="45666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fr-FR" sz="2400" i="1" dirty="0">
                <a:solidFill>
                  <a:schemeClr val="accent1">
                    <a:lumMod val="75000"/>
                  </a:schemeClr>
                </a:solidFill>
              </a:rPr>
              <a:t>Thomas AUGUEY</a:t>
            </a:r>
          </a:p>
        </p:txBody>
      </p:sp>
      <p:pic>
        <p:nvPicPr>
          <p:cNvPr id="6" name="Picture 6" descr="OpenClassrooms | Spreadshop">
            <a:extLst>
              <a:ext uri="{FF2B5EF4-FFF2-40B4-BE49-F238E27FC236}">
                <a16:creationId xmlns:a16="http://schemas.microsoft.com/office/drawing/2014/main" id="{3FBC5416-E130-D775-C779-637BD34163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3296" y="6036921"/>
            <a:ext cx="3648884" cy="654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627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12DFC9-1885-CE15-EA93-FFD82859E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Contexte et Enjeux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7BE346DF-8C52-0E02-10CB-7FE352108FFB}"/>
              </a:ext>
            </a:extLst>
          </p:cNvPr>
          <p:cNvSpPr txBox="1">
            <a:spLocks/>
          </p:cNvSpPr>
          <p:nvPr/>
        </p:nvSpPr>
        <p:spPr>
          <a:xfrm>
            <a:off x="8376355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Enjeux: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Augmenter le CA des ventes en lignes de +14% sur 24 mois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CA en magasin de +4% sur 24 mois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0E3EF33E-FBE8-ADBC-2A09-C9350D2EA1D7}"/>
              </a:ext>
            </a:extLst>
          </p:cNvPr>
          <p:cNvSpPr txBox="1">
            <a:spLocks/>
          </p:cNvSpPr>
          <p:nvPr/>
        </p:nvSpPr>
        <p:spPr>
          <a:xfrm>
            <a:off x="4402666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Contexte: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Offre importante de contenu en ligne, améliorer la suggestion de produit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65AF2895-F5D7-6289-6C34-BD90BCFDC129}"/>
              </a:ext>
            </a:extLst>
          </p:cNvPr>
          <p:cNvSpPr txBox="1">
            <a:spLocks/>
          </p:cNvSpPr>
          <p:nvPr/>
        </p:nvSpPr>
        <p:spPr>
          <a:xfrm>
            <a:off x="428977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Fashion Insta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Annuel : 10,4 M/€</a:t>
            </a:r>
          </a:p>
          <a:p>
            <a:pPr marL="0" indent="0">
              <a:buNone/>
            </a:pPr>
            <a:r>
              <a:rPr lang="fr-FR" dirty="0"/>
              <a:t>Web : 50% CA</a:t>
            </a:r>
          </a:p>
          <a:p>
            <a:pPr marL="0" indent="0">
              <a:buNone/>
            </a:pPr>
            <a:r>
              <a:rPr lang="fr-FR" dirty="0"/>
              <a:t>11 Magasins : 50% CA</a:t>
            </a:r>
          </a:p>
        </p:txBody>
      </p:sp>
    </p:spTree>
    <p:extLst>
      <p:ext uri="{BB962C8B-B14F-4D97-AF65-F5344CB8AC3E}">
        <p14:creationId xmlns:p14="http://schemas.microsoft.com/office/powerpoint/2010/main" val="203800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3A6BD-9890-F019-89D0-95D08E2DA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11C25C-9CA9-E7F4-A202-4BB87E3AA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Pourquoi l’IA ?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AA85B8B4-91F3-64B9-8577-8A72CF284213}"/>
              </a:ext>
            </a:extLst>
          </p:cNvPr>
          <p:cNvSpPr txBox="1">
            <a:spLocks/>
          </p:cNvSpPr>
          <p:nvPr/>
        </p:nvSpPr>
        <p:spPr>
          <a:xfrm>
            <a:off x="8376355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Comment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Réaliser un </a:t>
            </a:r>
            <a:r>
              <a:rPr lang="fr-FR" dirty="0" err="1"/>
              <a:t>PoC</a:t>
            </a:r>
            <a:r>
              <a:rPr lang="fr-FR" dirty="0"/>
              <a:t> orienté sur la fonctionnalité principale: Recommandation d’articles</a:t>
            </a:r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48F432FE-53BB-3A02-615F-6DE16CB02FD7}"/>
              </a:ext>
            </a:extLst>
          </p:cNvPr>
          <p:cNvSpPr txBox="1">
            <a:spLocks/>
          </p:cNvSpPr>
          <p:nvPr/>
        </p:nvSpPr>
        <p:spPr>
          <a:xfrm>
            <a:off x="4402666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Utilisateur: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Apporter une dimension personnelle à la recommandation de produits</a:t>
            </a:r>
          </a:p>
        </p:txBody>
      </p:sp>
      <p:sp>
        <p:nvSpPr>
          <p:cNvPr id="6" name="Sous-titre 2">
            <a:extLst>
              <a:ext uri="{FF2B5EF4-FFF2-40B4-BE49-F238E27FC236}">
                <a16:creationId xmlns:a16="http://schemas.microsoft.com/office/drawing/2014/main" id="{F84D79DA-C7DA-F929-4A32-38E7B797C9B8}"/>
              </a:ext>
            </a:extLst>
          </p:cNvPr>
          <p:cNvSpPr txBox="1">
            <a:spLocks/>
          </p:cNvSpPr>
          <p:nvPr/>
        </p:nvSpPr>
        <p:spPr>
          <a:xfrm>
            <a:off x="428977" y="1840088"/>
            <a:ext cx="3386667" cy="43634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/>
              <a:t>C’est quoi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Technologie émergente envahie le marché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Apprendre des habitudes et proposer des services personnalisés</a:t>
            </a:r>
          </a:p>
        </p:txBody>
      </p:sp>
    </p:spTree>
    <p:extLst>
      <p:ext uri="{BB962C8B-B14F-4D97-AF65-F5344CB8AC3E}">
        <p14:creationId xmlns:p14="http://schemas.microsoft.com/office/powerpoint/2010/main" val="2456824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7802-B14C-BA96-AACD-F5B3FF0DF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AE7D39-4309-1DD2-9CDA-58AF9AE9FA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16200000">
            <a:off x="-1583434" y="3943386"/>
            <a:ext cx="4109156" cy="646331"/>
          </a:xfrm>
        </p:spPr>
        <p:txBody>
          <a:bodyPr>
            <a:normAutofit/>
          </a:bodyPr>
          <a:lstStyle/>
          <a:p>
            <a:r>
              <a:rPr lang="fr-FR" sz="3600" dirty="0"/>
              <a:t>Périmètre du </a:t>
            </a:r>
            <a:r>
              <a:rPr lang="fr-FR" sz="3600" dirty="0" err="1"/>
              <a:t>PoC</a:t>
            </a:r>
            <a:endParaRPr lang="fr-FR" sz="3600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BF51F8F-852A-CA2E-F3A4-6A5D75E95D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033" y="2901457"/>
            <a:ext cx="5692588" cy="2992882"/>
          </a:xfrm>
        </p:spPr>
        <p:txBody>
          <a:bodyPr>
            <a:normAutofit/>
          </a:bodyPr>
          <a:lstStyle/>
          <a:p>
            <a:pPr algn="l"/>
            <a:r>
              <a:rPr lang="fr-FR" sz="2800" b="1" dirty="0" err="1"/>
              <a:t>PoC</a:t>
            </a:r>
            <a:endParaRPr lang="fr-FR" sz="2800" b="1" dirty="0"/>
          </a:p>
          <a:p>
            <a:pPr algn="l"/>
            <a:endParaRPr lang="fr-FR" sz="16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Identifier les données nécessaires à la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Expérimenter plusieurs approches IA/ML de recommandation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Évaluer la pertinence des recommandations à l'aide de métriques métier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Comparer les approches et identifier les conditions nécessaires à une future industrialisation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26705A7B-EE01-A4C4-780E-6E8B6CA11603}"/>
              </a:ext>
            </a:extLst>
          </p:cNvPr>
          <p:cNvSpPr txBox="1">
            <a:spLocks/>
          </p:cNvSpPr>
          <p:nvPr/>
        </p:nvSpPr>
        <p:spPr>
          <a:xfrm>
            <a:off x="6946877" y="2901457"/>
            <a:ext cx="5072799" cy="299288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fr-FR" sz="2800" b="1" dirty="0"/>
              <a:t>Hors </a:t>
            </a:r>
            <a:r>
              <a:rPr lang="fr-FR" sz="2800" b="1" dirty="0" err="1"/>
              <a:t>PoC</a:t>
            </a:r>
            <a:endParaRPr lang="fr-FR" sz="2800" b="1" dirty="0"/>
          </a:p>
          <a:p>
            <a:pPr algn="l"/>
            <a:endParaRPr lang="fr-FR" sz="28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Développement de l'application mobile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Gestion des comptes et Authentification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Développement des fonctionnalités métier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Mise en production et industrialisation de la solution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Constitution d'une base de données utilisateurs réels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fr-FR" sz="1600" dirty="0"/>
              <a:t>Personnalisation des photos (couleurs, tailles, etc…)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fr-FR" sz="1600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B7D0C5B-E8FE-7C5A-64F1-B4A9695D89B0}"/>
              </a:ext>
            </a:extLst>
          </p:cNvPr>
          <p:cNvSpPr txBox="1"/>
          <p:nvPr/>
        </p:nvSpPr>
        <p:spPr>
          <a:xfrm>
            <a:off x="2030506" y="627181"/>
            <a:ext cx="813098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Générer une liste d’articles personnalisée pour chaque utilisateur.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30898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EB095-8D42-91D5-92B7-F3C03C31A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E84C51-1B6E-C68C-F6CD-08F773D8A8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System Design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A7E9525-26BF-3DFA-6DE9-757D7D79EBF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Solution IA end-to-tend</a:t>
            </a:r>
          </a:p>
        </p:txBody>
      </p:sp>
    </p:spTree>
    <p:extLst>
      <p:ext uri="{BB962C8B-B14F-4D97-AF65-F5344CB8AC3E}">
        <p14:creationId xmlns:p14="http://schemas.microsoft.com/office/powerpoint/2010/main" val="296475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8AA4D-4343-7D95-054D-2500643DE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5AB0A6-EF46-6EED-82DF-18772A69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32141"/>
            <a:ext cx="9144000" cy="1785744"/>
          </a:xfrm>
        </p:spPr>
        <p:txBody>
          <a:bodyPr>
            <a:normAutofit/>
          </a:bodyPr>
          <a:lstStyle/>
          <a:p>
            <a:r>
              <a:rPr lang="fr-FR" dirty="0"/>
              <a:t>Similarité / Compatibilité</a:t>
            </a:r>
            <a:br>
              <a:rPr lang="fr-FR" dirty="0"/>
            </a:br>
            <a:r>
              <a:rPr lang="fr-FR" sz="4400" dirty="0"/>
              <a:t>2 Approches</a:t>
            </a:r>
            <a:endParaRPr lang="fr-FR" dirty="0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5ABA053-FA6D-68E8-436D-3AB27B8BB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0613" y="5103739"/>
            <a:ext cx="4199467" cy="744184"/>
          </a:xfrm>
        </p:spPr>
        <p:txBody>
          <a:bodyPr>
            <a:normAutofit fontScale="92500" lnSpcReduction="10000"/>
          </a:bodyPr>
          <a:lstStyle/>
          <a:p>
            <a:r>
              <a:rPr lang="fr-FR" sz="2800" dirty="0"/>
              <a:t>A quel autre vêtement se vêtement ressemble ?</a:t>
            </a:r>
          </a:p>
        </p:txBody>
      </p:sp>
      <p:sp>
        <p:nvSpPr>
          <p:cNvPr id="4" name="Sous-titre 2">
            <a:extLst>
              <a:ext uri="{FF2B5EF4-FFF2-40B4-BE49-F238E27FC236}">
                <a16:creationId xmlns:a16="http://schemas.microsoft.com/office/drawing/2014/main" id="{C8086B6F-EF80-A069-066E-4340ED8C74DC}"/>
              </a:ext>
            </a:extLst>
          </p:cNvPr>
          <p:cNvSpPr txBox="1">
            <a:spLocks/>
          </p:cNvSpPr>
          <p:nvPr/>
        </p:nvSpPr>
        <p:spPr>
          <a:xfrm>
            <a:off x="7992533" y="5103739"/>
            <a:ext cx="4199467" cy="74418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800" dirty="0"/>
              <a:t>A quel autre vêtement se vêtement ressemble ?</a:t>
            </a: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22DC8F05-619A-6B5F-7004-C49A034D82FE}"/>
              </a:ext>
            </a:extLst>
          </p:cNvPr>
          <p:cNvSpPr txBox="1">
            <a:spLocks/>
          </p:cNvSpPr>
          <p:nvPr/>
        </p:nvSpPr>
        <p:spPr>
          <a:xfrm>
            <a:off x="3890481" y="2117885"/>
            <a:ext cx="4518616" cy="3730038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Photo utilisateur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Recommandation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br>
              <a:rPr lang="fr-FR" sz="24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</a:br>
            <a:r>
              <a:rPr lang="fr-FR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Liste d’articles</a:t>
            </a:r>
            <a:endParaRPr lang="fr-FR" sz="2400" b="1" dirty="0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chemeClr val="bg1"/>
              </a:solidFill>
              <a:effectLst>
                <a:innerShdw blurRad="177800">
                  <a:schemeClr val="accent3">
                    <a:lumMod val="50000"/>
                  </a:schemeClr>
                </a:innerShdw>
              </a:effectLst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C796CD1-F684-6539-59DE-50783BBE6B0B}"/>
              </a:ext>
            </a:extLst>
          </p:cNvPr>
          <p:cNvSpPr txBox="1"/>
          <p:nvPr/>
        </p:nvSpPr>
        <p:spPr>
          <a:xfrm>
            <a:off x="665931" y="3786458"/>
            <a:ext cx="3172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d'articles similaires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1D82A94-9AE1-873E-DE18-70205354D283}"/>
              </a:ext>
            </a:extLst>
          </p:cNvPr>
          <p:cNvSpPr txBox="1"/>
          <p:nvPr/>
        </p:nvSpPr>
        <p:spPr>
          <a:xfrm>
            <a:off x="8357851" y="3790290"/>
            <a:ext cx="3592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Recherche d'articles compatibles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884A09C-9669-DEC5-7F40-0E56D1728B7E}"/>
              </a:ext>
            </a:extLst>
          </p:cNvPr>
          <p:cNvSpPr txBox="1"/>
          <p:nvPr/>
        </p:nvSpPr>
        <p:spPr>
          <a:xfrm rot="10800000">
            <a:off x="3891184" y="3487912"/>
            <a:ext cx="646330" cy="830997"/>
          </a:xfrm>
          <a:prstGeom prst="rect">
            <a:avLst/>
          </a:prstGeom>
          <a:noFill/>
        </p:spPr>
        <p:txBody>
          <a:bodyPr vert="vert" wrap="square" anchor="ctr">
            <a:spAutoFit/>
          </a:bodyPr>
          <a:lstStyle/>
          <a:p>
            <a:r>
              <a:rPr lang="fr-FR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endParaRPr lang="fr-FR" sz="4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905C841-88D8-4BBE-7151-F351418BBC1D}"/>
              </a:ext>
            </a:extLst>
          </p:cNvPr>
          <p:cNvSpPr txBox="1"/>
          <p:nvPr/>
        </p:nvSpPr>
        <p:spPr>
          <a:xfrm rot="10800000">
            <a:off x="7658447" y="3687212"/>
            <a:ext cx="646330" cy="830997"/>
          </a:xfrm>
          <a:prstGeom prst="rect">
            <a:avLst/>
          </a:prstGeom>
          <a:noFill/>
        </p:spPr>
        <p:txBody>
          <a:bodyPr vert="vert270" wrap="square" anchor="ctr">
            <a:spAutoFit/>
          </a:bodyPr>
          <a:lstStyle/>
          <a:p>
            <a:r>
              <a:rPr lang="fr-FR" sz="4800" b="1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bg1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↓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644731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E514C-0178-AB82-D3C3-85D16AB15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279DD633-715F-0439-4B67-053B37EBFF7C}"/>
              </a:ext>
            </a:extLst>
          </p:cNvPr>
          <p:cNvCxnSpPr>
            <a:cxnSpLocks/>
          </p:cNvCxnSpPr>
          <p:nvPr/>
        </p:nvCxnSpPr>
        <p:spPr>
          <a:xfrm>
            <a:off x="2099599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Connecteur droit 132">
            <a:extLst>
              <a:ext uri="{FF2B5EF4-FFF2-40B4-BE49-F238E27FC236}">
                <a16:creationId xmlns:a16="http://schemas.microsoft.com/office/drawing/2014/main" id="{0828684A-2A6E-0F2F-187A-A6BCAF97ED5B}"/>
              </a:ext>
            </a:extLst>
          </p:cNvPr>
          <p:cNvCxnSpPr>
            <a:cxnSpLocks/>
          </p:cNvCxnSpPr>
          <p:nvPr/>
        </p:nvCxnSpPr>
        <p:spPr>
          <a:xfrm>
            <a:off x="4131065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eur droit 134">
            <a:extLst>
              <a:ext uri="{FF2B5EF4-FFF2-40B4-BE49-F238E27FC236}">
                <a16:creationId xmlns:a16="http://schemas.microsoft.com/office/drawing/2014/main" id="{97607F54-5D6F-7438-59BC-1112D07D8319}"/>
              </a:ext>
            </a:extLst>
          </p:cNvPr>
          <p:cNvCxnSpPr>
            <a:cxnSpLocks/>
          </p:cNvCxnSpPr>
          <p:nvPr/>
        </p:nvCxnSpPr>
        <p:spPr>
          <a:xfrm>
            <a:off x="6981642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Connecteur droit 135">
            <a:extLst>
              <a:ext uri="{FF2B5EF4-FFF2-40B4-BE49-F238E27FC236}">
                <a16:creationId xmlns:a16="http://schemas.microsoft.com/office/drawing/2014/main" id="{066E3ADF-2030-DD2A-FBE4-5948A109B138}"/>
              </a:ext>
            </a:extLst>
          </p:cNvPr>
          <p:cNvCxnSpPr>
            <a:cxnSpLocks/>
          </p:cNvCxnSpPr>
          <p:nvPr/>
        </p:nvCxnSpPr>
        <p:spPr>
          <a:xfrm>
            <a:off x="9944050" y="199444"/>
            <a:ext cx="0" cy="6515100"/>
          </a:xfrm>
          <a:prstGeom prst="line">
            <a:avLst/>
          </a:prstGeom>
          <a:ln w="60325">
            <a:solidFill>
              <a:schemeClr val="accent2">
                <a:lumMod val="20000"/>
                <a:lumOff val="8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70E794E-05FC-52E2-6696-31D2158992BC}"/>
              </a:ext>
            </a:extLst>
          </p:cNvPr>
          <p:cNvSpPr/>
          <p:nvPr/>
        </p:nvSpPr>
        <p:spPr>
          <a:xfrm>
            <a:off x="363869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Photo Utilisateur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295539-6466-9BA4-1885-50664089F233}"/>
              </a:ext>
            </a:extLst>
          </p:cNvPr>
          <p:cNvSpPr/>
          <p:nvPr/>
        </p:nvSpPr>
        <p:spPr>
          <a:xfrm>
            <a:off x="2482421" y="28470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Segmentation</a:t>
            </a:r>
          </a:p>
          <a:p>
            <a:pPr algn="ctr"/>
            <a:r>
              <a:rPr lang="fr-FR" sz="1200" dirty="0"/>
              <a:t>des vêtements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4471CB1-8FD0-ECF0-7001-18F92542200D}"/>
              </a:ext>
            </a:extLst>
          </p:cNvPr>
          <p:cNvSpPr/>
          <p:nvPr/>
        </p:nvSpPr>
        <p:spPr>
          <a:xfrm>
            <a:off x="4827818" y="1683111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Embedding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819967-1F08-B4A2-A8C9-B2E335A3675F}"/>
              </a:ext>
            </a:extLst>
          </p:cNvPr>
          <p:cNvSpPr/>
          <p:nvPr/>
        </p:nvSpPr>
        <p:spPr>
          <a:xfrm>
            <a:off x="482781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Caractéristiques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9B9869-2CE9-2AB8-5647-3ABB515F2CDA}"/>
              </a:ext>
            </a:extLst>
          </p:cNvPr>
          <p:cNvSpPr/>
          <p:nvPr/>
        </p:nvSpPr>
        <p:spPr>
          <a:xfrm>
            <a:off x="7754208" y="1688880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Similarité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E0F402-C015-3334-8B1C-B55C6F2C006C}"/>
              </a:ext>
            </a:extLst>
          </p:cNvPr>
          <p:cNvSpPr/>
          <p:nvPr/>
        </p:nvSpPr>
        <p:spPr>
          <a:xfrm>
            <a:off x="7754208" y="410433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Compatibilité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B3880D-43B7-DA5A-AC3C-DFC492508D03}"/>
              </a:ext>
            </a:extLst>
          </p:cNvPr>
          <p:cNvSpPr/>
          <p:nvPr/>
        </p:nvSpPr>
        <p:spPr>
          <a:xfrm>
            <a:off x="10437707" y="2851999"/>
            <a:ext cx="1396454" cy="978794"/>
          </a:xfrm>
          <a:prstGeom prst="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/>
              <a:t>Recommandation</a:t>
            </a:r>
          </a:p>
          <a:p>
            <a:pPr algn="ctr"/>
            <a:r>
              <a:rPr lang="fr-FR" sz="1200" dirty="0"/>
              <a:t>Top K</a:t>
            </a:r>
          </a:p>
        </p:txBody>
      </p:sp>
      <p:grpSp>
        <p:nvGrpSpPr>
          <p:cNvPr id="50" name="Groupe 49">
            <a:extLst>
              <a:ext uri="{FF2B5EF4-FFF2-40B4-BE49-F238E27FC236}">
                <a16:creationId xmlns:a16="http://schemas.microsoft.com/office/drawing/2014/main" id="{4FAAFA1A-219A-29E1-6A47-FFEE84FD13B4}"/>
              </a:ext>
            </a:extLst>
          </p:cNvPr>
          <p:cNvGrpSpPr/>
          <p:nvPr/>
        </p:nvGrpSpPr>
        <p:grpSpPr>
          <a:xfrm>
            <a:off x="7335023" y="2178278"/>
            <a:ext cx="419185" cy="2415457"/>
            <a:chOff x="7729050" y="2178277"/>
            <a:chExt cx="419185" cy="2415457"/>
          </a:xfrm>
        </p:grpSpPr>
        <p:sp>
          <p:nvSpPr>
            <p:cNvPr id="36" name="Ellipse 35">
              <a:extLst>
                <a:ext uri="{FF2B5EF4-FFF2-40B4-BE49-F238E27FC236}">
                  <a16:creationId xmlns:a16="http://schemas.microsoft.com/office/drawing/2014/main" id="{59E0DF0D-FBB6-7F93-44A6-D9A70F5997C4}"/>
                </a:ext>
              </a:extLst>
            </p:cNvPr>
            <p:cNvSpPr/>
            <p:nvPr/>
          </p:nvSpPr>
          <p:spPr>
            <a:xfrm>
              <a:off x="7729050" y="3297426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39" name="Connecteur : en angle 38">
              <a:extLst>
                <a:ext uri="{FF2B5EF4-FFF2-40B4-BE49-F238E27FC236}">
                  <a16:creationId xmlns:a16="http://schemas.microsoft.com/office/drawing/2014/main" id="{BEE2B8F2-1A7D-E687-E7A2-7DB9F90C6415}"/>
                </a:ext>
              </a:extLst>
            </p:cNvPr>
            <p:cNvCxnSpPr>
              <a:cxnSpLocks/>
              <a:stCxn id="36" idx="0"/>
              <a:endCxn id="17" idx="1"/>
            </p:cNvCxnSpPr>
            <p:nvPr/>
          </p:nvCxnSpPr>
          <p:spPr>
            <a:xfrm rot="5400000" flipH="1" flipV="1">
              <a:off x="7402410" y="2551602"/>
              <a:ext cx="1119150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 : en angle 39">
              <a:extLst>
                <a:ext uri="{FF2B5EF4-FFF2-40B4-BE49-F238E27FC236}">
                  <a16:creationId xmlns:a16="http://schemas.microsoft.com/office/drawing/2014/main" id="{72A3DBEE-F977-C2BD-65E7-CABDCD22C4BA}"/>
                </a:ext>
              </a:extLst>
            </p:cNvPr>
            <p:cNvCxnSpPr>
              <a:cxnSpLocks/>
              <a:stCxn id="36" idx="4"/>
              <a:endCxn id="19" idx="1"/>
            </p:cNvCxnSpPr>
            <p:nvPr/>
          </p:nvCxnSpPr>
          <p:spPr>
            <a:xfrm rot="16200000" flipH="1">
              <a:off x="7360517" y="3806016"/>
              <a:ext cx="1202937" cy="372499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" name="Groupe 57">
            <a:extLst>
              <a:ext uri="{FF2B5EF4-FFF2-40B4-BE49-F238E27FC236}">
                <a16:creationId xmlns:a16="http://schemas.microsoft.com/office/drawing/2014/main" id="{A1EFB9FE-D671-8954-4464-332CBAFFB103}"/>
              </a:ext>
            </a:extLst>
          </p:cNvPr>
          <p:cNvGrpSpPr/>
          <p:nvPr/>
        </p:nvGrpSpPr>
        <p:grpSpPr>
          <a:xfrm>
            <a:off x="4434498" y="2172508"/>
            <a:ext cx="393321" cy="2421227"/>
            <a:chOff x="7791001" y="2172509"/>
            <a:chExt cx="393321" cy="2421227"/>
          </a:xfrm>
        </p:grpSpPr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ACBF7E34-4738-0E59-83A2-7FA4B883AFF2}"/>
                </a:ext>
              </a:extLst>
            </p:cNvPr>
            <p:cNvSpPr/>
            <p:nvPr/>
          </p:nvSpPr>
          <p:spPr>
            <a:xfrm>
              <a:off x="7791001" y="3297428"/>
              <a:ext cx="93372" cy="93372"/>
            </a:xfrm>
            <a:prstGeom prst="ellipse">
              <a:avLst/>
            </a:prstGeom>
            <a:solidFill>
              <a:srgbClr val="4472C4"/>
            </a:solidFill>
            <a:ln w="412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60" name="Connecteur : en angle 59">
              <a:extLst>
                <a:ext uri="{FF2B5EF4-FFF2-40B4-BE49-F238E27FC236}">
                  <a16:creationId xmlns:a16="http://schemas.microsoft.com/office/drawing/2014/main" id="{9D7851BC-EE4F-5939-9968-C7C5CA17078D}"/>
                </a:ext>
              </a:extLst>
            </p:cNvPr>
            <p:cNvCxnSpPr>
              <a:cxnSpLocks/>
              <a:stCxn id="59" idx="0"/>
              <a:endCxn id="14" idx="1"/>
            </p:cNvCxnSpPr>
            <p:nvPr/>
          </p:nvCxnSpPr>
          <p:spPr>
            <a:xfrm rot="5400000" flipH="1" flipV="1">
              <a:off x="7448545" y="2561652"/>
              <a:ext cx="1124919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 : en angle 60">
              <a:extLst>
                <a:ext uri="{FF2B5EF4-FFF2-40B4-BE49-F238E27FC236}">
                  <a16:creationId xmlns:a16="http://schemas.microsoft.com/office/drawing/2014/main" id="{49BB77B4-4C52-1D00-81CB-87A5F1E90821}"/>
                </a:ext>
              </a:extLst>
            </p:cNvPr>
            <p:cNvCxnSpPr>
              <a:cxnSpLocks/>
              <a:stCxn id="59" idx="4"/>
              <a:endCxn id="15" idx="1"/>
            </p:cNvCxnSpPr>
            <p:nvPr/>
          </p:nvCxnSpPr>
          <p:spPr>
            <a:xfrm rot="16200000" flipH="1">
              <a:off x="7409536" y="3818951"/>
              <a:ext cx="1202937" cy="346634"/>
            </a:xfrm>
            <a:prstGeom prst="bentConnector2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6" name="Connecteur droit avec flèche 85">
            <a:extLst>
              <a:ext uri="{FF2B5EF4-FFF2-40B4-BE49-F238E27FC236}">
                <a16:creationId xmlns:a16="http://schemas.microsoft.com/office/drawing/2014/main" id="{B296D81B-F92C-CCCE-32D2-23FCAD6E5D63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1760323" y="3336436"/>
            <a:ext cx="72209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avec flèche 94">
            <a:extLst>
              <a:ext uri="{FF2B5EF4-FFF2-40B4-BE49-F238E27FC236}">
                <a16:creationId xmlns:a16="http://schemas.microsoft.com/office/drawing/2014/main" id="{E1FFD585-544B-82BF-12A9-D3590FE65D08}"/>
              </a:ext>
            </a:extLst>
          </p:cNvPr>
          <p:cNvCxnSpPr>
            <a:cxnSpLocks/>
            <a:stCxn id="12" idx="3"/>
            <a:endCxn id="59" idx="2"/>
          </p:cNvCxnSpPr>
          <p:nvPr/>
        </p:nvCxnSpPr>
        <p:spPr>
          <a:xfrm>
            <a:off x="3878875" y="3336436"/>
            <a:ext cx="555623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e 109">
            <a:extLst>
              <a:ext uri="{FF2B5EF4-FFF2-40B4-BE49-F238E27FC236}">
                <a16:creationId xmlns:a16="http://schemas.microsoft.com/office/drawing/2014/main" id="{9918D12E-8685-0FD9-2EE0-AD9499677955}"/>
              </a:ext>
            </a:extLst>
          </p:cNvPr>
          <p:cNvGrpSpPr/>
          <p:nvPr/>
        </p:nvGrpSpPr>
        <p:grpSpPr>
          <a:xfrm flipH="1">
            <a:off x="6224273" y="2172508"/>
            <a:ext cx="410734" cy="2421229"/>
            <a:chOff x="8778234" y="2172508"/>
            <a:chExt cx="410734" cy="2421229"/>
          </a:xfrm>
        </p:grpSpPr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DFBD48F2-ABCE-02A8-FF24-6C9E466E941D}"/>
                </a:ext>
              </a:extLst>
            </p:cNvPr>
            <p:cNvSpPr/>
            <p:nvPr/>
          </p:nvSpPr>
          <p:spPr>
            <a:xfrm>
              <a:off x="8778234" y="328975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12" name="Connecteur : en angle 111">
              <a:extLst>
                <a:ext uri="{FF2B5EF4-FFF2-40B4-BE49-F238E27FC236}">
                  <a16:creationId xmlns:a16="http://schemas.microsoft.com/office/drawing/2014/main" id="{5BFD916F-009D-7B29-BE26-812720FD2B9A}"/>
                </a:ext>
              </a:extLst>
            </p:cNvPr>
            <p:cNvCxnSpPr>
              <a:cxnSpLocks/>
              <a:stCxn id="111" idx="0"/>
              <a:endCxn id="14" idx="3"/>
            </p:cNvCxnSpPr>
            <p:nvPr/>
          </p:nvCxnSpPr>
          <p:spPr>
            <a:xfrm rot="5400000" flipH="1" flipV="1">
              <a:off x="8448323" y="2549104"/>
              <a:ext cx="1117242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 : en angle 112">
              <a:extLst>
                <a:ext uri="{FF2B5EF4-FFF2-40B4-BE49-F238E27FC236}">
                  <a16:creationId xmlns:a16="http://schemas.microsoft.com/office/drawing/2014/main" id="{898D506D-2706-99C7-3189-849BBC2BD240}"/>
                </a:ext>
              </a:extLst>
            </p:cNvPr>
            <p:cNvCxnSpPr>
              <a:cxnSpLocks/>
              <a:stCxn id="111" idx="4"/>
              <a:endCxn id="15" idx="3"/>
            </p:cNvCxnSpPr>
            <p:nvPr/>
          </p:nvCxnSpPr>
          <p:spPr>
            <a:xfrm rot="16200000" flipH="1">
              <a:off x="8401637" y="3806405"/>
              <a:ext cx="1210614" cy="364049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18" name="Connecteur droit avec flèche 117">
            <a:extLst>
              <a:ext uri="{FF2B5EF4-FFF2-40B4-BE49-F238E27FC236}">
                <a16:creationId xmlns:a16="http://schemas.microsoft.com/office/drawing/2014/main" id="{1E34FF63-1422-C365-55E4-3837E83BF4A7}"/>
              </a:ext>
            </a:extLst>
          </p:cNvPr>
          <p:cNvCxnSpPr>
            <a:cxnSpLocks/>
            <a:stCxn id="111" idx="2"/>
            <a:endCxn id="36" idx="2"/>
          </p:cNvCxnSpPr>
          <p:nvPr/>
        </p:nvCxnSpPr>
        <p:spPr>
          <a:xfrm>
            <a:off x="6635007" y="3336436"/>
            <a:ext cx="700016" cy="76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e 120">
            <a:extLst>
              <a:ext uri="{FF2B5EF4-FFF2-40B4-BE49-F238E27FC236}">
                <a16:creationId xmlns:a16="http://schemas.microsoft.com/office/drawing/2014/main" id="{6F86DA3A-1CB7-097A-4BFC-2FF39876A49F}"/>
              </a:ext>
            </a:extLst>
          </p:cNvPr>
          <p:cNvGrpSpPr/>
          <p:nvPr/>
        </p:nvGrpSpPr>
        <p:grpSpPr>
          <a:xfrm flipH="1">
            <a:off x="9150663" y="2178277"/>
            <a:ext cx="381606" cy="2415460"/>
            <a:chOff x="8451764" y="2178277"/>
            <a:chExt cx="381606" cy="2415460"/>
          </a:xfrm>
        </p:grpSpPr>
        <p:sp>
          <p:nvSpPr>
            <p:cNvPr id="122" name="Ellipse 121">
              <a:extLst>
                <a:ext uri="{FF2B5EF4-FFF2-40B4-BE49-F238E27FC236}">
                  <a16:creationId xmlns:a16="http://schemas.microsoft.com/office/drawing/2014/main" id="{10614711-864C-56A2-05CC-88F1C2B3FDA4}"/>
                </a:ext>
              </a:extLst>
            </p:cNvPr>
            <p:cNvSpPr/>
            <p:nvPr/>
          </p:nvSpPr>
          <p:spPr>
            <a:xfrm>
              <a:off x="8451764" y="3294710"/>
              <a:ext cx="93372" cy="93372"/>
            </a:xfrm>
            <a:prstGeom prst="ellipse">
              <a:avLst/>
            </a:prstGeom>
            <a:solidFill>
              <a:srgbClr val="4472C4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5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cxnSp>
          <p:nvCxnSpPr>
            <p:cNvPr id="123" name="Connecteur : en angle 122">
              <a:extLst>
                <a:ext uri="{FF2B5EF4-FFF2-40B4-BE49-F238E27FC236}">
                  <a16:creationId xmlns:a16="http://schemas.microsoft.com/office/drawing/2014/main" id="{6A796959-0E7A-D9F0-413A-467AE4D999F0}"/>
                </a:ext>
              </a:extLst>
            </p:cNvPr>
            <p:cNvCxnSpPr>
              <a:cxnSpLocks/>
              <a:stCxn id="122" idx="0"/>
              <a:endCxn id="17" idx="3"/>
            </p:cNvCxnSpPr>
            <p:nvPr/>
          </p:nvCxnSpPr>
          <p:spPr>
            <a:xfrm rot="5400000" flipH="1" flipV="1">
              <a:off x="8107693" y="2569033"/>
              <a:ext cx="1116433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Connecteur : en angle 123">
              <a:extLst>
                <a:ext uri="{FF2B5EF4-FFF2-40B4-BE49-F238E27FC236}">
                  <a16:creationId xmlns:a16="http://schemas.microsoft.com/office/drawing/2014/main" id="{57DD71FD-EADD-2E8C-6DAD-B415F46D3BF1}"/>
                </a:ext>
              </a:extLst>
            </p:cNvPr>
            <p:cNvCxnSpPr>
              <a:cxnSpLocks/>
              <a:stCxn id="122" idx="4"/>
              <a:endCxn id="19" idx="3"/>
            </p:cNvCxnSpPr>
            <p:nvPr/>
          </p:nvCxnSpPr>
          <p:spPr>
            <a:xfrm rot="16200000" flipH="1">
              <a:off x="8063083" y="3823449"/>
              <a:ext cx="1205654" cy="334921"/>
            </a:xfrm>
            <a:prstGeom prst="bentConnector2">
              <a:avLst/>
            </a:prstGeom>
            <a:ln w="3810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8" name="Connecteur droit avec flèche 127">
            <a:extLst>
              <a:ext uri="{FF2B5EF4-FFF2-40B4-BE49-F238E27FC236}">
                <a16:creationId xmlns:a16="http://schemas.microsoft.com/office/drawing/2014/main" id="{9415BA70-852D-912D-F7E7-F68FB8D71277}"/>
              </a:ext>
            </a:extLst>
          </p:cNvPr>
          <p:cNvCxnSpPr>
            <a:cxnSpLocks/>
            <a:stCxn id="122" idx="2"/>
            <a:endCxn id="20" idx="1"/>
          </p:cNvCxnSpPr>
          <p:nvPr/>
        </p:nvCxnSpPr>
        <p:spPr>
          <a:xfrm>
            <a:off x="9532269" y="3341396"/>
            <a:ext cx="90543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ZoneTexte 137">
            <a:extLst>
              <a:ext uri="{FF2B5EF4-FFF2-40B4-BE49-F238E27FC236}">
                <a16:creationId xmlns:a16="http://schemas.microsoft.com/office/drawing/2014/main" id="{6FFEB258-E79D-A991-34B2-373C925BCDE3}"/>
              </a:ext>
            </a:extLst>
          </p:cNvPr>
          <p:cNvSpPr txBox="1"/>
          <p:nvPr/>
        </p:nvSpPr>
        <p:spPr>
          <a:xfrm>
            <a:off x="305331" y="4104339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Blob Storage</a:t>
            </a:r>
          </a:p>
        </p:txBody>
      </p:sp>
      <p:sp>
        <p:nvSpPr>
          <p:cNvPr id="139" name="ZoneTexte 138">
            <a:extLst>
              <a:ext uri="{FF2B5EF4-FFF2-40B4-BE49-F238E27FC236}">
                <a16:creationId xmlns:a16="http://schemas.microsoft.com/office/drawing/2014/main" id="{53E16420-B521-E8AB-9261-5B56841827A1}"/>
              </a:ext>
            </a:extLst>
          </p:cNvPr>
          <p:cNvSpPr txBox="1"/>
          <p:nvPr/>
        </p:nvSpPr>
        <p:spPr>
          <a:xfrm>
            <a:off x="2433855" y="4060803"/>
            <a:ext cx="150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</a:t>
            </a:r>
          </a:p>
          <a:p>
            <a:pPr algn="ctr"/>
            <a:r>
              <a:rPr lang="fr-FR" sz="1200" dirty="0"/>
              <a:t>Machine Learning</a:t>
            </a:r>
          </a:p>
        </p:txBody>
      </p:sp>
      <p:graphicFrame>
        <p:nvGraphicFramePr>
          <p:cNvPr id="141" name="Tableau 140">
            <a:extLst>
              <a:ext uri="{FF2B5EF4-FFF2-40B4-BE49-F238E27FC236}">
                <a16:creationId xmlns:a16="http://schemas.microsoft.com/office/drawing/2014/main" id="{9E24BAD7-FA82-4A37-486D-76A4F2C2B2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861032"/>
              </p:ext>
            </p:extLst>
          </p:nvPr>
        </p:nvGraphicFramePr>
        <p:xfrm>
          <a:off x="176551" y="5788236"/>
          <a:ext cx="1741195" cy="457200"/>
        </p:xfrm>
        <a:graphic>
          <a:graphicData uri="http://schemas.openxmlformats.org/drawingml/2006/table">
            <a:tbl>
              <a:tblPr/>
              <a:tblGrid>
                <a:gridCol w="1741195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Stockage des photos utilisateur et catalogue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2" name="Tableau 141">
            <a:extLst>
              <a:ext uri="{FF2B5EF4-FFF2-40B4-BE49-F238E27FC236}">
                <a16:creationId xmlns:a16="http://schemas.microsoft.com/office/drawing/2014/main" id="{C5C62944-A054-D69B-E4E2-DA353666E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215578"/>
              </p:ext>
            </p:extLst>
          </p:nvPr>
        </p:nvGraphicFramePr>
        <p:xfrm>
          <a:off x="2284240" y="5788236"/>
          <a:ext cx="1798741" cy="640080"/>
        </p:xfrm>
        <a:graphic>
          <a:graphicData uri="http://schemas.openxmlformats.org/drawingml/2006/table">
            <a:tbl>
              <a:tblPr/>
              <a:tblGrid>
                <a:gridCol w="1798741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Hébergement/exécution d'un modèle de segmentation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4" name="Tableau 143">
            <a:extLst>
              <a:ext uri="{FF2B5EF4-FFF2-40B4-BE49-F238E27FC236}">
                <a16:creationId xmlns:a16="http://schemas.microsoft.com/office/drawing/2014/main" id="{215338D3-335E-F043-C296-4D10E4579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252454"/>
              </p:ext>
            </p:extLst>
          </p:nvPr>
        </p:nvGraphicFramePr>
        <p:xfrm>
          <a:off x="4589533" y="5788236"/>
          <a:ext cx="1898452" cy="640080"/>
        </p:xfrm>
        <a:graphic>
          <a:graphicData uri="http://schemas.openxmlformats.org/drawingml/2006/table">
            <a:tbl>
              <a:tblPr/>
              <a:tblGrid>
                <a:gridCol w="1898452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Modèle d'extraction/classification des attributs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5" name="Tableau 144">
            <a:extLst>
              <a:ext uri="{FF2B5EF4-FFF2-40B4-BE49-F238E27FC236}">
                <a16:creationId xmlns:a16="http://schemas.microsoft.com/office/drawing/2014/main" id="{55FCE2B8-710A-6FEF-15FC-A4A99A295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346982"/>
              </p:ext>
            </p:extLst>
          </p:nvPr>
        </p:nvGraphicFramePr>
        <p:xfrm>
          <a:off x="7602712" y="5788236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Entraînement et déploiement du modèle 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pairwise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graphicFrame>
        <p:nvGraphicFramePr>
          <p:cNvPr id="146" name="Tableau 145">
            <a:extLst>
              <a:ext uri="{FF2B5EF4-FFF2-40B4-BE49-F238E27FC236}">
                <a16:creationId xmlns:a16="http://schemas.microsoft.com/office/drawing/2014/main" id="{18641115-8E67-B809-0CB6-A2A1EB8B74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423145"/>
              </p:ext>
            </p:extLst>
          </p:nvPr>
        </p:nvGraphicFramePr>
        <p:xfrm>
          <a:off x="10290257" y="5788236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Exposer le moteur (API) de recommandation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48" name="ZoneTexte 147">
            <a:extLst>
              <a:ext uri="{FF2B5EF4-FFF2-40B4-BE49-F238E27FC236}">
                <a16:creationId xmlns:a16="http://schemas.microsoft.com/office/drawing/2014/main" id="{BF696C49-EAE8-612A-4245-3CD7648E2429}"/>
              </a:ext>
            </a:extLst>
          </p:cNvPr>
          <p:cNvSpPr txBox="1"/>
          <p:nvPr/>
        </p:nvSpPr>
        <p:spPr>
          <a:xfrm>
            <a:off x="482781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sp>
        <p:nvSpPr>
          <p:cNvPr id="180" name="ZoneTexte 179">
            <a:extLst>
              <a:ext uri="{FF2B5EF4-FFF2-40B4-BE49-F238E27FC236}">
                <a16:creationId xmlns:a16="http://schemas.microsoft.com/office/drawing/2014/main" id="{AA786923-547B-BF43-DDBC-1AC31E2C26EA}"/>
              </a:ext>
            </a:extLst>
          </p:cNvPr>
          <p:cNvSpPr txBox="1"/>
          <p:nvPr/>
        </p:nvSpPr>
        <p:spPr>
          <a:xfrm>
            <a:off x="7754209" y="5152600"/>
            <a:ext cx="139645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Machine Learning</a:t>
            </a:r>
          </a:p>
        </p:txBody>
      </p:sp>
      <p:graphicFrame>
        <p:nvGraphicFramePr>
          <p:cNvPr id="181" name="Tableau 180">
            <a:extLst>
              <a:ext uri="{FF2B5EF4-FFF2-40B4-BE49-F238E27FC236}">
                <a16:creationId xmlns:a16="http://schemas.microsoft.com/office/drawing/2014/main" id="{31441E57-BC44-4B28-17B3-0B474111A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7346138"/>
              </p:ext>
            </p:extLst>
          </p:nvPr>
        </p:nvGraphicFramePr>
        <p:xfrm>
          <a:off x="7602711" y="303250"/>
          <a:ext cx="1691353" cy="64008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Index vectoriel et recherche des vêtements similaires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0" name="ZoneTexte 189">
            <a:extLst>
              <a:ext uri="{FF2B5EF4-FFF2-40B4-BE49-F238E27FC236}">
                <a16:creationId xmlns:a16="http://schemas.microsoft.com/office/drawing/2014/main" id="{A31E200B-65AD-B83E-3FE0-09D5E06AFED6}"/>
              </a:ext>
            </a:extLst>
          </p:cNvPr>
          <p:cNvSpPr txBox="1"/>
          <p:nvPr/>
        </p:nvSpPr>
        <p:spPr>
          <a:xfrm>
            <a:off x="7754208" y="1311707"/>
            <a:ext cx="1371930" cy="283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AI </a:t>
            </a:r>
            <a:r>
              <a:rPr lang="fr-FR" sz="1200" dirty="0" err="1"/>
              <a:t>Search</a:t>
            </a:r>
            <a:endParaRPr lang="fr-FR" sz="1200" dirty="0"/>
          </a:p>
        </p:txBody>
      </p:sp>
      <p:sp>
        <p:nvSpPr>
          <p:cNvPr id="191" name="ZoneTexte 190">
            <a:extLst>
              <a:ext uri="{FF2B5EF4-FFF2-40B4-BE49-F238E27FC236}">
                <a16:creationId xmlns:a16="http://schemas.microsoft.com/office/drawing/2014/main" id="{9ED7E065-28FE-4494-D345-0CCFECC65623}"/>
              </a:ext>
            </a:extLst>
          </p:cNvPr>
          <p:cNvSpPr txBox="1"/>
          <p:nvPr/>
        </p:nvSpPr>
        <p:spPr>
          <a:xfrm>
            <a:off x="10377259" y="3991583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/>
              <a:t>Azure Container Apps / App Service / AKS</a:t>
            </a:r>
          </a:p>
        </p:txBody>
      </p:sp>
      <p:graphicFrame>
        <p:nvGraphicFramePr>
          <p:cNvPr id="192" name="Tableau 191">
            <a:extLst>
              <a:ext uri="{FF2B5EF4-FFF2-40B4-BE49-F238E27FC236}">
                <a16:creationId xmlns:a16="http://schemas.microsoft.com/office/drawing/2014/main" id="{2F230CB7-886C-8836-7FDC-2B0E85C63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99714"/>
              </p:ext>
            </p:extLst>
          </p:nvPr>
        </p:nvGraphicFramePr>
        <p:xfrm>
          <a:off x="4675233" y="303250"/>
          <a:ext cx="1691353" cy="457200"/>
        </p:xfrm>
        <a:graphic>
          <a:graphicData uri="http://schemas.openxmlformats.org/drawingml/2006/table">
            <a:tbl>
              <a:tblPr/>
              <a:tblGrid>
                <a:gridCol w="1691353">
                  <a:extLst>
                    <a:ext uri="{9D8B030D-6E8A-4147-A177-3AD203B41FA5}">
                      <a16:colId xmlns:a16="http://schemas.microsoft.com/office/drawing/2014/main" val="17867759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fr-FR" sz="12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Hébergement du modèle d'</a:t>
                      </a:r>
                      <a:r>
                        <a:rPr lang="fr-FR" sz="12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embedding</a:t>
                      </a:r>
                      <a:endParaRPr lang="fr-FR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1846002"/>
                  </a:ext>
                </a:extLst>
              </a:tr>
            </a:tbl>
          </a:graphicData>
        </a:graphic>
      </p:graphicFrame>
      <p:sp>
        <p:nvSpPr>
          <p:cNvPr id="193" name="ZoneTexte 192">
            <a:extLst>
              <a:ext uri="{FF2B5EF4-FFF2-40B4-BE49-F238E27FC236}">
                <a16:creationId xmlns:a16="http://schemas.microsoft.com/office/drawing/2014/main" id="{623B5856-1FAC-4E7D-71D1-46CC1D160B55}"/>
              </a:ext>
            </a:extLst>
          </p:cNvPr>
          <p:cNvSpPr txBox="1"/>
          <p:nvPr/>
        </p:nvSpPr>
        <p:spPr>
          <a:xfrm>
            <a:off x="4773882" y="954718"/>
            <a:ext cx="1501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Azure Machine Learning / Microsoft Foundry</a:t>
            </a:r>
            <a:endParaRPr lang="fr-FR" sz="1200" dirty="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D95CACC-624E-F88E-A273-61281A25493F}"/>
              </a:ext>
            </a:extLst>
          </p:cNvPr>
          <p:cNvSpPr/>
          <p:nvPr/>
        </p:nvSpPr>
        <p:spPr>
          <a:xfrm rot="16200000">
            <a:off x="7761417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Modèles de prédiction</a:t>
            </a:r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F8A5F85-B85D-FD02-0271-3E8DF904C72B}"/>
              </a:ext>
            </a:extLst>
          </p:cNvPr>
          <p:cNvSpPr/>
          <p:nvPr/>
        </p:nvSpPr>
        <p:spPr>
          <a:xfrm rot="16200000">
            <a:off x="4827626" y="2881982"/>
            <a:ext cx="1396454" cy="97879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Représentation</a:t>
            </a:r>
          </a:p>
          <a:p>
            <a:pPr algn="ctr"/>
            <a:r>
              <a:rPr lang="fr-FR" sz="1200" dirty="0">
                <a:solidFill>
                  <a:schemeClr val="bg1">
                    <a:lumMod val="65000"/>
                  </a:schemeClr>
                </a:solidFill>
              </a:rPr>
              <a:t>du vêtement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ABC5961-3BCD-9F94-D228-C4C747812514}"/>
              </a:ext>
            </a:extLst>
          </p:cNvPr>
          <p:cNvSpPr txBox="1"/>
          <p:nvPr/>
        </p:nvSpPr>
        <p:spPr>
          <a:xfrm>
            <a:off x="4868641" y="6481104"/>
            <a:ext cx="1385954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 err="1"/>
              <a:t>FashionCLIP</a:t>
            </a:r>
            <a:r>
              <a:rPr lang="fr-FR" sz="1200" dirty="0"/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A4E7DF2-9B98-CDB1-3B4B-BBCEB3ECE351}"/>
              </a:ext>
            </a:extLst>
          </p:cNvPr>
          <p:cNvSpPr txBox="1"/>
          <p:nvPr/>
        </p:nvSpPr>
        <p:spPr>
          <a:xfrm>
            <a:off x="2487671" y="6481105"/>
            <a:ext cx="1385954" cy="276999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 err="1"/>
              <a:t>SegFormer</a:t>
            </a:r>
            <a:r>
              <a:rPr lang="fr-FR" sz="1200" dirty="0"/>
              <a:t> B2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164D20D-F852-D190-ECE0-7481916A7EAA}"/>
              </a:ext>
            </a:extLst>
          </p:cNvPr>
          <p:cNvSpPr txBox="1"/>
          <p:nvPr/>
        </p:nvSpPr>
        <p:spPr>
          <a:xfrm>
            <a:off x="363869" y="6296438"/>
            <a:ext cx="1385954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fr-FR" sz="1200" dirty="0"/>
              <a:t>IQON3000 / </a:t>
            </a:r>
            <a:r>
              <a:rPr lang="fr-FR" sz="1200" dirty="0" err="1"/>
              <a:t>Polyvore</a:t>
            </a:r>
            <a:endParaRPr lang="fr-FR" sz="1200" dirty="0"/>
          </a:p>
        </p:txBody>
      </p:sp>
    </p:spTree>
    <p:extLst>
      <p:ext uri="{BB962C8B-B14F-4D97-AF65-F5344CB8AC3E}">
        <p14:creationId xmlns:p14="http://schemas.microsoft.com/office/powerpoint/2010/main" val="3061022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E74E0-F6AB-C9BF-F687-86298B74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67667F-F149-B60E-1AA6-7BECB66533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Critères de succès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3BDE7BF-2760-AE8E-5346-F644AAD33A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dirty="0" err="1"/>
              <a:t>PoC</a:t>
            </a:r>
            <a:r>
              <a:rPr lang="fr-FR" dirty="0"/>
              <a:t> sera considéré comme concluant s’il permet de démontrer qu’une recommandation personnalisée peut apporter une valeur mesurable pour </a:t>
            </a:r>
            <a:r>
              <a:rPr lang="fr-FR" dirty="0" err="1"/>
              <a:t>FashionInsta</a:t>
            </a:r>
            <a:r>
              <a:rPr lang="fr-F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101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F169D4-815A-2BFA-93EA-C21D476B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fr-FR" dirty="0"/>
              <a:t>1. Évaluer chaque brique technique</a:t>
            </a:r>
            <a:endParaRPr lang="fr-FR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6A7D0DD-E523-0CAA-C2B6-CC6C70D43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572184"/>
              </p:ext>
            </p:extLst>
          </p:nvPr>
        </p:nvGraphicFramePr>
        <p:xfrm>
          <a:off x="1044262" y="2714051"/>
          <a:ext cx="10515600" cy="2133600"/>
        </p:xfrm>
        <a:graphic>
          <a:graphicData uri="http://schemas.openxmlformats.org/drawingml/2006/table">
            <a:tbl>
              <a:tblPr/>
              <a:tblGrid>
                <a:gridCol w="2458792">
                  <a:extLst>
                    <a:ext uri="{9D8B030D-6E8A-4147-A177-3AD203B41FA5}">
                      <a16:colId xmlns:a16="http://schemas.microsoft.com/office/drawing/2014/main" val="3319194609"/>
                    </a:ext>
                  </a:extLst>
                </a:gridCol>
                <a:gridCol w="4301543">
                  <a:extLst>
                    <a:ext uri="{9D8B030D-6E8A-4147-A177-3AD203B41FA5}">
                      <a16:colId xmlns:a16="http://schemas.microsoft.com/office/drawing/2014/main" val="2874097778"/>
                    </a:ext>
                  </a:extLst>
                </a:gridCol>
                <a:gridCol w="3755265">
                  <a:extLst>
                    <a:ext uri="{9D8B030D-6E8A-4147-A177-3AD203B41FA5}">
                      <a16:colId xmlns:a16="http://schemas.microsoft.com/office/drawing/2014/main" val="2708171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Brique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Ce que l'on vérifie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2000" b="1" dirty="0"/>
                        <a:t>Métriques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121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Segmentation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 vêtement est correctement isolé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IoU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10086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Embedding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vêtements similaires sont proches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Recall@K / similarité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9606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Caractéristiques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attributs sont correctement identifiés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Accuracy / Precision / Recall / F1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03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b="1" dirty="0"/>
                        <a:t>Compatibilité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/>
                        <a:t>Les associations pertinentes sont correctement classées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Precision@K</a:t>
                      </a:r>
                      <a:r>
                        <a:rPr lang="fr-FR" dirty="0"/>
                        <a:t> / </a:t>
                      </a:r>
                      <a:r>
                        <a:rPr lang="fr-FR" dirty="0" err="1"/>
                        <a:t>Recall@K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9674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17232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DEDA0-A9F4-E394-4773-A443A632D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0671A4-F267-621B-B7F0-1DE575E03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Critères métier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082625-B5B1-65C4-4502-B27A0A71D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u="sng" dirty="0"/>
              <a:t>Une recommandation est considérée comme pertinente:</a:t>
            </a:r>
          </a:p>
          <a:p>
            <a:r>
              <a:rPr lang="fr-FR" dirty="0"/>
              <a:t>correspond au style/préférences de l'utilisateur</a:t>
            </a:r>
          </a:p>
          <a:p>
            <a:r>
              <a:rPr lang="fr-FR" dirty="0"/>
              <a:t>complète de manière cohérente au moins une partie de sa garde-robe</a:t>
            </a:r>
          </a:p>
        </p:txBody>
      </p:sp>
      <p:pic>
        <p:nvPicPr>
          <p:cNvPr id="6146" name="Picture 2" descr="Matching Your Personality to Your Style - Image Intelligence">
            <a:extLst>
              <a:ext uri="{FF2B5EF4-FFF2-40B4-BE49-F238E27FC236}">
                <a16:creationId xmlns:a16="http://schemas.microsoft.com/office/drawing/2014/main" id="{A45D98D6-E279-344C-B32E-44193D611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499" y="3501468"/>
            <a:ext cx="5934075" cy="2991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931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3CE52-4F15-7716-B310-E774D5CE8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01866A-0229-BDAE-D323-DFF9446CB7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Planning et Ressources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DA9FB90-D7C9-F69F-24C7-2DE0C926AB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Cadrage du développement</a:t>
            </a:r>
          </a:p>
        </p:txBody>
      </p:sp>
    </p:spTree>
    <p:extLst>
      <p:ext uri="{BB962C8B-B14F-4D97-AF65-F5344CB8AC3E}">
        <p14:creationId xmlns:p14="http://schemas.microsoft.com/office/powerpoint/2010/main" val="8001913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25">
            <a:extLst>
              <a:ext uri="{FF2B5EF4-FFF2-40B4-BE49-F238E27FC236}">
                <a16:creationId xmlns:a16="http://schemas.microsoft.com/office/drawing/2014/main" id="{C905123B-9194-4A9E-A28C-946FF73DC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475" y="1408940"/>
            <a:ext cx="6544588" cy="5449060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5CF08C5F-BBB2-52E3-CC82-A0DB00523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fr-FR" dirty="0"/>
              <a:t>RACI</a:t>
            </a:r>
            <a:br>
              <a:rPr lang="fr-FR" dirty="0"/>
            </a:br>
            <a:r>
              <a:rPr lang="fr-FR" sz="3600" b="1" dirty="0"/>
              <a:t>attribution des responsabilités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5608FE8-9CC9-6D24-5E5F-F0A7A4190B6C}"/>
              </a:ext>
            </a:extLst>
          </p:cNvPr>
          <p:cNvSpPr txBox="1"/>
          <p:nvPr/>
        </p:nvSpPr>
        <p:spPr>
          <a:xfrm>
            <a:off x="6096001" y="3027800"/>
            <a:ext cx="5257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400" u="sng" dirty="0"/>
              <a:t>Taux occupation </a:t>
            </a:r>
            <a:r>
              <a:rPr lang="fr-FR" sz="2400" u="sng" dirty="0" err="1"/>
              <a:t>PoC</a:t>
            </a:r>
            <a:r>
              <a:rPr lang="fr-FR" sz="2400" u="sng" dirty="0"/>
              <a:t> (interne)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C3413EC-1DF0-6E24-A64B-C5A6CB459F00}"/>
              </a:ext>
            </a:extLst>
          </p:cNvPr>
          <p:cNvSpPr txBox="1"/>
          <p:nvPr/>
        </p:nvSpPr>
        <p:spPr>
          <a:xfrm>
            <a:off x="7188202" y="3551020"/>
            <a:ext cx="416559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fr-FR" sz="2800" dirty="0"/>
              <a:t>Data </a:t>
            </a:r>
            <a:r>
              <a:rPr lang="fr-FR" sz="2800" dirty="0" err="1"/>
              <a:t>Scientist</a:t>
            </a:r>
            <a:r>
              <a:rPr lang="en-US" sz="2800" dirty="0"/>
              <a:t> 53%</a:t>
            </a:r>
            <a:endParaRPr lang="fr-FR" sz="2800" dirty="0"/>
          </a:p>
          <a:p>
            <a:pPr algn="r"/>
            <a:r>
              <a:rPr lang="fr-FR" sz="2800" dirty="0"/>
              <a:t>Data </a:t>
            </a:r>
            <a:r>
              <a:rPr lang="fr-FR" sz="2800" dirty="0" err="1"/>
              <a:t>Engineer</a:t>
            </a:r>
            <a:r>
              <a:rPr lang="en-US" sz="2800" dirty="0"/>
              <a:t> 27%</a:t>
            </a:r>
            <a:endParaRPr lang="fr-FR" sz="2800" dirty="0"/>
          </a:p>
          <a:p>
            <a:pPr algn="r"/>
            <a:r>
              <a:rPr lang="fr-FR" sz="2800" dirty="0"/>
              <a:t>Tech Lead Data</a:t>
            </a:r>
            <a:r>
              <a:rPr lang="en-US" sz="2800" dirty="0"/>
              <a:t> 7%</a:t>
            </a:r>
            <a:endParaRPr lang="fr-FR" sz="2800" dirty="0"/>
          </a:p>
          <a:p>
            <a:pPr algn="r"/>
            <a:r>
              <a:rPr lang="fr-FR" sz="2800" dirty="0"/>
              <a:t>ML Ops </a:t>
            </a:r>
            <a:r>
              <a:rPr lang="fr-FR" sz="2800" dirty="0" err="1"/>
              <a:t>Engineer</a:t>
            </a:r>
            <a:r>
              <a:rPr lang="en-US" sz="2800" dirty="0"/>
              <a:t> 7%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9597987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4EE8394E-C955-E433-0623-EBC2FB70EF9F}"/>
              </a:ext>
            </a:extLst>
          </p:cNvPr>
          <p:cNvCxnSpPr>
            <a:cxnSpLocks/>
          </p:cNvCxnSpPr>
          <p:nvPr/>
        </p:nvCxnSpPr>
        <p:spPr>
          <a:xfrm>
            <a:off x="8268230" y="1549594"/>
            <a:ext cx="2736458" cy="12337"/>
          </a:xfrm>
          <a:prstGeom prst="line">
            <a:avLst/>
          </a:prstGeom>
          <a:ln w="79375">
            <a:solidFill>
              <a:schemeClr val="tx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8" name="Rectangle : coins arrondis 97">
            <a:extLst>
              <a:ext uri="{FF2B5EF4-FFF2-40B4-BE49-F238E27FC236}">
                <a16:creationId xmlns:a16="http://schemas.microsoft.com/office/drawing/2014/main" id="{79609554-E40B-7B7C-5871-65794890D664}"/>
              </a:ext>
            </a:extLst>
          </p:cNvPr>
          <p:cNvSpPr/>
          <p:nvPr/>
        </p:nvSpPr>
        <p:spPr>
          <a:xfrm>
            <a:off x="7885824" y="5286342"/>
            <a:ext cx="4234235" cy="1262249"/>
          </a:xfrm>
          <a:prstGeom prst="roundRect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838515" y="178779"/>
            <a:ext cx="10091200" cy="776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fr" dirty="0"/>
              <a:t>Timeline</a:t>
            </a:r>
            <a:endParaRPr dirty="0"/>
          </a:p>
          <a:p>
            <a:pPr algn="ctr"/>
            <a:endParaRPr dirty="0"/>
          </a:p>
        </p:txBody>
      </p:sp>
      <p:sp>
        <p:nvSpPr>
          <p:cNvPr id="64" name="Google Shape;64;p14"/>
          <p:cNvSpPr/>
          <p:nvPr/>
        </p:nvSpPr>
        <p:spPr>
          <a:xfrm>
            <a:off x="455741" y="1074914"/>
            <a:ext cx="3594316" cy="271018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Semaines - Charge 14 Jours</a:t>
            </a:r>
          </a:p>
        </p:txBody>
      </p:sp>
      <p:sp>
        <p:nvSpPr>
          <p:cNvPr id="65" name="Google Shape;65;p14"/>
          <p:cNvSpPr/>
          <p:nvPr/>
        </p:nvSpPr>
        <p:spPr>
          <a:xfrm>
            <a:off x="4151741" y="1074914"/>
            <a:ext cx="3632116" cy="256413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5 Semaines - Charge 38 Jours</a:t>
            </a:r>
          </a:p>
        </p:txBody>
      </p:sp>
      <p:sp>
        <p:nvSpPr>
          <p:cNvPr id="66" name="Google Shape;66;p14"/>
          <p:cNvSpPr/>
          <p:nvPr/>
        </p:nvSpPr>
        <p:spPr>
          <a:xfrm>
            <a:off x="7847741" y="1074914"/>
            <a:ext cx="3614883" cy="277664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/>
            <a:r>
              <a:rPr lang="fr-FR" sz="14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3 Semaines - Charge 19 Jours</a:t>
            </a:r>
          </a:p>
        </p:txBody>
      </p:sp>
      <p:sp>
        <p:nvSpPr>
          <p:cNvPr id="67" name="Google Shape;67;p14"/>
          <p:cNvSpPr/>
          <p:nvPr/>
        </p:nvSpPr>
        <p:spPr>
          <a:xfrm>
            <a:off x="3757598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roupe 35">
            <a:extLst>
              <a:ext uri="{FF2B5EF4-FFF2-40B4-BE49-F238E27FC236}">
                <a16:creationId xmlns:a16="http://schemas.microsoft.com/office/drawing/2014/main" id="{DC7B91AA-A373-EEAB-3557-B3AE93AA157B}"/>
              </a:ext>
            </a:extLst>
          </p:cNvPr>
          <p:cNvGrpSpPr/>
          <p:nvPr/>
        </p:nvGrpSpPr>
        <p:grpSpPr>
          <a:xfrm>
            <a:off x="11069776" y="5971972"/>
            <a:ext cx="1553591" cy="230778"/>
            <a:chOff x="10387996" y="5413653"/>
            <a:chExt cx="1553591" cy="230778"/>
          </a:xfrm>
        </p:grpSpPr>
        <p:sp>
          <p:nvSpPr>
            <p:cNvPr id="68" name="Google Shape;68;p14"/>
            <p:cNvSpPr/>
            <p:nvPr/>
          </p:nvSpPr>
          <p:spPr>
            <a:xfrm>
              <a:off x="10387996" y="5452961"/>
              <a:ext cx="133970" cy="133970"/>
            </a:xfrm>
            <a:prstGeom prst="diamond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14"/>
            <p:cNvSpPr txBox="1"/>
            <p:nvPr/>
          </p:nvSpPr>
          <p:spPr>
            <a:xfrm>
              <a:off x="10447987" y="5413653"/>
              <a:ext cx="1493600" cy="23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" sz="700" b="1" dirty="0">
                  <a:latin typeface="Nunito"/>
                  <a:ea typeface="Nunito"/>
                  <a:cs typeface="Nunito"/>
                  <a:sym typeface="Nunito"/>
                </a:rPr>
                <a:t>Comité de Pilotage</a:t>
              </a:r>
              <a:endParaRPr sz="800" dirty="0">
                <a:latin typeface="Nunito"/>
                <a:ea typeface="Nunito"/>
                <a:cs typeface="Nunito"/>
                <a:sym typeface="Nunito"/>
              </a:endParaRPr>
            </a:p>
          </p:txBody>
        </p:sp>
      </p:grpSp>
      <p:sp>
        <p:nvSpPr>
          <p:cNvPr id="72" name="Google Shape;72;p14"/>
          <p:cNvSpPr/>
          <p:nvPr/>
        </p:nvSpPr>
        <p:spPr>
          <a:xfrm>
            <a:off x="473257" y="2314265"/>
            <a:ext cx="3576800" cy="2863812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4"/>
          <p:cNvSpPr/>
          <p:nvPr/>
        </p:nvSpPr>
        <p:spPr>
          <a:xfrm>
            <a:off x="4509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POC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Est-ce que cela fonctionne ?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558957" y="244219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</a:rPr>
              <a:t>Cadrage + sélection </a:t>
            </a:r>
            <a:r>
              <a:rPr lang="fr-FR" sz="933" b="1" dirty="0" err="1">
                <a:solidFill>
                  <a:srgbClr val="3F3F3F"/>
                </a:solidFill>
                <a:latin typeface="Nunito"/>
              </a:rPr>
              <a:t>dataset</a:t>
            </a:r>
            <a:endParaRPr lang="fr-FR" sz="933" b="1" dirty="0">
              <a:solidFill>
                <a:srgbClr val="3F3F3F"/>
              </a:solidFill>
              <a:latin typeface="Nunito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55895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Préparation du jeu de test</a:t>
            </a:r>
          </a:p>
        </p:txBody>
      </p:sp>
      <p:sp>
        <p:nvSpPr>
          <p:cNvPr id="76" name="Google Shape;76;p14"/>
          <p:cNvSpPr/>
          <p:nvPr/>
        </p:nvSpPr>
        <p:spPr>
          <a:xfrm>
            <a:off x="558957" y="334423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Baseline + approche similaire</a:t>
            </a:r>
          </a:p>
        </p:txBody>
      </p:sp>
      <p:sp>
        <p:nvSpPr>
          <p:cNvPr id="77" name="Google Shape;77;p14"/>
          <p:cNvSpPr/>
          <p:nvPr/>
        </p:nvSpPr>
        <p:spPr>
          <a:xfrm>
            <a:off x="558957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1152000" algn="r">
              <a:buClr>
                <a:srgbClr val="3F3F3F"/>
              </a:buClr>
              <a:buSzPts val="1000"/>
            </a:pPr>
            <a:r>
              <a:rPr lang="fr-FR" sz="933" b="1" dirty="0">
                <a:solidFill>
                  <a:srgbClr val="3F3F3F"/>
                </a:solidFill>
                <a:latin typeface="Nunito"/>
                <a:ea typeface="Nunito"/>
                <a:cs typeface="Nunito"/>
                <a:sym typeface="Nunito"/>
              </a:rPr>
              <a:t>Approche compatibilité</a:t>
            </a:r>
          </a:p>
        </p:txBody>
      </p:sp>
      <p:sp>
        <p:nvSpPr>
          <p:cNvPr id="78" name="Google Shape;78;p14"/>
          <p:cNvSpPr/>
          <p:nvPr/>
        </p:nvSpPr>
        <p:spPr>
          <a:xfrm>
            <a:off x="4207057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4184757" y="1813832"/>
            <a:ext cx="35992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MVP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Faire une solution utilisable !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4307997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Application et fonctionnalités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4307997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Embedding du catalogue Fashion Insta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2" name="Google Shape;82;p14"/>
          <p:cNvSpPr/>
          <p:nvPr/>
        </p:nvSpPr>
        <p:spPr>
          <a:xfrm>
            <a:off x="4307997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" sz="933" b="1" dirty="0">
                <a:solidFill>
                  <a:srgbClr val="3F3F3F"/>
                </a:solidFill>
                <a:latin typeface="Nunito"/>
                <a:sym typeface="Nunito"/>
              </a:rPr>
              <a:t>Moteur de recommandation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7885824" y="1813832"/>
            <a:ext cx="3576800" cy="448000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r"/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Run</a:t>
            </a:r>
          </a:p>
          <a:p>
            <a:pPr algn="r"/>
            <a:r>
              <a:rPr lang="fr-FR" sz="1200" dirty="0">
                <a:solidFill>
                  <a:schemeClr val="bg1"/>
                </a:solidFill>
              </a:rPr>
              <a:t>Exploiter et l'améliorer durablement</a:t>
            </a:r>
            <a:r>
              <a:rPr lang="fr" sz="1200" b="1" dirty="0">
                <a:solidFill>
                  <a:schemeClr val="bg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200" dirty="0">
              <a:solidFill>
                <a:schemeClr val="bg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p14"/>
          <p:cNvSpPr/>
          <p:nvPr/>
        </p:nvSpPr>
        <p:spPr>
          <a:xfrm>
            <a:off x="479656" y="5286342"/>
            <a:ext cx="35992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Modèles ML (Segmentation,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Embedding</a:t>
            </a: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, Caractéristiques,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PairWise</a:t>
            </a: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)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Utilisateur et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Outfits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Algorithmes Similarité et Compatibilité</a:t>
            </a:r>
          </a:p>
        </p:txBody>
      </p:sp>
      <p:sp>
        <p:nvSpPr>
          <p:cNvPr id="4" name="Google Shape;85;p14">
            <a:extLst>
              <a:ext uri="{FF2B5EF4-FFF2-40B4-BE49-F238E27FC236}">
                <a16:creationId xmlns:a16="http://schemas.microsoft.com/office/drawing/2014/main" id="{C1E0FBDD-EE4D-C6AB-063E-6B3DBD5624EF}"/>
              </a:ext>
            </a:extLst>
          </p:cNvPr>
          <p:cNvSpPr/>
          <p:nvPr/>
        </p:nvSpPr>
        <p:spPr>
          <a:xfrm>
            <a:off x="4207057" y="5286342"/>
            <a:ext cx="3576800" cy="1262249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r>
              <a:rPr lang="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Livrables : </a:t>
            </a:r>
            <a:endParaRPr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Application Mobile et fonctionnalités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Dataset</a:t>
            </a: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 Fashion Insta</a:t>
            </a:r>
          </a:p>
          <a:p>
            <a:pPr marL="609585" indent="-372524">
              <a:buClr>
                <a:srgbClr val="FFFFFF"/>
              </a:buClr>
              <a:buSzPts val="800"/>
              <a:buFont typeface="Nunito"/>
              <a:buChar char="●"/>
            </a:pPr>
            <a:r>
              <a:rPr lang="fr-FR" sz="1067" b="1" dirty="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Un moteur de recommandation API </a:t>
            </a:r>
            <a:r>
              <a:rPr lang="fr-FR" sz="1067" b="1" dirty="0" err="1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Rest</a:t>
            </a:r>
            <a:endParaRPr lang="fr-FR" sz="1067" b="1" dirty="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CCED1A1-C091-DC4B-CD38-96A965025607}"/>
              </a:ext>
            </a:extLst>
          </p:cNvPr>
          <p:cNvSpPr txBox="1"/>
          <p:nvPr/>
        </p:nvSpPr>
        <p:spPr>
          <a:xfrm>
            <a:off x="9084622" y="5971972"/>
            <a:ext cx="900370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0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0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Scientist</a:t>
            </a:r>
            <a:endParaRPr lang="fr-FR" altLang="fr-FR" sz="1000" b="1" dirty="0">
              <a:solidFill>
                <a:sysClr val="windowText" lastClr="000000"/>
              </a:solidFill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89F8222-D86B-4C0F-B22C-50B2E5F90412}"/>
              </a:ext>
            </a:extLst>
          </p:cNvPr>
          <p:cNvSpPr txBox="1"/>
          <p:nvPr/>
        </p:nvSpPr>
        <p:spPr>
          <a:xfrm>
            <a:off x="8088364" y="5424666"/>
            <a:ext cx="900370" cy="40011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0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Data </a:t>
            </a:r>
            <a:r>
              <a:rPr lang="fr-FR" altLang="fr-FR" sz="10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A25DE4F-68E5-69CE-65BB-3D4E1B63F1B2}"/>
              </a:ext>
            </a:extLst>
          </p:cNvPr>
          <p:cNvSpPr txBox="1"/>
          <p:nvPr/>
        </p:nvSpPr>
        <p:spPr>
          <a:xfrm>
            <a:off x="8088364" y="5971972"/>
            <a:ext cx="900370" cy="40011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000" b="1" dirty="0">
                <a:solidFill>
                  <a:sysClr val="windowText" lastClr="000000"/>
                </a:solidFill>
                <a:latin typeface="Arial" panose="020B0604020202020204" pitchFamily="34" charset="0"/>
              </a:rPr>
              <a:t>ML Ops </a:t>
            </a:r>
            <a:r>
              <a:rPr lang="fr-FR" altLang="fr-FR" sz="1000" b="1" dirty="0" err="1">
                <a:solidFill>
                  <a:sysClr val="windowText" lastClr="000000"/>
                </a:solidFill>
                <a:latin typeface="Arial" panose="020B0604020202020204" pitchFamily="34" charset="0"/>
              </a:rPr>
              <a:t>Engineer</a:t>
            </a:r>
            <a:endParaRPr lang="fr-FR" sz="10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1E2E35F-080E-66B3-1C0A-6A7FE838818F}"/>
              </a:ext>
            </a:extLst>
          </p:cNvPr>
          <p:cNvSpPr txBox="1"/>
          <p:nvPr/>
        </p:nvSpPr>
        <p:spPr>
          <a:xfrm>
            <a:off x="9084622" y="5424666"/>
            <a:ext cx="900370" cy="40011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sz="1000" dirty="0"/>
              <a:t>Tech Lead Data</a:t>
            </a:r>
            <a:endParaRPr lang="fr-FR" sz="1000" dirty="0"/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5B2890BC-045E-10EC-562E-F90B75502CA4}"/>
              </a:ext>
            </a:extLst>
          </p:cNvPr>
          <p:cNvGrpSpPr/>
          <p:nvPr/>
        </p:nvGrpSpPr>
        <p:grpSpPr>
          <a:xfrm>
            <a:off x="491177" y="1851490"/>
            <a:ext cx="956597" cy="372684"/>
            <a:chOff x="491177" y="1851490"/>
            <a:chExt cx="956597" cy="372684"/>
          </a:xfrm>
        </p:grpSpPr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B3E427E-3C37-2B69-7443-993FCA4C0D01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53 %</a:t>
              </a:r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A97BF9D7-5F7A-D51F-33DA-706E650ABE2D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7 %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83F005A-1EB6-0400-F7A2-495D21C86F68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27 %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0BA3A6E-9ADA-17A5-E835-471141913FF4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7 %</a:t>
              </a:r>
            </a:p>
          </p:txBody>
        </p:sp>
      </p:grpSp>
      <p:sp>
        <p:nvSpPr>
          <p:cNvPr id="26" name="Google Shape;78;p14">
            <a:extLst>
              <a:ext uri="{FF2B5EF4-FFF2-40B4-BE49-F238E27FC236}">
                <a16:creationId xmlns:a16="http://schemas.microsoft.com/office/drawing/2014/main" id="{78D12A63-617C-E7D4-272B-BDF4EACB261D}"/>
              </a:ext>
            </a:extLst>
          </p:cNvPr>
          <p:cNvSpPr/>
          <p:nvPr/>
        </p:nvSpPr>
        <p:spPr>
          <a:xfrm>
            <a:off x="7885824" y="2314265"/>
            <a:ext cx="3576800" cy="2863811"/>
          </a:xfrm>
          <a:prstGeom prst="rect">
            <a:avLst/>
          </a:prstGeom>
          <a:solidFill>
            <a:schemeClr val="accent3"/>
          </a:solidFill>
          <a:ln w="12700" cap="flat" cmpd="sng">
            <a:solidFill>
              <a:srgbClr val="FFFF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endParaRPr sz="2400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" name="Google Shape;80;p14">
            <a:extLst>
              <a:ext uri="{FF2B5EF4-FFF2-40B4-BE49-F238E27FC236}">
                <a16:creationId xmlns:a16="http://schemas.microsoft.com/office/drawing/2014/main" id="{B7542D7A-6ED7-E797-8CC9-A9F7024105D5}"/>
              </a:ext>
            </a:extLst>
          </p:cNvPr>
          <p:cNvSpPr/>
          <p:nvPr/>
        </p:nvSpPr>
        <p:spPr>
          <a:xfrm>
            <a:off x="7986764" y="244219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Exploitation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8" name="Google Shape;81;p14">
            <a:extLst>
              <a:ext uri="{FF2B5EF4-FFF2-40B4-BE49-F238E27FC236}">
                <a16:creationId xmlns:a16="http://schemas.microsoft.com/office/drawing/2014/main" id="{D6E1C378-F245-DAA0-F45C-E632207A3D3E}"/>
              </a:ext>
            </a:extLst>
          </p:cNvPr>
          <p:cNvSpPr/>
          <p:nvPr/>
        </p:nvSpPr>
        <p:spPr>
          <a:xfrm>
            <a:off x="7986764" y="289321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Monitoring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29" name="Google Shape;82;p14">
            <a:extLst>
              <a:ext uri="{FF2B5EF4-FFF2-40B4-BE49-F238E27FC236}">
                <a16:creationId xmlns:a16="http://schemas.microsoft.com/office/drawing/2014/main" id="{2A280676-BCA4-8004-D4D2-09D5B74E189F}"/>
              </a:ext>
            </a:extLst>
          </p:cNvPr>
          <p:cNvSpPr/>
          <p:nvPr/>
        </p:nvSpPr>
        <p:spPr>
          <a:xfrm>
            <a:off x="7986764" y="3336645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Réentraînement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sp>
        <p:nvSpPr>
          <p:cNvPr id="30" name="Google Shape;83;p14">
            <a:extLst>
              <a:ext uri="{FF2B5EF4-FFF2-40B4-BE49-F238E27FC236}">
                <a16:creationId xmlns:a16="http://schemas.microsoft.com/office/drawing/2014/main" id="{7806F34B-BDE2-D4EC-84B4-0CAB1145E806}"/>
              </a:ext>
            </a:extLst>
          </p:cNvPr>
          <p:cNvSpPr/>
          <p:nvPr/>
        </p:nvSpPr>
        <p:spPr>
          <a:xfrm>
            <a:off x="7986764" y="3795259"/>
            <a:ext cx="3383200" cy="293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 marL="612000" algn="r">
              <a:buClr>
                <a:srgbClr val="3F3F3F"/>
              </a:buClr>
              <a:buSzPts val="1000"/>
            </a:pPr>
            <a:r>
              <a:rPr lang="fr-FR" sz="1000" dirty="0"/>
              <a:t>Amélioration</a:t>
            </a:r>
            <a:endParaRPr sz="933" b="1" dirty="0">
              <a:solidFill>
                <a:srgbClr val="3F3F3F"/>
              </a:solidFill>
              <a:latin typeface="Nunito"/>
              <a:sym typeface="Nunito"/>
            </a:endParaRPr>
          </a:p>
        </p:txBody>
      </p:sp>
      <p:grpSp>
        <p:nvGrpSpPr>
          <p:cNvPr id="38" name="Groupe 37">
            <a:extLst>
              <a:ext uri="{FF2B5EF4-FFF2-40B4-BE49-F238E27FC236}">
                <a16:creationId xmlns:a16="http://schemas.microsoft.com/office/drawing/2014/main" id="{A5C1002C-F406-F7A9-1228-8D91E00B8111}"/>
              </a:ext>
            </a:extLst>
          </p:cNvPr>
          <p:cNvGrpSpPr/>
          <p:nvPr/>
        </p:nvGrpSpPr>
        <p:grpSpPr>
          <a:xfrm>
            <a:off x="4225276" y="1836205"/>
            <a:ext cx="956597" cy="372684"/>
            <a:chOff x="491177" y="1851490"/>
            <a:chExt cx="956597" cy="372684"/>
          </a:xfrm>
        </p:grpSpPr>
        <p:sp>
          <p:nvSpPr>
            <p:cNvPr id="39" name="ZoneTexte 38">
              <a:extLst>
                <a:ext uri="{FF2B5EF4-FFF2-40B4-BE49-F238E27FC236}">
                  <a16:creationId xmlns:a16="http://schemas.microsoft.com/office/drawing/2014/main" id="{9996571C-AB1D-696F-7CA5-1220171B276A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8 %</a:t>
              </a:r>
            </a:p>
          </p:txBody>
        </p:sp>
        <p:sp>
          <p:nvSpPr>
            <p:cNvPr id="40" name="ZoneTexte 39">
              <a:extLst>
                <a:ext uri="{FF2B5EF4-FFF2-40B4-BE49-F238E27FC236}">
                  <a16:creationId xmlns:a16="http://schemas.microsoft.com/office/drawing/2014/main" id="{5F37D13E-FC56-41F2-C84B-E1F14ADA9031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20 %</a:t>
              </a:r>
            </a:p>
          </p:txBody>
        </p:sp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73062E3A-B255-1C13-60F8-69504B640936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20 %</a:t>
              </a:r>
            </a:p>
          </p:txBody>
        </p:sp>
        <p:sp>
          <p:nvSpPr>
            <p:cNvPr id="42" name="ZoneTexte 41">
              <a:extLst>
                <a:ext uri="{FF2B5EF4-FFF2-40B4-BE49-F238E27FC236}">
                  <a16:creationId xmlns:a16="http://schemas.microsoft.com/office/drawing/2014/main" id="{377BFC3A-A5CA-1CCD-FB3F-8EC6A71DDB89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12 %</a:t>
              </a:r>
            </a:p>
          </p:txBody>
        </p:sp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6ADE2249-C2DC-F82F-D7C4-E341ABFED9A7}"/>
              </a:ext>
            </a:extLst>
          </p:cNvPr>
          <p:cNvGrpSpPr/>
          <p:nvPr/>
        </p:nvGrpSpPr>
        <p:grpSpPr>
          <a:xfrm>
            <a:off x="7949655" y="1848024"/>
            <a:ext cx="956597" cy="372684"/>
            <a:chOff x="491177" y="1851490"/>
            <a:chExt cx="956597" cy="372684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34E68A86-9AB2-E3AE-9788-4F106B2939B6}"/>
                </a:ext>
              </a:extLst>
            </p:cNvPr>
            <p:cNvSpPr txBox="1"/>
            <p:nvPr/>
          </p:nvSpPr>
          <p:spPr>
            <a:xfrm>
              <a:off x="491177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27 %</a:t>
              </a:r>
            </a:p>
          </p:txBody>
        </p:sp>
        <p:sp>
          <p:nvSpPr>
            <p:cNvPr id="45" name="ZoneTexte 44">
              <a:extLst>
                <a:ext uri="{FF2B5EF4-FFF2-40B4-BE49-F238E27FC236}">
                  <a16:creationId xmlns:a16="http://schemas.microsoft.com/office/drawing/2014/main" id="{67697C49-8205-4EF9-9EB4-1308C58477C6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736888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</a:lstStyle>
            <a:p>
              <a:r>
                <a:rPr lang="fr-FR" sz="900" dirty="0"/>
                <a:t>60 %</a:t>
              </a:r>
            </a:p>
          </p:txBody>
        </p:sp>
        <p:sp>
          <p:nvSpPr>
            <p:cNvPr id="46" name="ZoneTexte 45">
              <a:extLst>
                <a:ext uri="{FF2B5EF4-FFF2-40B4-BE49-F238E27FC236}">
                  <a16:creationId xmlns:a16="http://schemas.microsoft.com/office/drawing/2014/main" id="{DDC84E5D-4C0C-3608-8942-9956BBDA2EFE}"/>
                </a:ext>
              </a:extLst>
            </p:cNvPr>
            <p:cNvSpPr txBox="1"/>
            <p:nvPr/>
          </p:nvSpPr>
          <p:spPr>
            <a:xfrm>
              <a:off x="982599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>
              <a:defPPr>
                <a:defRPr lang="fr-FR"/>
              </a:defPPr>
              <a:lvl1pPr algn="ctr">
                <a:defRPr sz="800" b="1">
                  <a:solidFill>
                    <a:sysClr val="windowText" lastClr="000000"/>
                  </a:solidFill>
                  <a:latin typeface="Arial" panose="020B0604020202020204" pitchFamily="34" charset="0"/>
                </a:defRPr>
              </a:lvl1pPr>
              <a:lvl2pPr>
                <a:defRPr>
                  <a:solidFill>
                    <a:schemeClr val="dk1"/>
                  </a:solidFill>
                </a:defRPr>
              </a:lvl2pPr>
              <a:lvl3pPr>
                <a:defRPr>
                  <a:solidFill>
                    <a:schemeClr val="dk1"/>
                  </a:solidFill>
                </a:defRPr>
              </a:lvl3pPr>
              <a:lvl4pPr>
                <a:defRPr>
                  <a:solidFill>
                    <a:schemeClr val="dk1"/>
                  </a:solidFill>
                </a:defRPr>
              </a:lvl4pPr>
              <a:lvl5pPr>
                <a:defRPr>
                  <a:solidFill>
                    <a:schemeClr val="dk1"/>
                  </a:solidFill>
                </a:defRPr>
              </a:lvl5pPr>
              <a:lvl6pPr>
                <a:defRPr>
                  <a:solidFill>
                    <a:schemeClr val="dk1"/>
                  </a:solidFill>
                </a:defRPr>
              </a:lvl6pPr>
              <a:lvl7pPr>
                <a:defRPr>
                  <a:solidFill>
                    <a:schemeClr val="dk1"/>
                  </a:solidFill>
                </a:defRPr>
              </a:lvl7pPr>
              <a:lvl8pPr>
                <a:defRPr>
                  <a:solidFill>
                    <a:schemeClr val="dk1"/>
                  </a:solidFill>
                </a:defRPr>
              </a:lvl8pPr>
              <a:lvl9pPr>
                <a:defRPr>
                  <a:solidFill>
                    <a:schemeClr val="dk1"/>
                  </a:solidFill>
                </a:defRPr>
              </a:lvl9pPr>
            </a:lstStyle>
            <a:p>
              <a:r>
                <a:rPr lang="fr-FR" sz="900" dirty="0"/>
                <a:t>13 %</a:t>
              </a:r>
            </a:p>
          </p:txBody>
        </p:sp>
        <p:sp>
          <p:nvSpPr>
            <p:cNvPr id="47" name="ZoneTexte 46">
              <a:extLst>
                <a:ext uri="{FF2B5EF4-FFF2-40B4-BE49-F238E27FC236}">
                  <a16:creationId xmlns:a16="http://schemas.microsoft.com/office/drawing/2014/main" id="{DCBE1F99-5B47-39B5-5FF8-03480E1A3A27}"/>
                </a:ext>
              </a:extLst>
            </p:cNvPr>
            <p:cNvSpPr txBox="1"/>
            <p:nvPr/>
          </p:nvSpPr>
          <p:spPr>
            <a:xfrm>
              <a:off x="1228310" y="1851490"/>
              <a:ext cx="219464" cy="372684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vert="vert270" wrap="square" lIns="0" tIns="0" rIns="0" bIns="0" anchor="ctr">
              <a:noAutofit/>
            </a:bodyPr>
            <a:lstStyle/>
            <a:p>
              <a:pPr algn="ctr"/>
              <a:r>
                <a:rPr lang="fr-FR" altLang="fr-FR" sz="900" b="1" dirty="0">
                  <a:solidFill>
                    <a:sysClr val="windowText" lastClr="000000"/>
                  </a:solidFill>
                  <a:latin typeface="Arial" panose="020B0604020202020204" pitchFamily="34" charset="0"/>
                </a:rPr>
                <a:t>27 %</a:t>
              </a:r>
            </a:p>
          </p:txBody>
        </p:sp>
      </p:grpSp>
      <p:sp>
        <p:nvSpPr>
          <p:cNvPr id="50" name="ZoneTexte 49">
            <a:extLst>
              <a:ext uri="{FF2B5EF4-FFF2-40B4-BE49-F238E27FC236}">
                <a16:creationId xmlns:a16="http://schemas.microsoft.com/office/drawing/2014/main" id="{D5D23C46-70CB-1E7C-BE62-20535569AA32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708180" y="2407243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61" name="Google Shape;67;p14">
            <a:extLst>
              <a:ext uri="{FF2B5EF4-FFF2-40B4-BE49-F238E27FC236}">
                <a16:creationId xmlns:a16="http://schemas.microsoft.com/office/drawing/2014/main" id="{22385F7B-3297-6502-17A9-BD46F6A5277E}"/>
              </a:ext>
            </a:extLst>
          </p:cNvPr>
          <p:cNvSpPr/>
          <p:nvPr/>
        </p:nvSpPr>
        <p:spPr>
          <a:xfrm>
            <a:off x="7482304" y="1424703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7;p14">
            <a:extLst>
              <a:ext uri="{FF2B5EF4-FFF2-40B4-BE49-F238E27FC236}">
                <a16:creationId xmlns:a16="http://schemas.microsoft.com/office/drawing/2014/main" id="{886C84B9-D8F0-845C-D66E-BC5E95A93EB6}"/>
              </a:ext>
            </a:extLst>
          </p:cNvPr>
          <p:cNvSpPr/>
          <p:nvPr/>
        </p:nvSpPr>
        <p:spPr>
          <a:xfrm>
            <a:off x="8867689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70;p14">
            <a:extLst>
              <a:ext uri="{FF2B5EF4-FFF2-40B4-BE49-F238E27FC236}">
                <a16:creationId xmlns:a16="http://schemas.microsoft.com/office/drawing/2014/main" id="{DCC69DA8-5D00-3E4E-050F-64F496742A16}"/>
              </a:ext>
            </a:extLst>
          </p:cNvPr>
          <p:cNvSpPr/>
          <p:nvPr/>
        </p:nvSpPr>
        <p:spPr>
          <a:xfrm>
            <a:off x="1368561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70;p14">
            <a:extLst>
              <a:ext uri="{FF2B5EF4-FFF2-40B4-BE49-F238E27FC236}">
                <a16:creationId xmlns:a16="http://schemas.microsoft.com/office/drawing/2014/main" id="{5969A405-5B61-E449-B63C-B5501C3624A8}"/>
              </a:ext>
            </a:extLst>
          </p:cNvPr>
          <p:cNvSpPr/>
          <p:nvPr/>
        </p:nvSpPr>
        <p:spPr>
          <a:xfrm>
            <a:off x="2253202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70;p14">
            <a:extLst>
              <a:ext uri="{FF2B5EF4-FFF2-40B4-BE49-F238E27FC236}">
                <a16:creationId xmlns:a16="http://schemas.microsoft.com/office/drawing/2014/main" id="{C6A8F735-EBC8-93A6-2977-91B0AADD8C99}"/>
              </a:ext>
            </a:extLst>
          </p:cNvPr>
          <p:cNvSpPr/>
          <p:nvPr/>
        </p:nvSpPr>
        <p:spPr>
          <a:xfrm>
            <a:off x="3152355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70;p14">
            <a:extLst>
              <a:ext uri="{FF2B5EF4-FFF2-40B4-BE49-F238E27FC236}">
                <a16:creationId xmlns:a16="http://schemas.microsoft.com/office/drawing/2014/main" id="{AC741ACA-4DFA-7F2D-9CC1-CEF042CC1142}"/>
              </a:ext>
            </a:extLst>
          </p:cNvPr>
          <p:cNvSpPr/>
          <p:nvPr/>
        </p:nvSpPr>
        <p:spPr>
          <a:xfrm>
            <a:off x="4200639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70;p14">
            <a:extLst>
              <a:ext uri="{FF2B5EF4-FFF2-40B4-BE49-F238E27FC236}">
                <a16:creationId xmlns:a16="http://schemas.microsoft.com/office/drawing/2014/main" id="{CC81012E-95AF-3965-21F2-1E39CADE5C45}"/>
              </a:ext>
            </a:extLst>
          </p:cNvPr>
          <p:cNvSpPr/>
          <p:nvPr/>
        </p:nvSpPr>
        <p:spPr>
          <a:xfrm>
            <a:off x="5571508" y="1424703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70;p14">
            <a:extLst>
              <a:ext uri="{FF2B5EF4-FFF2-40B4-BE49-F238E27FC236}">
                <a16:creationId xmlns:a16="http://schemas.microsoft.com/office/drawing/2014/main" id="{5E76AD86-FBEF-BB4F-8F59-B4E0982944AA}"/>
              </a:ext>
            </a:extLst>
          </p:cNvPr>
          <p:cNvSpPr/>
          <p:nvPr/>
        </p:nvSpPr>
        <p:spPr>
          <a:xfrm>
            <a:off x="446176" y="1435947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70;p14">
            <a:extLst>
              <a:ext uri="{FF2B5EF4-FFF2-40B4-BE49-F238E27FC236}">
                <a16:creationId xmlns:a16="http://schemas.microsoft.com/office/drawing/2014/main" id="{F8EB1EEF-E1CD-DE88-AB76-E5D7CAAE22CC}"/>
              </a:ext>
            </a:extLst>
          </p:cNvPr>
          <p:cNvSpPr/>
          <p:nvPr/>
        </p:nvSpPr>
        <p:spPr>
          <a:xfrm>
            <a:off x="8268230" y="1409162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70;p14">
            <a:extLst>
              <a:ext uri="{FF2B5EF4-FFF2-40B4-BE49-F238E27FC236}">
                <a16:creationId xmlns:a16="http://schemas.microsoft.com/office/drawing/2014/main" id="{60D2BBEE-7EE1-FC49-19C4-BE44722C2084}"/>
              </a:ext>
            </a:extLst>
          </p:cNvPr>
          <p:cNvSpPr/>
          <p:nvPr/>
        </p:nvSpPr>
        <p:spPr>
          <a:xfrm>
            <a:off x="7120155" y="1417661"/>
            <a:ext cx="293200" cy="293200"/>
          </a:xfrm>
          <a:prstGeom prst="diamond">
            <a:avLst/>
          </a:prstGeom>
          <a:solidFill>
            <a:srgbClr val="003856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67;p14">
            <a:extLst>
              <a:ext uri="{FF2B5EF4-FFF2-40B4-BE49-F238E27FC236}">
                <a16:creationId xmlns:a16="http://schemas.microsoft.com/office/drawing/2014/main" id="{E6E612ED-D8D1-8810-7ABE-0514D345B3C0}"/>
              </a:ext>
            </a:extLst>
          </p:cNvPr>
          <p:cNvSpPr/>
          <p:nvPr/>
        </p:nvSpPr>
        <p:spPr>
          <a:xfrm>
            <a:off x="9596133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67;p14">
            <a:extLst>
              <a:ext uri="{FF2B5EF4-FFF2-40B4-BE49-F238E27FC236}">
                <a16:creationId xmlns:a16="http://schemas.microsoft.com/office/drawing/2014/main" id="{0907DB81-C811-BB12-C13F-393DCFA114D7}"/>
              </a:ext>
            </a:extLst>
          </p:cNvPr>
          <p:cNvSpPr/>
          <p:nvPr/>
        </p:nvSpPr>
        <p:spPr>
          <a:xfrm>
            <a:off x="10298600" y="1409162"/>
            <a:ext cx="293201" cy="293200"/>
          </a:xfrm>
          <a:prstGeom prst="diamond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buClr>
                <a:srgbClr val="000000"/>
              </a:buClr>
              <a:buSzPts val="1400"/>
            </a:pPr>
            <a:endParaRPr sz="1867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5F7644C9-B8B5-B8B4-4507-BD7E4ED61E53}"/>
              </a:ext>
            </a:extLst>
          </p:cNvPr>
          <p:cNvSpPr txBox="1"/>
          <p:nvPr/>
        </p:nvSpPr>
        <p:spPr>
          <a:xfrm>
            <a:off x="10092169" y="5420126"/>
            <a:ext cx="900370" cy="4001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000" b="1" dirty="0">
                <a:solidFill>
                  <a:schemeClr val="bg1"/>
                </a:solidFill>
                <a:latin typeface="Arial" panose="020B0604020202020204" pitchFamily="34" charset="0"/>
              </a:rPr>
              <a:t>Frontend</a:t>
            </a:r>
          </a:p>
          <a:p>
            <a:pPr algn="ctr"/>
            <a:r>
              <a:rPr lang="fr-FR" sz="1000" b="1" dirty="0" err="1">
                <a:solidFill>
                  <a:schemeClr val="bg1"/>
                </a:solidFill>
                <a:latin typeface="Arial" panose="020B0604020202020204" pitchFamily="34" charset="0"/>
              </a:rPr>
              <a:t>Developer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7F69A881-44E9-CCFF-D55B-27342F7F85F3}"/>
              </a:ext>
            </a:extLst>
          </p:cNvPr>
          <p:cNvSpPr txBox="1"/>
          <p:nvPr/>
        </p:nvSpPr>
        <p:spPr>
          <a:xfrm>
            <a:off x="10092169" y="5967432"/>
            <a:ext cx="900370" cy="4001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fr-FR" altLang="fr-FR" sz="1000" b="1" dirty="0">
                <a:solidFill>
                  <a:schemeClr val="bg1"/>
                </a:solidFill>
                <a:latin typeface="Arial" panose="020B0604020202020204" pitchFamily="34" charset="0"/>
              </a:rPr>
              <a:t>Backend</a:t>
            </a:r>
          </a:p>
          <a:p>
            <a:pPr algn="ctr"/>
            <a:r>
              <a:rPr lang="fr-FR" sz="1000" b="1" dirty="0" err="1">
                <a:solidFill>
                  <a:schemeClr val="bg1"/>
                </a:solidFill>
                <a:latin typeface="Arial" panose="020B0604020202020204" pitchFamily="34" charset="0"/>
              </a:rPr>
              <a:t>Developer</a:t>
            </a:r>
            <a:endParaRPr lang="fr-FR" sz="1000" b="1" dirty="0">
              <a:solidFill>
                <a:schemeClr val="bg1"/>
              </a:solidFill>
            </a:endParaRP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850C2CA7-7CE0-7402-259C-ECD08117BEA3}"/>
              </a:ext>
            </a:extLst>
          </p:cNvPr>
          <p:cNvSpPr txBox="1"/>
          <p:nvPr/>
        </p:nvSpPr>
        <p:spPr>
          <a:xfrm>
            <a:off x="11111005" y="5420126"/>
            <a:ext cx="900370" cy="4001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fr-FR"/>
            </a:defPPr>
            <a:lvl1pPr algn="ctr">
              <a:defRPr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fr-FR" altLang="fr-FR" sz="1000" dirty="0">
                <a:solidFill>
                  <a:schemeClr val="bg1"/>
                </a:solidFill>
              </a:rPr>
              <a:t>Tech Lead Software</a:t>
            </a:r>
            <a:endParaRPr lang="fr-FR" sz="1000" dirty="0">
              <a:solidFill>
                <a:schemeClr val="bg1"/>
              </a:solidFill>
            </a:endParaRPr>
          </a:p>
        </p:txBody>
      </p:sp>
      <p:grpSp>
        <p:nvGrpSpPr>
          <p:cNvPr id="56" name="Groupe 55">
            <a:extLst>
              <a:ext uri="{FF2B5EF4-FFF2-40B4-BE49-F238E27FC236}">
                <a16:creationId xmlns:a16="http://schemas.microsoft.com/office/drawing/2014/main" id="{393AA57F-74C9-7A3B-ED8A-05FD8BCFA769}"/>
              </a:ext>
            </a:extLst>
          </p:cNvPr>
          <p:cNvGrpSpPr/>
          <p:nvPr/>
        </p:nvGrpSpPr>
        <p:grpSpPr>
          <a:xfrm>
            <a:off x="11064131" y="6165773"/>
            <a:ext cx="1553591" cy="230778"/>
            <a:chOff x="10387996" y="5413653"/>
            <a:chExt cx="1553591" cy="230778"/>
          </a:xfrm>
        </p:grpSpPr>
        <p:sp>
          <p:nvSpPr>
            <p:cNvPr id="57" name="Google Shape;68;p14">
              <a:extLst>
                <a:ext uri="{FF2B5EF4-FFF2-40B4-BE49-F238E27FC236}">
                  <a16:creationId xmlns:a16="http://schemas.microsoft.com/office/drawing/2014/main" id="{12462F92-89E2-95F0-8BD3-68B65CB2B0F3}"/>
                </a:ext>
              </a:extLst>
            </p:cNvPr>
            <p:cNvSpPr/>
            <p:nvPr/>
          </p:nvSpPr>
          <p:spPr>
            <a:xfrm>
              <a:off x="10387996" y="5452961"/>
              <a:ext cx="133970" cy="133970"/>
            </a:xfrm>
            <a:prstGeom prst="diamond">
              <a:avLst/>
            </a:prstGeom>
            <a:solidFill>
              <a:srgbClr val="003856"/>
            </a:solidFill>
            <a:ln>
              <a:noFill/>
            </a:ln>
          </p:spPr>
          <p:txBody>
            <a:bodyPr spcFirstLastPara="1" wrap="square" lIns="121900" tIns="60933" rIns="121900" bIns="60933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</a:pPr>
              <a:endParaRPr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69;p14">
              <a:extLst>
                <a:ext uri="{FF2B5EF4-FFF2-40B4-BE49-F238E27FC236}">
                  <a16:creationId xmlns:a16="http://schemas.microsoft.com/office/drawing/2014/main" id="{92CB6F35-BD5C-0B1C-1198-BFA16B619688}"/>
                </a:ext>
              </a:extLst>
            </p:cNvPr>
            <p:cNvSpPr txBox="1"/>
            <p:nvPr/>
          </p:nvSpPr>
          <p:spPr>
            <a:xfrm>
              <a:off x="10447987" y="5413653"/>
              <a:ext cx="1493600" cy="2307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60933" rIns="121900" bIns="60933" anchor="t" anchorCtr="0">
              <a:spAutoFit/>
            </a:bodyPr>
            <a:lstStyle/>
            <a:p>
              <a:r>
                <a:rPr lang="fr-FR" sz="700" b="1" dirty="0">
                  <a:latin typeface="Nunito"/>
                  <a:ea typeface="Nunito"/>
                  <a:cs typeface="Nunito"/>
                  <a:sym typeface="Nunito"/>
                </a:rPr>
                <a:t>Comité de Projet</a:t>
              </a:r>
            </a:p>
          </p:txBody>
        </p:sp>
      </p:grpSp>
      <p:sp>
        <p:nvSpPr>
          <p:cNvPr id="59" name="ZoneTexte 58">
            <a:extLst>
              <a:ext uri="{FF2B5EF4-FFF2-40B4-BE49-F238E27FC236}">
                <a16:creationId xmlns:a16="http://schemas.microsoft.com/office/drawing/2014/main" id="{2E0B9CF0-7CAB-42D2-18B2-5814D77A36E6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708180" y="285965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 JO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A7102A31-A390-2357-1073-BAE8ABE686F8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708180" y="3308167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4A17CC1D-2F93-BA94-3B7A-AC1CD7B66E2B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708180" y="376169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5 JO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9434CFF5-AAFF-E099-C5AC-6DF9B1730360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4481948" y="2402813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15 JO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BF645EBC-347C-C7DF-8CAD-98B3E3C82F5A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4481948" y="2855229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FF074D7C-AC16-4BE7-F006-1BB5A11E431D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4481948" y="3303737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76424BAA-E9D4-E251-DE6D-643AADB04077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8141054" y="2402814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69D8D935-241F-D4CA-1CB5-CE745063377F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8141054" y="2855230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11" name="ZoneTexte 110">
            <a:extLst>
              <a:ext uri="{FF2B5EF4-FFF2-40B4-BE49-F238E27FC236}">
                <a16:creationId xmlns:a16="http://schemas.microsoft.com/office/drawing/2014/main" id="{C47045D9-BF1E-CCCD-F486-D5C049A8736C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8141054" y="3303738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9F604548-2FD1-909A-9049-17C890A5B617}"/>
              </a:ext>
            </a:extLst>
          </p:cNvPr>
          <p:cNvSpPr txBox="1">
            <a:spLocks noChangeAspect="1"/>
          </p:cNvSpPr>
          <p:nvPr/>
        </p:nvSpPr>
        <p:spPr>
          <a:xfrm rot="5400000">
            <a:off x="8141054" y="3757270"/>
            <a:ext cx="219464" cy="36534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vert="vert270" wrap="square" lIns="0" tIns="0" rIns="0" bIns="0" anchor="ctr">
            <a:noAutofit/>
          </a:bodyPr>
          <a:lstStyle>
            <a:defPPr>
              <a:defRPr lang="fr-FR"/>
            </a:defPPr>
            <a:lvl1pPr algn="ctr">
              <a:defRPr sz="800" b="1">
                <a:solidFill>
                  <a:sysClr val="windowText" lastClr="000000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fr-FR" dirty="0"/>
              <a:t>3 JO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6FF89-CBE6-AE7A-3886-7AF108C64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EE0993-3B2E-0186-84B7-8848CC3D54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Coût et Rentabilité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C8A3CFA-79F4-B28D-FD4C-0C82B28440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dirty="0"/>
              <a:t>Combien cela  nous coûte et combien nous estimons gagner</a:t>
            </a:r>
          </a:p>
        </p:txBody>
      </p:sp>
    </p:spTree>
    <p:extLst>
      <p:ext uri="{BB962C8B-B14F-4D97-AF65-F5344CB8AC3E}">
        <p14:creationId xmlns:p14="http://schemas.microsoft.com/office/powerpoint/2010/main" val="1322429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aphique 3">
            <a:extLst>
              <a:ext uri="{FF2B5EF4-FFF2-40B4-BE49-F238E27FC236}">
                <a16:creationId xmlns:a16="http://schemas.microsoft.com/office/drawing/2014/main" id="{4EC8D331-3E1C-12F0-C895-2595AD961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7093349"/>
              </p:ext>
            </p:extLst>
          </p:nvPr>
        </p:nvGraphicFramePr>
        <p:xfrm>
          <a:off x="301978" y="1654176"/>
          <a:ext cx="8935157" cy="50627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FED7362B-E2D5-A79B-974E-F62AE5CB4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Projection sur 24 mois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554DBE4-AA24-D274-56EB-AD14F76B93B8}"/>
              </a:ext>
            </a:extLst>
          </p:cNvPr>
          <p:cNvCxnSpPr/>
          <p:nvPr/>
        </p:nvCxnSpPr>
        <p:spPr>
          <a:xfrm flipV="1">
            <a:off x="2661357" y="2820336"/>
            <a:ext cx="0" cy="3327400"/>
          </a:xfrm>
          <a:prstGeom prst="line">
            <a:avLst/>
          </a:prstGeom>
          <a:ln w="44450">
            <a:prstDash val="sysDot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038B077C-DDE9-9367-3AA7-6E734B895BF1}"/>
              </a:ext>
            </a:extLst>
          </p:cNvPr>
          <p:cNvSpPr txBox="1"/>
          <p:nvPr/>
        </p:nvSpPr>
        <p:spPr>
          <a:xfrm>
            <a:off x="1639007" y="2161305"/>
            <a:ext cx="2019299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chemeClr val="accent2"/>
                </a:solidFill>
              </a:rPr>
              <a:t>Seuil de rentabilité</a:t>
            </a:r>
          </a:p>
          <a:p>
            <a:pPr algn="ctr"/>
            <a:r>
              <a:rPr lang="fr-FR" dirty="0">
                <a:solidFill>
                  <a:schemeClr val="accent2"/>
                </a:solidFill>
              </a:rPr>
              <a:t>à 7 mois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FB0932A-5B18-4F3A-F28E-9D5CD5DD6FB9}"/>
              </a:ext>
            </a:extLst>
          </p:cNvPr>
          <p:cNvSpPr txBox="1">
            <a:spLocks/>
          </p:cNvSpPr>
          <p:nvPr/>
        </p:nvSpPr>
        <p:spPr>
          <a:xfrm>
            <a:off x="9237135" y="2161305"/>
            <a:ext cx="2954865" cy="3986431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>
                <a:solidFill>
                  <a:schemeClr val="accent1"/>
                </a:solidFill>
              </a:rPr>
              <a:t>Hypothèse +14%</a:t>
            </a:r>
          </a:p>
          <a:p>
            <a:pPr marL="0" indent="0">
              <a:buNone/>
            </a:pPr>
            <a:r>
              <a:rPr lang="fr-FR" dirty="0">
                <a:solidFill>
                  <a:srgbClr val="00B050"/>
                </a:solidFill>
              </a:rPr>
              <a:t>Référence +3%</a:t>
            </a:r>
          </a:p>
          <a:p>
            <a:endParaRPr lang="fr-FR" dirty="0"/>
          </a:p>
          <a:p>
            <a:r>
              <a:rPr lang="fr-FR" dirty="0">
                <a:solidFill>
                  <a:srgbClr val="FFC000"/>
                </a:solidFill>
              </a:rPr>
              <a:t>Gains:</a:t>
            </a:r>
          </a:p>
          <a:p>
            <a:pPr marL="0" indent="0">
              <a:buNone/>
            </a:pPr>
            <a:r>
              <a:rPr lang="fr-FR" dirty="0">
                <a:solidFill>
                  <a:srgbClr val="FFC000"/>
                </a:solidFill>
              </a:rPr>
              <a:t>+11% CA Web</a:t>
            </a:r>
          </a:p>
          <a:p>
            <a:pPr marL="0" indent="0">
              <a:buNone/>
            </a:pPr>
            <a:r>
              <a:rPr lang="fr-FR" dirty="0">
                <a:solidFill>
                  <a:srgbClr val="FFC000"/>
                </a:solidFill>
              </a:rPr>
              <a:t>(517k€ / 24 mois)</a:t>
            </a:r>
          </a:p>
          <a:p>
            <a:endParaRPr lang="fr-FR" dirty="0">
              <a:solidFill>
                <a:srgbClr val="FFC000"/>
              </a:solidFill>
            </a:endParaRPr>
          </a:p>
          <a:p>
            <a:r>
              <a:rPr lang="fr-FR" dirty="0">
                <a:solidFill>
                  <a:srgbClr val="FF0000"/>
                </a:solidFill>
              </a:rPr>
              <a:t>Investissement: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0,4% CA Web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</a:rPr>
              <a:t>(39k€ / 24 mois)</a:t>
            </a:r>
          </a:p>
        </p:txBody>
      </p:sp>
    </p:spTree>
    <p:extLst>
      <p:ext uri="{BB962C8B-B14F-4D97-AF65-F5344CB8AC3E}">
        <p14:creationId xmlns:p14="http://schemas.microsoft.com/office/powerpoint/2010/main" val="23588298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3704A5-DF79-CC2C-77D0-A243D20B9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RGPD</a:t>
            </a:r>
          </a:p>
        </p:txBody>
      </p:sp>
      <p:graphicFrame>
        <p:nvGraphicFramePr>
          <p:cNvPr id="18" name="Espace réservé du contenu 17">
            <a:extLst>
              <a:ext uri="{FF2B5EF4-FFF2-40B4-BE49-F238E27FC236}">
                <a16:creationId xmlns:a16="http://schemas.microsoft.com/office/drawing/2014/main" id="{6D6547D8-437B-063E-6B5D-1B7E53C72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0658625"/>
              </p:ext>
            </p:extLst>
          </p:nvPr>
        </p:nvGraphicFramePr>
        <p:xfrm>
          <a:off x="1049866" y="1825625"/>
          <a:ext cx="10303932" cy="436094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34644">
                  <a:extLst>
                    <a:ext uri="{9D8B030D-6E8A-4147-A177-3AD203B41FA5}">
                      <a16:colId xmlns:a16="http://schemas.microsoft.com/office/drawing/2014/main" val="3336527195"/>
                    </a:ext>
                  </a:extLst>
                </a:gridCol>
                <a:gridCol w="3434644">
                  <a:extLst>
                    <a:ext uri="{9D8B030D-6E8A-4147-A177-3AD203B41FA5}">
                      <a16:colId xmlns:a16="http://schemas.microsoft.com/office/drawing/2014/main" val="916355925"/>
                    </a:ext>
                  </a:extLst>
                </a:gridCol>
                <a:gridCol w="3434644">
                  <a:extLst>
                    <a:ext uri="{9D8B030D-6E8A-4147-A177-3AD203B41FA5}">
                      <a16:colId xmlns:a16="http://schemas.microsoft.com/office/drawing/2014/main" val="3888512322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Sujet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Enjeu pour FashionInsta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Mesure à prévoir</a:t>
                      </a:r>
                      <a:endParaRPr lang="fr-F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2124205722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 dirty="0">
                          <a:effectLst/>
                        </a:rPr>
                        <a:t>RGPD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Les photos de personnes et les données liées à leur compte peuvent être des données personnelles.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Définir la finalité, la base légale, la durée de conservation, les droits des utilisateurs et les modalités de suppression.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1049417410"/>
                  </a:ext>
                </a:extLst>
              </a:tr>
              <a:tr h="9669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Photos de vêtements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Une photo peut contenir un visage, des éléments du domicile ou d'autres informations personnelles.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Limiter les données collectées, éviter de conserver les photos originales si elles ne sont pas nécessaires et prévoir leur suppression.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2381004305"/>
                  </a:ext>
                </a:extLst>
              </a:tr>
              <a:tr h="828826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Données d'entraînement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Les images et les données d'outfits peuvent être soumises à des restrictions d'utilisation.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Vérifier la licence, les droits sur les images et les conditions d'utilisation des datasets avant leur exploitation.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488497422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Sécurité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Les photos, les profils et les préférences peuvent être exposés en cas d'accès non autorisé.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Contrôler les accès, chiffrer les données et définir des règles de conservation et de suppression.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68827466"/>
                  </a:ext>
                </a:extLst>
              </a:tr>
              <a:tr h="69068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Réglementation IA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>
                          <a:effectLst/>
                        </a:rPr>
                        <a:t>Le cadre applicable dépend des fonctionnalités, des usages et du rôle de l'entreprise.</a:t>
                      </a:r>
                      <a:endParaRPr lang="fr-F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400" u="none" strike="noStrike" dirty="0">
                          <a:effectLst/>
                        </a:rPr>
                        <a:t>Vérifier l'applicabilité du règlement européen sur l'IA et suivre les évolutions réglementaires.</a:t>
                      </a:r>
                      <a:endParaRPr lang="fr-F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453" marR="3453" marT="3453" marB="0" anchor="ctr"/>
                </a:tc>
                <a:extLst>
                  <a:ext uri="{0D108BD9-81ED-4DB2-BD59-A6C34878D82A}">
                    <a16:rowId xmlns:a16="http://schemas.microsoft.com/office/drawing/2014/main" val="1069715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9379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ECCB2-D045-F439-9D8E-A0B1065D2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14B5B6-1B86-50DF-90F5-573DB0D3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Principaux risques du projet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12650B25-76C6-2769-62BB-B64B3818F4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53505"/>
              </p:ext>
            </p:extLst>
          </p:nvPr>
        </p:nvGraphicFramePr>
        <p:xfrm>
          <a:off x="1117601" y="1453091"/>
          <a:ext cx="10397067" cy="44163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65689">
                  <a:extLst>
                    <a:ext uri="{9D8B030D-6E8A-4147-A177-3AD203B41FA5}">
                      <a16:colId xmlns:a16="http://schemas.microsoft.com/office/drawing/2014/main" val="4079472414"/>
                    </a:ext>
                  </a:extLst>
                </a:gridCol>
                <a:gridCol w="3465689">
                  <a:extLst>
                    <a:ext uri="{9D8B030D-6E8A-4147-A177-3AD203B41FA5}">
                      <a16:colId xmlns:a16="http://schemas.microsoft.com/office/drawing/2014/main" val="2860108872"/>
                    </a:ext>
                  </a:extLst>
                </a:gridCol>
                <a:gridCol w="3465689">
                  <a:extLst>
                    <a:ext uri="{9D8B030D-6E8A-4147-A177-3AD203B41FA5}">
                      <a16:colId xmlns:a16="http://schemas.microsoft.com/office/drawing/2014/main" val="1250875352"/>
                    </a:ext>
                  </a:extLst>
                </a:gridCol>
              </a:tblGrid>
              <a:tr h="12087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Risque</a:t>
                      </a:r>
                      <a:endParaRPr lang="fr-F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Conséquence possible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Mesure de maîtrise</a:t>
                      </a:r>
                      <a:endParaRPr lang="fr-FR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2715457680"/>
                  </a:ext>
                </a:extLst>
              </a:tr>
              <a:tr h="483482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Droits sur les datasets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Impossibilité d'utiliser les données dans un service commercial.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Valider les licences et les conditions d'accès avant de retenir le dataset.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3507986997"/>
                  </a:ext>
                </a:extLst>
              </a:tr>
              <a:tr h="66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Qualité des recommandations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Tenues incohérentes ou recommandations peu pertinentes.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Comparer les résultats à une approche de référence et faire évaluer les recommandations.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594841133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Biais du modèle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Recommandations moins pertinentes pour certains styles, catégories ou profils.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Évaluer les résultats sur des catégories et des profils variés.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1186721529"/>
                  </a:ext>
                </a:extLst>
              </a:tr>
              <a:tr h="6043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Qualité des photos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Échec de la segmentation ou mauvaise identification des vêtements.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Tester des photos variées : plusieurs vêtements, arrière-plans complexes, éclairage variable.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4178624074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Coûts Azure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Dépassement du budget lors du passage à l'échelle.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Mesurer les coûts d'inférence et de stockage, puis estimer le coût par utilisateur ou recommandation.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184714535"/>
                  </a:ext>
                </a:extLst>
              </a:tr>
              <a:tr h="66478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Sécurité et confidentialité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Exposition de photos ou de données personnelles.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Limiter les accès, réduire les données conservées et définir un processus de suppression.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119904362"/>
                  </a:ext>
                </a:extLst>
              </a:tr>
              <a:tr h="54391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Dépendance aux modèles tiers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>
                          <a:effectLst/>
                        </a:rPr>
                        <a:t>Changement de licence, indisponibilité ou performances insuffisantes.</a:t>
                      </a:r>
                      <a:endParaRPr lang="fr-FR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200" u="none" strike="noStrike" dirty="0">
                          <a:effectLst/>
                        </a:rPr>
                        <a:t>Documenter les modèles retenus et prévoir une solution alternative.</a:t>
                      </a:r>
                      <a:endParaRPr lang="fr-F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022" marR="3022" marT="3022" marB="0" anchor="ctr"/>
                </a:tc>
                <a:extLst>
                  <a:ext uri="{0D108BD9-81ED-4DB2-BD59-A6C34878D82A}">
                    <a16:rowId xmlns:a16="http://schemas.microsoft.com/office/drawing/2014/main" val="859086576"/>
                  </a:ext>
                </a:extLst>
              </a:tr>
            </a:tbl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74325041-53C1-82D5-4058-BFF60B719654}"/>
              </a:ext>
            </a:extLst>
          </p:cNvPr>
          <p:cNvSpPr txBox="1"/>
          <p:nvPr/>
        </p:nvSpPr>
        <p:spPr>
          <a:xfrm>
            <a:off x="1038578" y="5980837"/>
            <a:ext cx="1047609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/>
              <a:t>Un point concret pour le </a:t>
            </a:r>
            <a:r>
              <a:rPr lang="fr-FR" sz="1400" b="1" dirty="0" err="1"/>
              <a:t>dataset</a:t>
            </a:r>
            <a:r>
              <a:rPr lang="fr-FR" sz="1400" b="1" dirty="0"/>
              <a:t> </a:t>
            </a:r>
            <a:r>
              <a:rPr lang="fr-FR" sz="1400" b="1" dirty="0" err="1"/>
              <a:t>Polyvore</a:t>
            </a:r>
            <a:r>
              <a:rPr lang="fr-FR" sz="1400" b="1" dirty="0"/>
              <a:t> </a:t>
            </a:r>
            <a:r>
              <a:rPr lang="fr-FR" sz="1400" b="1" dirty="0" err="1"/>
              <a:t>Outfits</a:t>
            </a:r>
            <a:r>
              <a:rPr lang="fr-FR" sz="1400" dirty="0"/>
              <a:t>: Pertinent pour expérimenter la compatibilité. Cependant ses conditions d'accès mentionnent un </a:t>
            </a:r>
            <a:r>
              <a:rPr lang="fr-FR" sz="1400" b="1" dirty="0"/>
              <a:t>usage limité à la recherche académique et non commerciale </a:t>
            </a:r>
            <a:r>
              <a:rPr lang="fr-FR" sz="1400" dirty="0"/>
              <a:t>mais en même temps une </a:t>
            </a:r>
            <a:r>
              <a:rPr lang="fr-FR" sz="1400" b="1" dirty="0"/>
              <a:t>licence CC BY 4.0</a:t>
            </a:r>
            <a:r>
              <a:rPr lang="fr-FR" sz="1400" dirty="0"/>
              <a:t>. </a:t>
            </a:r>
            <a:r>
              <a:rPr lang="fr-FR" sz="1400" u="sng" dirty="0"/>
              <a:t>Cette contradiction doit être clarifiée avant tout usage commercial</a:t>
            </a:r>
            <a:r>
              <a:rPr lang="fr-FR" sz="1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37876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erci Beaucoup&quot; - Images et vidéos libres de droits | Adobe Stock">
            <a:extLst>
              <a:ext uri="{FF2B5EF4-FFF2-40B4-BE49-F238E27FC236}">
                <a16:creationId xmlns:a16="http://schemas.microsoft.com/office/drawing/2014/main" id="{8561B74A-B030-FC8A-31EF-37B812135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9013" y="1714500"/>
            <a:ext cx="5133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22753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6282BC9-EF49-4923-A058-6886A5D089FA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A904DF97-C2AD-4AE6-AFBA-1D66F1B3A950}">
  <we:reference id="wa200003964" version="1.0.0.0" store="fr-FR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4989</TotalTime>
  <Words>1985</Words>
  <Application>Microsoft Office PowerPoint</Application>
  <PresentationFormat>Grand écran</PresentationFormat>
  <Paragraphs>350</Paragraphs>
  <Slides>18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Arial</vt:lpstr>
      <vt:lpstr>Arial Black</vt:lpstr>
      <vt:lpstr>Calibri</vt:lpstr>
      <vt:lpstr>Calibri Light</vt:lpstr>
      <vt:lpstr>Nunito</vt:lpstr>
      <vt:lpstr>Verdana</vt:lpstr>
      <vt:lpstr>Thème Office</vt:lpstr>
      <vt:lpstr>Cadrage Projet IA</vt:lpstr>
      <vt:lpstr>Contexte et Enjeux</vt:lpstr>
      <vt:lpstr>Pourquoi l’IA ?</vt:lpstr>
      <vt:lpstr>Périmètre du PoC</vt:lpstr>
      <vt:lpstr>System Design</vt:lpstr>
      <vt:lpstr>Similarité / Compatibilité 2 Approches</vt:lpstr>
      <vt:lpstr>Présentation PowerPoint</vt:lpstr>
      <vt:lpstr>Critères de succès</vt:lpstr>
      <vt:lpstr>1. Évaluer chaque brique technique</vt:lpstr>
      <vt:lpstr>Critères métier</vt:lpstr>
      <vt:lpstr>Planning et Ressources</vt:lpstr>
      <vt:lpstr>RACI attribution des responsabilités</vt:lpstr>
      <vt:lpstr>Timeline </vt:lpstr>
      <vt:lpstr>Coût et Rentabilité</vt:lpstr>
      <vt:lpstr>Projection sur 24 mois</vt:lpstr>
      <vt:lpstr>RGPD</vt:lpstr>
      <vt:lpstr>Principaux risques du projet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auguey</dc:creator>
  <cp:lastModifiedBy>thomas auguey</cp:lastModifiedBy>
  <cp:revision>379</cp:revision>
  <dcterms:created xsi:type="dcterms:W3CDTF">2026-09-21T07:42:57Z</dcterms:created>
  <dcterms:modified xsi:type="dcterms:W3CDTF">2026-10-14T07:51:11Z</dcterms:modified>
</cp:coreProperties>
</file>