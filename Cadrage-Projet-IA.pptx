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Barlow" panose="00000500000000000000" pitchFamily="2" charset="0"/>
      <p:regular r:id="rId21"/>
    </p:embeddedFont>
    <p:embeddedFont>
      <p:font typeface="Barlow Bold" panose="00000800000000000000" charset="0"/>
      <p:regular r:id="rId22"/>
    </p:embeddedFont>
    <p:embeddedFont>
      <p:font typeface="Barlow Semi Condensed" panose="00000506000000000000" pitchFamily="2" charset="0"/>
      <p:regular r:id="rId23"/>
    </p:embeddedFont>
    <p:embeddedFont>
      <p:font typeface="Barlow Semi Condensed Medium" panose="00000606000000000000" pitchFamily="2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8831" autoAdjust="0"/>
  </p:normalViewPr>
  <p:slideViewPr>
    <p:cSldViewPr snapToGrid="0" snapToObjects="1">
      <p:cViewPr>
        <p:scale>
          <a:sx n="100" d="100"/>
          <a:sy n="100" d="100"/>
        </p:scale>
        <p:origin x="954" y="-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FormationOpenClassRoom\Cours13%20-%20R&#233;alisez%20le%20cadrage%20d&#8217;un%20projet%20IA\FashionInsta\calcu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Progression Chiffre Affaire Cumulé - 24 Mois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COUTS!$L$78</c:f>
              <c:strCache>
                <c:ptCount val="1"/>
                <c:pt idx="0">
                  <c:v>Réf.
Prog. CA  Cumulé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COUTS!$I$79:$I$85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COUTS!$L$79:$L$85</c:f>
              <c:numCache>
                <c:formatCode>#\ ##0\ "€"</c:formatCode>
                <c:ptCount val="7"/>
                <c:pt idx="0">
                  <c:v>0</c:v>
                </c:pt>
                <c:pt idx="1">
                  <c:v>3538.1518506868115</c:v>
                </c:pt>
                <c:pt idx="2">
                  <c:v>13545.556516640325</c:v>
                </c:pt>
                <c:pt idx="3">
                  <c:v>31930.332827490562</c:v>
                </c:pt>
                <c:pt idx="4">
                  <c:v>60235.54763298505</c:v>
                </c:pt>
                <c:pt idx="5">
                  <c:v>99793.287897247035</c:v>
                </c:pt>
                <c:pt idx="6">
                  <c:v>151793.28789724704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49F-4BFC-AF02-962D60AFAB5A}"/>
            </c:ext>
          </c:extLst>
        </c:ser>
        <c:ser>
          <c:idx val="1"/>
          <c:order val="1"/>
          <c:tx>
            <c:strRef>
              <c:f>COUTS!$M$78</c:f>
              <c:strCache>
                <c:ptCount val="1"/>
                <c:pt idx="0">
                  <c:v>Hyp.
Prog. CA  Cumulé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COUTS!$I$79:$I$85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COUTS!$M$79:$M$85</c:f>
              <c:numCache>
                <c:formatCode>#\ ##0\ "€"</c:formatCode>
                <c:ptCount val="7"/>
                <c:pt idx="0">
                  <c:v>0</c:v>
                </c:pt>
                <c:pt idx="1">
                  <c:v>16511.375303205125</c:v>
                </c:pt>
                <c:pt idx="2">
                  <c:v>63212.597077654857</c:v>
                </c:pt>
                <c:pt idx="3">
                  <c:v>149008.21986162264</c:v>
                </c:pt>
                <c:pt idx="4">
                  <c:v>281099.2222872636</c:v>
                </c:pt>
                <c:pt idx="5">
                  <c:v>465702.01018715295</c:v>
                </c:pt>
                <c:pt idx="6">
                  <c:v>708368.67685381963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49F-4BFC-AF02-962D60AFAB5A}"/>
            </c:ext>
          </c:extLst>
        </c:ser>
        <c:ser>
          <c:idx val="2"/>
          <c:order val="2"/>
          <c:tx>
            <c:strRef>
              <c:f>COUTS!$O$78</c:f>
              <c:strCache>
                <c:ptCount val="1"/>
                <c:pt idx="0">
                  <c:v>Gain net
Cumulé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COUTS!$I$79:$I$85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COUTS!$O$79:$O$85</c:f>
              <c:numCache>
                <c:formatCode>#\ ##0\ "€"</c:formatCode>
                <c:ptCount val="7"/>
                <c:pt idx="0">
                  <c:v>-19092.169999999998</c:v>
                </c:pt>
                <c:pt idx="1">
                  <c:v>-9468.4132141483533</c:v>
                </c:pt>
                <c:pt idx="2">
                  <c:v>23875.937227681199</c:v>
                </c:pt>
                <c:pt idx="3">
                  <c:v>87937.31703413208</c:v>
                </c:pt>
                <c:pt idx="4">
                  <c:v>188373.63798761187</c:v>
                </c:pt>
                <c:pt idx="5">
                  <c:v>330069.21895657253</c:v>
                </c:pt>
                <c:pt idx="6">
                  <c:v>517386.41895657266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49F-4BFC-AF02-962D60AFA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3894528"/>
        <c:axId val="833894888"/>
      </c:scatterChart>
      <c:valAx>
        <c:axId val="833894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888"/>
        <c:crosses val="autoZero"/>
        <c:crossBetween val="midCat"/>
      </c:valAx>
      <c:valAx>
        <c:axId val="833894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5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26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Brique nouvelle dans l’univers en ligne
2. L’IA va prendre en compte les habitudes des utilisateurs et personnaliser l’expérience
3. Construire un modèle de prédiction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notre PoC nous allons nous focaliser sur l’essentiel, c’est à dire valider la recommandation.
Le PoC valide la faisabilité de la brique de recommandation, pas celle de l'application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Approche 2 — Recommandation IA multimodale
Principe : Exploiter plusieurs modalités décrivant les articles afin de construire une représentation de leur contenu et d’identifier ceux qui correspondent aux préférences de l’utilisateur.
Données utilisées : Texte (description, catégorie, marque), Image (photo de l'article), Utilisateur (historique des interactions).
Pipeline : Texte + Image -&gt; Modèle multimodal / embeddings -&gt; Représentation vectorielle -&gt; Profil préférences -&gt; Calcul similarité / classement -&gt; Top N recommandations.
Évaluation : Precision@K, Recall@K, NDCG@K vs baseline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Approches complémentaires.
Nous pouvons proposer des vêtements semblables pour remplacer un élément de la garde-robe, mais également proposer un nouvel ensemble basé sur la compatibilité.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minimiser les coûts du PoC, nous utilisons des datasets et modèles pré-entraînés (HuggingFace, GitHub).
Services cloud Azure : Blob Storage (données), Azure ML (entraînement/inférence), Azure AI Search (vecteurs), Container Apps (API).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Succès du PoC :
Faisabilité technique : segmentation exploitable, embeddings exploitables, caractéristiques suffisamment fiables.
Pertinence : modèle de compatibilité performant, recommandations Top-K pertinentes.
Valeur métier : meilleure personnalisation que la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Permet de vérifier que la chaîne fonctionne correctement de bout en bout.
Modèle de compatibilité : Pour chaque tenue connue du dataset, on masque un vêtement et on demande au système de le retrouver à partir des autres vêtements.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Déterminer avec le métier quel niveau de pertinence rend la fonctionnalité exploitable sur le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Responsable de réaliser la tâche
A Approuver la tâche
C Consultant conseil
I Informé après exécution
Taux d'occupation = % pour 1 personne sur la période de travail de la phase 1 (PoC)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Gouvernance : COPROJ hebdomadaire durant le PoC, jalon COPIL en fin de phase pour décision GO / NO-GO.
Profils clés : Data Scientist en lead sur le PoC, soutenu par le Data Engineer et Tech Lead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licence CC BY 4.0 est la licence la plus ouverte de Creative Commons, mais la mention de recherche non commerciale impose une clarification juridique formelle.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F2A4A"/>
          </a:solidFill>
          <a:ln/>
        </p:spPr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1646CA0-8F7C-1002-9567-70FCFBB3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436" y="1555494"/>
            <a:ext cx="8454017" cy="33348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/>
          <p:cNvSpPr/>
          <p:nvPr/>
        </p:nvSpPr>
        <p:spPr>
          <a:xfrm>
            <a:off x="558786" y="2094583"/>
            <a:ext cx="579105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Cadrage</a:t>
            </a:r>
            <a:endParaRPr lang="en-US" sz="4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Projet 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58785" y="3414435"/>
            <a:ext cx="4090853" cy="2844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lIns="0" tIns="0" rIns="0" bIns="0" rtlCol="0" anchor="t"/>
          <a:lstStyle/>
          <a:p>
            <a:pPr marL="144000" indent="0" algn="l">
              <a:lnSpc>
                <a:spcPct val="117000"/>
              </a:lnSpc>
              <a:buNone/>
            </a:pPr>
            <a:r>
              <a:rPr lang="en-US" sz="1600" b="1" kern="100" spc="-28" dirty="0">
                <a:solidFill>
                  <a:srgbClr val="6E95D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Système de recommandation personnalisée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558786" y="3892252"/>
            <a:ext cx="1910905" cy="38100"/>
          </a:xfrm>
          <a:prstGeom prst="roundRect">
            <a:avLst>
              <a:gd name="adj" fmla="val 49999"/>
            </a:avLst>
          </a:prstGeom>
          <a:solidFill>
            <a:srgbClr val="1F4E8C"/>
          </a:solidFill>
          <a:ln/>
        </p:spPr>
      </p:sp>
      <p:sp>
        <p:nvSpPr>
          <p:cNvPr id="7" name="Text 5"/>
          <p:cNvSpPr/>
          <p:nvPr/>
        </p:nvSpPr>
        <p:spPr>
          <a:xfrm>
            <a:off x="558786" y="4110692"/>
            <a:ext cx="634984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-28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Thomas AUGUEY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786" y="4499888"/>
            <a:ext cx="634984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Formation Développeur IA · Octobre 2026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4890393"/>
            <a:ext cx="1983730" cy="3555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Contexte et Enjeux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429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Alignement des objectifs business de Fashion Insta avec l'opportunité technologique.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002532"/>
            <a:ext cx="3454314" cy="4245868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285107"/>
            <a:ext cx="32003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FASHION INSTA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3578" y="2594348"/>
            <a:ext cx="29463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10,4 M€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63578" y="3328730"/>
            <a:ext cx="320032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Chiffre d'affaires annuel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3578" y="3682702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3578" y="3850977"/>
            <a:ext cx="2946326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Web :</a:t>
            </a:r>
            <a:r>
              <a:rPr lang="en-US" sz="11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50% du CA (5,2 M€)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11 Magasins :</a:t>
            </a:r>
            <a:r>
              <a:rPr lang="en-US" sz="11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50% du CA (5,2 M€)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1" y="2002532"/>
            <a:ext cx="3454314" cy="4245868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4622684" y="2285107"/>
            <a:ext cx="32003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CONTEXTE MARCHÉ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22684" y="2545457"/>
            <a:ext cx="29463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Offre catalogue &amp; saturation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2684" y="2939157"/>
            <a:ext cx="2946326" cy="1384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Offre importante de contenu en ligne : la profusion d'articles complexifie le parcours d'achat client.</a:t>
            </a:r>
            <a:endParaRPr lang="en-US" sz="1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Priorité opérationnelle :</a:t>
            </a:r>
            <a:r>
              <a:rPr lang="en-US" sz="12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Améliorer significativement la suggestion de produits pour réduire l'attrition.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2002532"/>
            <a:ext cx="3454314" cy="424586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790" y="2285107"/>
            <a:ext cx="32003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6E95D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ENJEUX À 24 MOIS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81790" y="2594348"/>
            <a:ext cx="29463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6E95D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+14%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381790" y="3328730"/>
            <a:ext cx="320032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-28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Croissance cible Web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81790" y="3682702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1790" y="3859232"/>
            <a:ext cx="294632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Magasins :</a:t>
            </a:r>
            <a:r>
              <a:rPr lang="en-US" sz="11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00" b="1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+4% sur 24</a:t>
            </a:r>
            <a:r>
              <a:rPr lang="en-US" sz="11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100" kern="100" spc="-28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mois</a:t>
            </a:r>
            <a:r>
              <a:rPr lang="en-US" sz="11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fr-FR" sz="11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grâce aux liens entre les ventes en ligne et en magasin.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81790" y="4350048"/>
            <a:ext cx="320032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Impact estimé : </a:t>
            </a:r>
            <a:r>
              <a:rPr lang="en-US" sz="1200" b="1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+517 k€</a:t>
            </a:r>
            <a:r>
              <a:rPr lang="en-US" sz="1000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 gain net cumulé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950699" y="6466086"/>
            <a:ext cx="2409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923122"/>
            <a:ext cx="630926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Pourquoi l’IA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4299"/>
            <a:ext cx="691884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Passer d'une recommandation générique à une expérience d'achat personnalisée.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168177"/>
            <a:ext cx="630926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1F4E8C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C’est quoi 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527935"/>
            <a:ext cx="630926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Une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technologie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émergente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qui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envahit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marché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pour transformer les usages e-commerce :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apprendre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continu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 habitudes pour proposer des services </a:t>
            </a:r>
            <a:r>
              <a:rPr lang="en-US" sz="120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personnalisé</a:t>
            </a: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5" y="3365648"/>
            <a:ext cx="630926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1F4E8C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Pour l’utilisateur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3725406"/>
            <a:ext cx="630926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Apporter une dimension personnelle à la découverte de vêtements, en phase avec son style singulier et ses pièces existantes.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85" y="4563119"/>
            <a:ext cx="630926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1F4E8C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Comment y parvenir 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4922877"/>
            <a:ext cx="630926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Réaliser un PoC ciblé sur la fonctionnalité cœur : recommandation d’articles à partir des caractéristiques et représentations visuelles.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709" y="609600"/>
            <a:ext cx="3139401" cy="5638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9585" y="3142853"/>
            <a:ext cx="6309262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5" y="4340324"/>
            <a:ext cx="6309262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953378" y="6466086"/>
            <a:ext cx="2383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Périmètre du PoC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429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Objectif central :</a:t>
            </a:r>
            <a:r>
              <a:rPr lang="en-US" sz="14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Générer une liste d’articles personnalisée pour chaque utilisateur.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77132"/>
            <a:ext cx="5333867" cy="4271268"/>
          </a:xfrm>
          <a:prstGeom prst="rect">
            <a:avLst/>
          </a:prstGeom>
          <a:solidFill>
            <a:srgbClr val="E9F1FB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7077" y="2272407"/>
            <a:ext cx="50163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DANS LE PÉRIMÈTRE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7077" y="2532757"/>
            <a:ext cx="469888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Périmètre PoC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7077" y="2926457"/>
            <a:ext cx="4698882" cy="3103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b="1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Identifier les données </a:t>
            </a: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nécessaires à la recommandation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b="1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Expérimenter</a:t>
            </a: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plusieurs approches IA/ML de recommandation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b="1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Évaluer </a:t>
            </a: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pertinence des recommandations à l'aide de métriques métier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b="1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Comparer</a:t>
            </a: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les approches et identifier les conditions nécessaires à une future industrialisation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48244" y="1977132"/>
            <a:ext cx="5333867" cy="42712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736" y="2272407"/>
            <a:ext cx="501637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HORS PÉRIMÈTRE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65736" y="2532757"/>
            <a:ext cx="469888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Hors PoC (Phases ultérieures)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65736" y="2926457"/>
            <a:ext cx="4698882" cy="332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Développement de l'application mobile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Gestion des comptes et Authentification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Développement des fonctionnalités métier complètes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Mise en production et industrialisation de la solution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Constitution d'une base de données utilisateurs réels</a:t>
            </a:r>
            <a:endParaRPr lang="en-US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Personnalisation des photos (couleurs, tailles, etc.)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48814" y="6466086"/>
            <a:ext cx="24288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>
              <a:alpha val="8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1182" y="2155626"/>
            <a:ext cx="10769331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0" kern="100" spc="-33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System Design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711182" y="3571037"/>
            <a:ext cx="10769331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Solution IA end-to-end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11182" y="4486473"/>
            <a:ext cx="3553828" cy="38100"/>
          </a:xfrm>
          <a:prstGeom prst="roundRect">
            <a:avLst>
              <a:gd name="adj" fmla="val 49999"/>
            </a:avLst>
          </a:prstGeom>
          <a:solidFill>
            <a:srgbClr val="6E95D0"/>
          </a:solidFill>
          <a:ln/>
        </p:spPr>
      </p:sp>
      <p:sp>
        <p:nvSpPr>
          <p:cNvPr id="7" name="Text 4"/>
          <p:cNvSpPr/>
          <p:nvPr/>
        </p:nvSpPr>
        <p:spPr>
          <a:xfrm>
            <a:off x="711182" y="4737298"/>
            <a:ext cx="1137891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 multimodale associant extraction visuelle, espaces d'embeddings et modélisation de compatibilité.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Similarité / Compatibilité · 2 Approches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429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Deux logiques algorithmiques complémentaires pour répondre aux besoins vestimentaires de l'utilisateur.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977132"/>
            <a:ext cx="4835999" cy="4271268"/>
          </a:xfrm>
          <a:prstGeom prst="rect">
            <a:avLst/>
          </a:prstGeom>
          <a:solidFill>
            <a:srgbClr val="E9F1FB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7077" y="2297807"/>
            <a:ext cx="451850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APPROCHE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7077" y="2558157"/>
            <a:ext cx="420101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Recherche d'articles similaires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7077" y="2960747"/>
            <a:ext cx="451850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 À quel autre vêtement ce vêtement ressemble-t-il ? 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7077" y="3318193"/>
            <a:ext cx="420101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Recherche de pièces proches dans l'espace d'embedding visuel (FashionCLIP) : coupe, texture, couleur et catégorie équivalente.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7077" y="3809008"/>
            <a:ext cx="420101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 d'usage : remplacer un vêtement de la garde-robe ou proposer une alternative.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50277" y="3928904"/>
            <a:ext cx="691041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20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46012" y="1977132"/>
            <a:ext cx="4836099" cy="427126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050804" y="2285107"/>
            <a:ext cx="45313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6E95D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APPROCHE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50804" y="2545457"/>
            <a:ext cx="42265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FFFFFF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Recherche d'articles compatibles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50804" y="2948047"/>
            <a:ext cx="45313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kern="100" spc="-28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 Quelles pièces s'associent pour former une tenue ? 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50804" y="3305493"/>
            <a:ext cx="422651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Modèle de classification pairwise entraîné sur des tenues complètes pour prédire la cohérence stylistique entre catégories complémentaires.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50804" y="3796308"/>
            <a:ext cx="45313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6E95D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 d'usage : composer un look complet autour d'une pièce donnée.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53378" y="6466086"/>
            <a:ext cx="23831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970"/>
            <a:ext cx="302302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INFRASTRUCTURE &amp; SERVICES AZURE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Architecture Technique End-to-End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3664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Chaîne de traitement : de l'image utilisateur aux recommandations finales via les briques Microsoft Azure.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890812"/>
            <a:ext cx="2072628" cy="43575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281" y="2059087"/>
            <a:ext cx="193293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ÉTAPE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281" y="2319981"/>
            <a:ext cx="179323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Entrée Image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281" y="2676882"/>
            <a:ext cx="19329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Photo Utilisateur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281" y="2992418"/>
            <a:ext cx="179323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 Blob Storage</a:t>
            </a:r>
            <a:endParaRPr lang="en-US" sz="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00" kern="100" spc="-28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Stockage photos utilisateur et catalogue</a:t>
            </a:r>
            <a:endParaRPr lang="en-US" sz="90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467967E5-B363-70D5-B20C-C2EA58D8F0E0}"/>
              </a:ext>
            </a:extLst>
          </p:cNvPr>
          <p:cNvGrpSpPr/>
          <p:nvPr/>
        </p:nvGrpSpPr>
        <p:grpSpPr>
          <a:xfrm>
            <a:off x="749281" y="3591620"/>
            <a:ext cx="1845522" cy="217686"/>
            <a:chOff x="749281" y="3591620"/>
            <a:chExt cx="1845522" cy="217686"/>
          </a:xfrm>
        </p:grpSpPr>
        <p:sp>
          <p:nvSpPr>
            <p:cNvPr id="10" name="Shape 8"/>
            <p:cNvSpPr/>
            <p:nvPr/>
          </p:nvSpPr>
          <p:spPr>
            <a:xfrm>
              <a:off x="749281" y="3591620"/>
              <a:ext cx="1310548" cy="217686"/>
            </a:xfrm>
            <a:prstGeom prst="roundRect">
              <a:avLst>
                <a:gd name="adj" fmla="val 24013"/>
              </a:avLst>
            </a:prstGeom>
            <a:solidFill>
              <a:srgbClr val="D5E3F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823892" y="3632990"/>
              <a:ext cx="1770911" cy="1430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100" spc="-28" dirty="0">
                  <a:solidFill>
                    <a:srgbClr val="0F2A4A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IQON3000 / POLYVORE</a:t>
              </a:r>
              <a:endParaRPr lang="en-US" sz="10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2834510" y="1890812"/>
            <a:ext cx="2072628" cy="43575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4206" y="2059087"/>
            <a:ext cx="193293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ÉTAPE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4206" y="2319981"/>
            <a:ext cx="179323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Segmentation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74206" y="2676882"/>
            <a:ext cx="19329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Isolation vêtements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74206" y="2992418"/>
            <a:ext cx="179323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 Machine Learning</a:t>
            </a:r>
            <a:endParaRPr lang="en-US" sz="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00" kern="100" spc="-28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Hébergement / inférence modèle de découpe</a:t>
            </a:r>
            <a:endParaRPr lang="en-US" sz="900" dirty="0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ED6923FC-66D3-92CE-A698-EEC86F714030}"/>
              </a:ext>
            </a:extLst>
          </p:cNvPr>
          <p:cNvGrpSpPr/>
          <p:nvPr/>
        </p:nvGrpSpPr>
        <p:grpSpPr>
          <a:xfrm>
            <a:off x="2974206" y="3591620"/>
            <a:ext cx="1499456" cy="217686"/>
            <a:chOff x="2974206" y="3591620"/>
            <a:chExt cx="1499456" cy="217686"/>
          </a:xfrm>
        </p:grpSpPr>
        <p:sp>
          <p:nvSpPr>
            <p:cNvPr id="17" name="Shape 15"/>
            <p:cNvSpPr/>
            <p:nvPr/>
          </p:nvSpPr>
          <p:spPr>
            <a:xfrm>
              <a:off x="2974206" y="3591620"/>
              <a:ext cx="964481" cy="217686"/>
            </a:xfrm>
            <a:prstGeom prst="roundRect">
              <a:avLst>
                <a:gd name="adj" fmla="val 24013"/>
              </a:avLst>
            </a:prstGeom>
            <a:solidFill>
              <a:srgbClr val="D5E3F6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3048817" y="3632990"/>
              <a:ext cx="1424845" cy="1430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100" spc="-28" dirty="0">
                  <a:solidFill>
                    <a:srgbClr val="0F2A4A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SEGFORMER B2</a:t>
              </a:r>
              <a:endParaRPr lang="en-US" sz="100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5059434" y="1890812"/>
            <a:ext cx="2072727" cy="43575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9131" y="2059087"/>
            <a:ext cx="193303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ÉTAPE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99131" y="2319981"/>
            <a:ext cx="179333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Représentation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99131" y="2676882"/>
            <a:ext cx="19330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Embedding &amp; Attributs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99131" y="2992418"/>
            <a:ext cx="179333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 ML / Foundry</a:t>
            </a:r>
            <a:endParaRPr lang="en-US" sz="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00" kern="100" spc="-28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Modèles d'embedding &amp; classification attributs</a:t>
            </a:r>
            <a:endParaRPr lang="en-US" sz="900" dirty="0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8F2E3856-68B5-C294-1A1A-AA0B49C2F511}"/>
              </a:ext>
            </a:extLst>
          </p:cNvPr>
          <p:cNvGrpSpPr/>
          <p:nvPr/>
        </p:nvGrpSpPr>
        <p:grpSpPr>
          <a:xfrm>
            <a:off x="5199131" y="3591620"/>
            <a:ext cx="1380396" cy="217686"/>
            <a:chOff x="5199131" y="3591620"/>
            <a:chExt cx="1380396" cy="217686"/>
          </a:xfrm>
        </p:grpSpPr>
        <p:sp>
          <p:nvSpPr>
            <p:cNvPr id="24" name="Shape 22"/>
            <p:cNvSpPr/>
            <p:nvPr/>
          </p:nvSpPr>
          <p:spPr>
            <a:xfrm>
              <a:off x="5199131" y="3591620"/>
              <a:ext cx="845422" cy="217686"/>
            </a:xfrm>
            <a:prstGeom prst="roundRect">
              <a:avLst>
                <a:gd name="adj" fmla="val 24013"/>
              </a:avLst>
            </a:prstGeom>
            <a:solidFill>
              <a:srgbClr val="D5E3F6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5273742" y="3632990"/>
              <a:ext cx="1305785" cy="1430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100" spc="-28" dirty="0">
                  <a:solidFill>
                    <a:srgbClr val="0F2A4A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FASHIONCLIP</a:t>
              </a:r>
              <a:endParaRPr lang="en-US" sz="10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7284458" y="1890812"/>
            <a:ext cx="2072628" cy="43575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155" y="2059087"/>
            <a:ext cx="193293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ÉTAPE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24155" y="2319981"/>
            <a:ext cx="179323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Prédiction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24155" y="2676882"/>
            <a:ext cx="19329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Similarité &amp; Compatibilité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24155" y="2992418"/>
            <a:ext cx="1793235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 AI Search</a:t>
            </a:r>
            <a:r>
              <a:rPr lang="en-US" sz="9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(index vectoriel) &amp; </a:t>
            </a:r>
            <a:r>
              <a:rPr lang="en-US" sz="9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 ML</a:t>
            </a:r>
            <a:r>
              <a:rPr lang="en-US" sz="9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(modèle pairwise)</a:t>
            </a:r>
            <a:endParaRPr lang="en-US" sz="900" dirty="0"/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E4EAED1-6AE5-754F-CD36-8614B7F0AD14}"/>
              </a:ext>
            </a:extLst>
          </p:cNvPr>
          <p:cNvGrpSpPr/>
          <p:nvPr/>
        </p:nvGrpSpPr>
        <p:grpSpPr>
          <a:xfrm>
            <a:off x="7424836" y="3591620"/>
            <a:ext cx="1595100" cy="217686"/>
            <a:chOff x="7424155" y="3431679"/>
            <a:chExt cx="1595100" cy="217686"/>
          </a:xfrm>
        </p:grpSpPr>
        <p:sp>
          <p:nvSpPr>
            <p:cNvPr id="31" name="Shape 29"/>
            <p:cNvSpPr/>
            <p:nvPr/>
          </p:nvSpPr>
          <p:spPr>
            <a:xfrm>
              <a:off x="7424155" y="3431679"/>
              <a:ext cx="1060126" cy="217686"/>
            </a:xfrm>
            <a:prstGeom prst="roundRect">
              <a:avLst>
                <a:gd name="adj" fmla="val 24013"/>
              </a:avLst>
            </a:prstGeom>
            <a:noFill/>
            <a:ln w="6350">
              <a:solidFill>
                <a:srgbClr val="00000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498766" y="3473049"/>
              <a:ext cx="1520489" cy="1430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100" spc="-28" dirty="0">
                  <a:solidFill>
                    <a:srgbClr val="000000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K-NN &amp; PAIRWISE</a:t>
              </a:r>
              <a:endParaRPr lang="en-US" sz="1000" dirty="0"/>
            </a:p>
          </p:txBody>
        </p:sp>
      </p:grpSp>
      <p:sp>
        <p:nvSpPr>
          <p:cNvPr id="33" name="Shape 31"/>
          <p:cNvSpPr/>
          <p:nvPr/>
        </p:nvSpPr>
        <p:spPr>
          <a:xfrm>
            <a:off x="9509383" y="1890812"/>
            <a:ext cx="2072727" cy="4357588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9636380" y="2046387"/>
            <a:ext cx="194573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6E95D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ÉTAPE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36380" y="2307281"/>
            <a:ext cx="181873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FFFFFF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Restitution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636380" y="2664182"/>
            <a:ext cx="194573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Recommandation Top-K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36380" y="2979718"/>
            <a:ext cx="181873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kern="100" spc="-28" dirty="0">
                <a:solidFill>
                  <a:srgbClr val="E9F1F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Azure Container Apps / AKS</a:t>
            </a:r>
            <a:endParaRPr lang="en-US" sz="9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00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API REST servant le moteur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36380" y="3460349"/>
            <a:ext cx="1093363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API JSON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958537" y="6466086"/>
            <a:ext cx="23315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9600"/>
            <a:ext cx="3474653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497" y="1831673"/>
            <a:ext cx="226610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VALIDATION DU PROJET         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760497" y="2103825"/>
            <a:ext cx="5821614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Critères de succès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027190" y="2766437"/>
            <a:ext cx="555492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 PoC sera considéré comme concluant s’il permet de démontrer qu’une recommandation personnalisée peut apporter une valeur mesurable pour FashionInsta.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0497" y="2680395"/>
            <a:ext cx="19050" cy="1005780"/>
          </a:xfrm>
          <a:prstGeom prst="roundRect">
            <a:avLst>
              <a:gd name="adj" fmla="val 49999"/>
            </a:avLst>
          </a:prstGeom>
          <a:solidFill>
            <a:srgbClr val="1F4E8C"/>
          </a:solidFill>
          <a:ln/>
        </p:spPr>
      </p:sp>
      <p:sp>
        <p:nvSpPr>
          <p:cNvPr id="7" name="Shape 4"/>
          <p:cNvSpPr/>
          <p:nvPr/>
        </p:nvSpPr>
        <p:spPr>
          <a:xfrm>
            <a:off x="5760497" y="3838575"/>
            <a:ext cx="1838874" cy="1229122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8" name="Text 5"/>
          <p:cNvSpPr/>
          <p:nvPr/>
        </p:nvSpPr>
        <p:spPr>
          <a:xfrm>
            <a:off x="5912893" y="4004220"/>
            <a:ext cx="153408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Faisabilité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12893" y="4361120"/>
            <a:ext cx="1534082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Segmentation et embeddings exploitables sur données catalogue.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51767" y="3838575"/>
            <a:ext cx="1838974" cy="1229122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1" name="Text 8"/>
          <p:cNvSpPr/>
          <p:nvPr/>
        </p:nvSpPr>
        <p:spPr>
          <a:xfrm>
            <a:off x="7904163" y="4004220"/>
            <a:ext cx="153418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Pertinence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4163" y="4361120"/>
            <a:ext cx="153418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Modèle de compatibilité performant et Top-K pertinent.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743137" y="3838575"/>
            <a:ext cx="1838974" cy="1229122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4" name="Text 11"/>
          <p:cNvSpPr/>
          <p:nvPr/>
        </p:nvSpPr>
        <p:spPr>
          <a:xfrm>
            <a:off x="9895533" y="4004220"/>
            <a:ext cx="153418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Valeur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895533" y="4361120"/>
            <a:ext cx="153418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Personnalisation supérieure à la baseline (</a:t>
            </a:r>
            <a:r>
              <a:rPr lang="en-US" sz="1050" kern="100" spc="-28" dirty="0" err="1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similarité</a:t>
            </a: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952584" y="6466086"/>
            <a:ext cx="2391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970"/>
            <a:ext cx="2282867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VALIDATION TECHNIQUE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1. Évaluer chaque brique technique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429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Mesures quantitatives pour vérifier le bon fonctionnement de chaque étape du pipeline.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77132"/>
          <a:ext cx="10972526" cy="2726463"/>
        </p:xfrm>
        <a:graphic>
          <a:graphicData uri="http://schemas.openxmlformats.org/drawingml/2006/table">
            <a:tbl>
              <a:tblPr/>
              <a:tblGrid>
                <a:gridCol w="2413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7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Brique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Ce que l'on vérifie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Métriques de validation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Segmentation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 vêtement est correctement isolé sur la photo de l'utilisateur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IoU (Intersection over Union)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Embedding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Les vêtements visuellement ou sémantiquement similaires sont proches dans l'espace vectoriel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Recall@K / Distance cosinus (similarité)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Caractéristiques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Les attributs (couleur, coupe, motif, catégorie) sont correctement identifiés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Accuracy, Precision, Recall, F1-Score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Compatibilité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Les associations de pièces pertinentes sont correctement classées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Precision@K, Recall@K, NDCG@K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952584" y="6466086"/>
            <a:ext cx="2391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9953"/>
            <a:ext cx="2407086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ÉVALUATION UTILISATEUR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1992105"/>
            <a:ext cx="551682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Critères métier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581919"/>
            <a:ext cx="55168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F2A4A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Une recommandation est considérée comme pertinente si elle 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933105"/>
            <a:ext cx="5516821" cy="1046956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119477"/>
            <a:ext cx="533902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1. Correspond au style &amp; aux préférences de l'utilisateur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7380" y="3434715"/>
            <a:ext cx="516123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Respect des univers stylistiques (Classic, Dramatic, Sporty, Romantic, Artistic) et affinités de couleurs.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585" y="4132461"/>
            <a:ext cx="5516821" cy="1046956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9" name="Text 7"/>
          <p:cNvSpPr/>
          <p:nvPr/>
        </p:nvSpPr>
        <p:spPr>
          <a:xfrm>
            <a:off x="787380" y="4318833"/>
            <a:ext cx="533902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2. Complète de manière cohérente la garde-robe existante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380" y="4634071"/>
            <a:ext cx="516123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Proposer des pièces qui s'assemblent harmonieusement avec au moins un vêtement déjà possédé.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684" y="2139950"/>
            <a:ext cx="5151011" cy="25781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07143" y="6466086"/>
            <a:ext cx="28455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1887732"/>
            <a:ext cx="243903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ORGANISATION DU PROJET       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86" y="2328839"/>
            <a:ext cx="579105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Planning &amp;</a:t>
            </a:r>
            <a:endParaRPr lang="en-US" sz="4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Ressources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58786" y="3661659"/>
            <a:ext cx="579105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E9F1FB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Cadrage du développement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58786" y="4308078"/>
            <a:ext cx="1910905" cy="38100"/>
          </a:xfrm>
          <a:prstGeom prst="roundRect">
            <a:avLst>
              <a:gd name="adj" fmla="val 49999"/>
            </a:avLst>
          </a:prstGeom>
          <a:solidFill>
            <a:srgbClr val="6E95D0"/>
          </a:solidFill>
          <a:ln/>
        </p:spPr>
      </p:sp>
      <p:sp>
        <p:nvSpPr>
          <p:cNvPr id="7" name="Text 5"/>
          <p:cNvSpPr/>
          <p:nvPr/>
        </p:nvSpPr>
        <p:spPr>
          <a:xfrm>
            <a:off x="558786" y="4558268"/>
            <a:ext cx="579105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Gouvernance, calendrier opérationnel par phases et allocation des compétences data.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970"/>
            <a:ext cx="1848895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GOUVERNANCE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122"/>
            <a:ext cx="6705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RACI · Attribution des responsabilités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3664"/>
            <a:ext cx="73150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Répartition des rôles sur les phases 1 (PoC), 2 (MVP) et 3 (Run).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18" y="1861143"/>
            <a:ext cx="5596482" cy="46597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394" y="0"/>
            <a:ext cx="3962301" cy="68580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7" name="Text 4"/>
          <p:cNvSpPr/>
          <p:nvPr/>
        </p:nvSpPr>
        <p:spPr>
          <a:xfrm>
            <a:off x="8432589" y="267245"/>
            <a:ext cx="355591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100" spc="-51" dirty="0">
                <a:solidFill>
                  <a:srgbClr val="0F2A4A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Taux d'occupation PoC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32589" y="621605"/>
            <a:ext cx="375910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Charge interne dédiée sur la Phase 1 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432589" y="999430"/>
            <a:ext cx="355581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432589" y="1280736"/>
            <a:ext cx="355591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Scientist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32589" y="1649602"/>
            <a:ext cx="355591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53%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432589" y="2336026"/>
            <a:ext cx="355591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32589" y="2704893"/>
            <a:ext cx="355591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27%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432589" y="3391317"/>
            <a:ext cx="355591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 Lead Data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32589" y="3750072"/>
            <a:ext cx="3555911" cy="440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</a:rPr>
              <a:t>7%</a:t>
            </a:r>
          </a:p>
        </p:txBody>
      </p:sp>
      <p:sp>
        <p:nvSpPr>
          <p:cNvPr id="16" name="Text 13"/>
          <p:cNvSpPr/>
          <p:nvPr/>
        </p:nvSpPr>
        <p:spPr>
          <a:xfrm>
            <a:off x="8432589" y="4279027"/>
            <a:ext cx="355591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 Ops Engineer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32589" y="4637782"/>
            <a:ext cx="3555911" cy="50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</a:rPr>
              <a:t>7%</a:t>
            </a:r>
          </a:p>
        </p:txBody>
      </p:sp>
      <p:sp>
        <p:nvSpPr>
          <p:cNvPr id="18" name="Text 15"/>
          <p:cNvSpPr/>
          <p:nvPr/>
        </p:nvSpPr>
        <p:spPr>
          <a:xfrm>
            <a:off x="11910715" y="6466086"/>
            <a:ext cx="28098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970"/>
            <a:ext cx="2436156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PLANNING OPÉRATIONNEL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398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Découpage en trois phases majeures : PoC, MVP et exploitation en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1933972"/>
            <a:ext cx="3555911" cy="4314428"/>
          </a:xfrm>
          <a:prstGeom prst="rect">
            <a:avLst/>
          </a:prstGeom>
          <a:solidFill>
            <a:srgbClr val="E9F1FB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080" y="2149872"/>
            <a:ext cx="567715" cy="217686"/>
          </a:xfrm>
          <a:prstGeom prst="roundRect">
            <a:avLst>
              <a:gd name="adj" fmla="val 24013"/>
            </a:avLst>
          </a:prstGeom>
          <a:solidFill>
            <a:srgbClr val="D5E3F6"/>
          </a:solidFill>
          <a:ln/>
        </p:spPr>
      </p:sp>
      <p:sp>
        <p:nvSpPr>
          <p:cNvPr id="7" name="Text 5"/>
          <p:cNvSpPr/>
          <p:nvPr/>
        </p:nvSpPr>
        <p:spPr>
          <a:xfrm>
            <a:off x="874691" y="2191242"/>
            <a:ext cx="1028079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080" y="2453283"/>
            <a:ext cx="31749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PoC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0080" y="2855238"/>
            <a:ext cx="336541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Semaines · Charge 14 Jours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0080" y="3191768"/>
            <a:ext cx="3174821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00080" y="3365758"/>
            <a:ext cx="336541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Objectif :</a:t>
            </a: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« Est-ce que cela fonctionne ? 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080" y="3651448"/>
            <a:ext cx="3174921" cy="80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Cadrage + sélection dataset (3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Préparation du jeu de test (1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Baseline + approche similaire (3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Approche compatibilité (5 JO)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0080" y="4570452"/>
            <a:ext cx="336541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Livrables :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Modèles ML, dataset, algos.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7892" y="1933972"/>
            <a:ext cx="3555911" cy="43144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8387" y="2149872"/>
            <a:ext cx="590833" cy="217686"/>
          </a:xfrm>
          <a:prstGeom prst="roundRect">
            <a:avLst>
              <a:gd name="adj" fmla="val 24013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2998" y="2191242"/>
            <a:ext cx="1051196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08387" y="2453283"/>
            <a:ext cx="31749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MVP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08387" y="2855238"/>
            <a:ext cx="336541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 Semaines · Charge 38 Jours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08387" y="3191768"/>
            <a:ext cx="3174821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08387" y="3365758"/>
            <a:ext cx="336541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Objectif :</a:t>
            </a: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« Solution utilisable »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08387" y="3651448"/>
            <a:ext cx="3174921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Application mobile &amp; features (15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Embedding catalogue Fashion Insta (3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Moteur de recommandation (3 JO)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08387" y="4565649"/>
            <a:ext cx="336541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Livrables :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App mobile, API REST, dataset </a:t>
            </a:r>
            <a:r>
              <a:rPr lang="en-US" sz="95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FashionInsta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26199" y="1933972"/>
            <a:ext cx="3555911" cy="43144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6694" y="2191242"/>
            <a:ext cx="1048518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A451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16694" y="2453283"/>
            <a:ext cx="31749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100" spc="-60" dirty="0">
                <a:solidFill>
                  <a:srgbClr val="000000"/>
                </a:solidFill>
                <a:latin typeface="Barlow Semi Condensed" pitchFamily="34" charset="0"/>
                <a:ea typeface="Barlow Semi Condensed" pitchFamily="34" charset="-122"/>
                <a:cs typeface="Barlow Semi Condensed" pitchFamily="34" charset="-120"/>
              </a:rPr>
              <a:t>Run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16694" y="2855238"/>
            <a:ext cx="336541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Semaines · Charge 19 Jours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16694" y="3191768"/>
            <a:ext cx="3174821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16694" y="3365758"/>
            <a:ext cx="336541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Objectif :</a:t>
            </a:r>
            <a:r>
              <a:rPr lang="en-US" sz="10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« Exploiter et améliorer »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16694" y="3651448"/>
            <a:ext cx="3174921" cy="80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Exploitation continue (3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Monitoring métriques (3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Réentraînement périodique (3 JO)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Amélioration des modèles (3 JO)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16694" y="4884339"/>
            <a:ext cx="336541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Gouvernance :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u="sng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COPROJ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régulier &amp; </a:t>
            </a:r>
            <a:r>
              <a:rPr lang="en-US" sz="950" u="sng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COPIL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trimestriel.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913294" y="6466086"/>
            <a:ext cx="27840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</a:t>
            </a:r>
            <a:endParaRPr lang="en-US" sz="10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4E6B1B5-2958-C2DB-CFDA-7CF9288E8BD1}"/>
              </a:ext>
            </a:extLst>
          </p:cNvPr>
          <p:cNvSpPr/>
          <p:nvPr/>
        </p:nvSpPr>
        <p:spPr>
          <a:xfrm>
            <a:off x="4508387" y="4884338"/>
            <a:ext cx="3365416" cy="551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Gouvernance :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u="sng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COPROJ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lancement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architecture/dev, validation.</a:t>
            </a:r>
          </a:p>
          <a:p>
            <a:pPr>
              <a:lnSpc>
                <a:spcPct val="117000"/>
              </a:lnSpc>
            </a:pP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</a:t>
            </a:r>
            <a:r>
              <a:rPr lang="en-US" sz="950" u="sng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COPIL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Fin =&gt; GO / NOGO</a:t>
            </a:r>
            <a:endParaRPr lang="en-US" sz="95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C6AD9C90-DCA1-F47B-2073-BDE830F2E5A9}"/>
              </a:ext>
            </a:extLst>
          </p:cNvPr>
          <p:cNvSpPr/>
          <p:nvPr/>
        </p:nvSpPr>
        <p:spPr>
          <a:xfrm>
            <a:off x="800080" y="4884339"/>
            <a:ext cx="3365416" cy="43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Gouvernance :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950" u="sng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COPROJ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début, après jeu de test, après </a:t>
            </a:r>
            <a:r>
              <a:rPr lang="en-US" sz="950" kern="100" spc="-28" dirty="0" err="1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évaluation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</a:p>
          <a:p>
            <a:pPr>
              <a:lnSpc>
                <a:spcPct val="117000"/>
              </a:lnSpc>
            </a:pP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</a:t>
            </a:r>
            <a:r>
              <a:rPr lang="en-US" sz="950" u="sng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COPIL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Fin =&gt; GO / NOGO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8306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83068" y="0"/>
            <a:ext cx="6908627" cy="68580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" name="Text 1"/>
          <p:cNvSpPr/>
          <p:nvPr/>
        </p:nvSpPr>
        <p:spPr>
          <a:xfrm>
            <a:off x="5841854" y="1779782"/>
            <a:ext cx="2198335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ANALYSE FINANCIÈRE         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41854" y="2220889"/>
            <a:ext cx="579105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Coût et</a:t>
            </a:r>
            <a:endParaRPr lang="en-US" sz="4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Rentabilité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841854" y="3553709"/>
            <a:ext cx="579105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E9F1FB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Combien cela nous coûte et combien nous estimons gagner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841854" y="4647109"/>
            <a:ext cx="1910905" cy="38100"/>
          </a:xfrm>
          <a:prstGeom prst="roundRect">
            <a:avLst>
              <a:gd name="adj" fmla="val 49999"/>
            </a:avLst>
          </a:prstGeom>
          <a:solidFill>
            <a:srgbClr val="6E95D0"/>
          </a:solidFill>
          <a:ln/>
        </p:spPr>
      </p:sp>
      <p:sp>
        <p:nvSpPr>
          <p:cNvPr id="8" name="Text 5"/>
          <p:cNvSpPr/>
          <p:nvPr/>
        </p:nvSpPr>
        <p:spPr>
          <a:xfrm>
            <a:off x="5841854" y="4897299"/>
            <a:ext cx="634984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-2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Modélisation économique détaillée sur un horizon de 24 mois.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aphique 12">
            <a:extLst>
              <a:ext uri="{FF2B5EF4-FFF2-40B4-BE49-F238E27FC236}">
                <a16:creationId xmlns:a16="http://schemas.microsoft.com/office/drawing/2014/main" id="{4EC8D331-3E1C-12F0-C895-2595AD961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529313"/>
              </p:ext>
            </p:extLst>
          </p:nvPr>
        </p:nvGraphicFramePr>
        <p:xfrm>
          <a:off x="274446" y="2096835"/>
          <a:ext cx="7253985" cy="4110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0"/>
          <p:cNvSpPr/>
          <p:nvPr/>
        </p:nvSpPr>
        <p:spPr>
          <a:xfrm>
            <a:off x="609585" y="650970"/>
            <a:ext cx="2399049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RENTABILITÉ SUR 24 MOIS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122"/>
            <a:ext cx="630926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Progression Chiffre d'Affaires Cumulé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3664"/>
            <a:ext cx="691884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Comparaison entre hypothèse cible (+14%), baseline (+3%) et gain net cumulé.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833124" y="0"/>
            <a:ext cx="4358571" cy="68580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7" name="Text 4"/>
          <p:cNvSpPr/>
          <p:nvPr/>
        </p:nvSpPr>
        <p:spPr>
          <a:xfrm>
            <a:off x="8061719" y="1964432"/>
            <a:ext cx="412997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60" dirty="0">
                <a:solidFill>
                  <a:srgbClr val="1F4E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SYNTHÈSE ROI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61719" y="2273673"/>
            <a:ext cx="390138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44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7 mois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061719" y="3008055"/>
            <a:ext cx="412997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Seuil de rentabilité atteint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61719" y="3416002"/>
            <a:ext cx="3901283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061719" y="3638252"/>
            <a:ext cx="3901382" cy="125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Gains nets :</a:t>
            </a:r>
            <a:r>
              <a:rPr lang="en-US" sz="11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+11% CA Web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100" b="1" kern="100" spc="-28" dirty="0">
                <a:solidFill>
                  <a:srgbClr val="1F4E8C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517 k€ / 24 mois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Investissement total :</a:t>
            </a:r>
            <a:r>
              <a:rPr lang="en-US" sz="1100" kern="100" spc="-28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0,4% CA Web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8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39 k€ / 24 mois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913493" y="6466086"/>
            <a:ext cx="2782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</a:t>
            </a:r>
            <a:endParaRPr lang="en-US" sz="1000" dirty="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581B8A1-F280-4124-C93A-EB4DEFF23774}"/>
              </a:ext>
            </a:extLst>
          </p:cNvPr>
          <p:cNvCxnSpPr>
            <a:cxnSpLocks/>
          </p:cNvCxnSpPr>
          <p:nvPr/>
        </p:nvCxnSpPr>
        <p:spPr>
          <a:xfrm flipV="1">
            <a:off x="2300114" y="2540000"/>
            <a:ext cx="0" cy="3088341"/>
          </a:xfrm>
          <a:prstGeom prst="line">
            <a:avLst/>
          </a:prstGeom>
          <a:ln w="444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970"/>
            <a:ext cx="2310152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CONFORMITÉ &amp; ÉTHIQUE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1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RGPD &amp; Protection des Données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3398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Analyse des risques de conformité et mesures correctives prévues pour le projet IA.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08572"/>
          <a:ext cx="10972526" cy="3621393"/>
        </p:xfrm>
        <a:graphic>
          <a:graphicData uri="http://schemas.openxmlformats.org/drawingml/2006/table">
            <a:tbl>
              <a:tblPr/>
              <a:tblGrid>
                <a:gridCol w="2413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9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Sujet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Enjeu pour FashionInsta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Mesure à prévoir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RGPD global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Les photos de personnes et données liées au compte constituent des données personnelles.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Définir finalité, base légale, durée de conservation, droits utilisateurs et modalités de suppression.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Photos vêtements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Une photo peut contenir un visage, le domicile ou des éléments privés.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Minimiser la collecte, supprimer les photos originales après embedding et isoler le vêtement.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Données d'entraînement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Les datasets d'outfits et d'images peuvent être soumis à des restrictions d'usage.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Auditer scrupuleusement licences, droits et conditions d'usage avant toute exploitation.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Sécurité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Risque d'exposition des profils, préférences et photos en cas d'accès non autorisé.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Chiffrement en transit/repos, contrôle d'accès strict (RBAC) et politique de purge.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Réglementation IA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Cadre européen AI Act applicable selon la classification des fonctionnalités.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Vérifier la conformité à l'AI Act et maintenir une veille juridique active.</a:t>
                      </a:r>
                      <a:endParaRPr lang="en-US" sz="14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913294" y="6466086"/>
            <a:ext cx="27840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370"/>
            <a:ext cx="2210538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GESTION DES RISQUES         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6335" y="446085"/>
            <a:ext cx="708660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1F4E8C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Principaux risques du projet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6335" y="1056627"/>
            <a:ext cx="70866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Matrice des risques techniques, juridiques et financiers avec plans d'atténuation.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71810"/>
              </p:ext>
            </p:extLst>
          </p:nvPr>
        </p:nvGraphicFramePr>
        <p:xfrm>
          <a:off x="411736" y="1531589"/>
          <a:ext cx="11368221" cy="4279733"/>
        </p:xfrm>
        <a:graphic>
          <a:graphicData uri="http://schemas.openxmlformats.org/drawingml/2006/table">
            <a:tbl>
              <a:tblPr/>
              <a:tblGrid>
                <a:gridCol w="250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3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Risque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Conséquence possible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Mesure de maîtrise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Droits sur les datasets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Impossibilité d'utiliser les données dans un service commercial.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Valider les licences et conditions d'accès en amont du choix du dataset.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Qualité recommandations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Tenues incohérentes ou suggestions non pertinentes.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Comparer systématiquement à une baseline et évaluer avec des experts métier.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Biais du modèle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Pertinence dégradée pour certains styles, catégories ou profils.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Tester et mesurer les performances sur des profils et typologies variés.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Qualité des photos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Échec de la segmentation ou mauvaise détection d'attributs.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Tester des conditions réelles : éclairages variables, arrière-plans complexes.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Coûts Azure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Dépassement de budget lors du passage à l'échelle.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Mesurer précisément le coût unitaire par inférence et par utilisateur.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Sécurité &amp; confidentialité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Exposition de photos ou données personnelles sensibles.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Minimisation, restriction stricte des accès et processus de suppression automatisé.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kern="100" spc="-28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Dépendance modèles tiers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Changement de licence, indisponibilité ou perte de support.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-28" dirty="0">
                          <a:solidFill>
                            <a:srgbClr val="0F2A4A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Documenter les composants et concevoir des solutions alternatives de repli.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4736" marR="94736" marT="47368" marB="47368" anchor="ctr">
                    <a:lnL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67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6599" y="6040524"/>
            <a:ext cx="10218962" cy="41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kern="100" spc="-28" dirty="0">
                <a:solidFill>
                  <a:srgbClr val="0F2A4A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Point d'attention Polyvore Outfits :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Les conditions d'accès mentionnent un usage recherche </a:t>
            </a:r>
            <a:r>
              <a:rPr lang="en-US" sz="950" b="1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non commerciale 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tout en affichant une </a:t>
            </a:r>
            <a:r>
              <a:rPr lang="en-US" sz="950" b="1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licence CC BY 4.0</a:t>
            </a:r>
            <a:r>
              <a:rPr lang="en-US" sz="95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Cette ambiguïté doit être clarifiée avant tout usage commercial.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918553" y="6466086"/>
            <a:ext cx="27314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100" spc="-28" dirty="0">
                <a:solidFill>
                  <a:srgbClr val="0F2A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844079"/>
            <a:ext cx="10667733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0" kern="100" spc="-330" dirty="0">
                <a:solidFill>
                  <a:srgbClr val="FFFFFF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Merci !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61981" y="3276591"/>
            <a:ext cx="10667733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100" spc="-96" dirty="0">
                <a:solidFill>
                  <a:srgbClr val="6E95D0"/>
                </a:solidFill>
                <a:latin typeface="Barlow Semi Condensed Medium" pitchFamily="34" charset="0"/>
                <a:ea typeface="Barlow Semi Condensed Medium" pitchFamily="34" charset="-122"/>
                <a:cs typeface="Barlow Semi Condensed Medium" pitchFamily="34" charset="-120"/>
              </a:rPr>
              <a:t>Cadrage Projet IA · FashionInsta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1981" y="3923010"/>
            <a:ext cx="3520292" cy="38100"/>
          </a:xfrm>
          <a:prstGeom prst="roundRect">
            <a:avLst>
              <a:gd name="adj" fmla="val 49999"/>
            </a:avLst>
          </a:prstGeom>
          <a:solidFill>
            <a:srgbClr val="6E95D0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4142403"/>
            <a:ext cx="112773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-28" dirty="0">
                <a:solidFill>
                  <a:srgbClr val="E9F1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Place aux échanges et questions du jury.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4645620"/>
            <a:ext cx="2834013" cy="5079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2104</Words>
  <Application>Microsoft Office PowerPoint</Application>
  <PresentationFormat>Grand écran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Barlow Semi Condensed Medium</vt:lpstr>
      <vt:lpstr>Arial</vt:lpstr>
      <vt:lpstr>Barlow Bold</vt:lpstr>
      <vt:lpstr>Barlow Semi Condensed</vt:lpstr>
      <vt:lpstr>Barlow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thomas auguey</cp:lastModifiedBy>
  <cp:revision>18</cp:revision>
  <dcterms:created xsi:type="dcterms:W3CDTF">2026-10-14T08:20:17Z</dcterms:created>
  <dcterms:modified xsi:type="dcterms:W3CDTF">2026-10-14T08:47:40Z</dcterms:modified>
</cp:coreProperties>
</file>