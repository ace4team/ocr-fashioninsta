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96" r:id="rId2"/>
    <p:sldId id="256" r:id="rId3"/>
    <p:sldId id="257" r:id="rId4"/>
    <p:sldId id="305" r:id="rId5"/>
    <p:sldId id="258" r:id="rId6"/>
    <p:sldId id="259" r:id="rId7"/>
    <p:sldId id="272" r:id="rId8"/>
    <p:sldId id="269" r:id="rId9"/>
    <p:sldId id="262" r:id="rId10"/>
    <p:sldId id="273" r:id="rId11"/>
    <p:sldId id="294" r:id="rId12"/>
    <p:sldId id="274" r:id="rId13"/>
    <p:sldId id="263" r:id="rId14"/>
    <p:sldId id="293" r:id="rId15"/>
    <p:sldId id="286" r:id="rId16"/>
    <p:sldId id="306" r:id="rId17"/>
    <p:sldId id="276" r:id="rId18"/>
    <p:sldId id="277" r:id="rId19"/>
    <p:sldId id="297" r:id="rId20"/>
    <p:sldId id="298" r:id="rId21"/>
    <p:sldId id="265" r:id="rId22"/>
    <p:sldId id="281" r:id="rId23"/>
    <p:sldId id="295" r:id="rId24"/>
    <p:sldId id="283" r:id="rId25"/>
    <p:sldId id="266" r:id="rId26"/>
    <p:sldId id="299" r:id="rId27"/>
    <p:sldId id="300" r:id="rId28"/>
    <p:sldId id="301" r:id="rId29"/>
    <p:sldId id="302" r:id="rId30"/>
    <p:sldId id="304" r:id="rId31"/>
    <p:sldId id="303" r:id="rId32"/>
    <p:sldId id="307" r:id="rId3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7" autoAdjust="0"/>
    <p:restoredTop sz="75089" autoAdjust="0"/>
  </p:normalViewPr>
  <p:slideViewPr>
    <p:cSldViewPr snapToGrid="0">
      <p:cViewPr>
        <p:scale>
          <a:sx n="75" d="100"/>
          <a:sy n="75" d="100"/>
        </p:scale>
        <p:origin x="83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FormationOpenClassRoom\Cours13%20-%20R&#233;alisez%20le%20cadrage%20d&#8217;un%20projet%20IA\FashionInsta\cou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Progression Chiffre Affaire Cumulé - 24 Mois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Feuil1!$L$57</c:f>
              <c:strCache>
                <c:ptCount val="1"/>
                <c:pt idx="0">
                  <c:v>Réf.
Prog. CA  Cumulé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Feuil1!$I$58:$I$64</c:f>
              <c:numCache>
                <c:formatCode>General</c:formatCode>
                <c:ptCount val="7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</c:numCache>
            </c:numRef>
          </c:xVal>
          <c:yVal>
            <c:numRef>
              <c:f>Feuil1!$L$58:$L$64</c:f>
              <c:numCache>
                <c:formatCode>#\ ##0\ "€"</c:formatCode>
                <c:ptCount val="7"/>
                <c:pt idx="0">
                  <c:v>0</c:v>
                </c:pt>
                <c:pt idx="1">
                  <c:v>3538.1518506868115</c:v>
                </c:pt>
                <c:pt idx="2">
                  <c:v>13545.556516640325</c:v>
                </c:pt>
                <c:pt idx="3">
                  <c:v>31930.332827490562</c:v>
                </c:pt>
                <c:pt idx="4">
                  <c:v>60235.54763298505</c:v>
                </c:pt>
                <c:pt idx="5">
                  <c:v>99793.287897247035</c:v>
                </c:pt>
                <c:pt idx="6">
                  <c:v>151793.28789724704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A32-47BF-92FA-98FEEB662206}"/>
            </c:ext>
          </c:extLst>
        </c:ser>
        <c:ser>
          <c:idx val="1"/>
          <c:order val="1"/>
          <c:tx>
            <c:strRef>
              <c:f>Feuil1!$M$57</c:f>
              <c:strCache>
                <c:ptCount val="1"/>
                <c:pt idx="0">
                  <c:v>Hyp.
Prog. CA  Cumulé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Feuil1!$I$58:$I$64</c:f>
              <c:numCache>
                <c:formatCode>General</c:formatCode>
                <c:ptCount val="7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</c:numCache>
            </c:numRef>
          </c:xVal>
          <c:yVal>
            <c:numRef>
              <c:f>Feuil1!$M$58:$M$64</c:f>
              <c:numCache>
                <c:formatCode>#\ ##0\ "€"</c:formatCode>
                <c:ptCount val="7"/>
                <c:pt idx="0">
                  <c:v>0</c:v>
                </c:pt>
                <c:pt idx="1">
                  <c:v>16511.375303205125</c:v>
                </c:pt>
                <c:pt idx="2">
                  <c:v>63212.597077654857</c:v>
                </c:pt>
                <c:pt idx="3">
                  <c:v>149008.21986162264</c:v>
                </c:pt>
                <c:pt idx="4">
                  <c:v>281099.2222872636</c:v>
                </c:pt>
                <c:pt idx="5">
                  <c:v>465702.01018715295</c:v>
                </c:pt>
                <c:pt idx="6">
                  <c:v>708368.67685381963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A32-47BF-92FA-98FEEB662206}"/>
            </c:ext>
          </c:extLst>
        </c:ser>
        <c:ser>
          <c:idx val="2"/>
          <c:order val="2"/>
          <c:tx>
            <c:strRef>
              <c:f>Feuil1!$O$57</c:f>
              <c:strCache>
                <c:ptCount val="1"/>
                <c:pt idx="0">
                  <c:v>Gain net
Cumulé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Feuil1!$I$58:$I$64</c:f>
              <c:numCache>
                <c:formatCode>General</c:formatCode>
                <c:ptCount val="7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</c:numCache>
            </c:numRef>
          </c:xVal>
          <c:yVal>
            <c:numRef>
              <c:f>Feuil1!$O$58:$O$64</c:f>
              <c:numCache>
                <c:formatCode>#\ ##0\ "€"</c:formatCode>
                <c:ptCount val="7"/>
                <c:pt idx="0">
                  <c:v>-35202.17</c:v>
                </c:pt>
                <c:pt idx="1">
                  <c:v>-26381.746547481689</c:v>
                </c:pt>
                <c:pt idx="2">
                  <c:v>6159.2705610145276</c:v>
                </c:pt>
                <c:pt idx="3">
                  <c:v>69417.317034132066</c:v>
                </c:pt>
                <c:pt idx="4">
                  <c:v>169050.30465427856</c:v>
                </c:pt>
                <c:pt idx="5">
                  <c:v>309942.55228990584</c:v>
                </c:pt>
                <c:pt idx="6">
                  <c:v>496456.4189565726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A32-47BF-92FA-98FEEB6622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3894528"/>
        <c:axId val="833894888"/>
      </c:scatterChart>
      <c:valAx>
        <c:axId val="8338945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833894888"/>
        <c:crosses val="autoZero"/>
        <c:crossBetween val="midCat"/>
      </c:valAx>
      <c:valAx>
        <c:axId val="833894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\ ##0\ &quot;€&quot;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83389452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736815-A20C-4B10-B29D-B64D64FDFE35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FDC3EE-E837-4216-B82C-A4E0B6F89C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539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21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Quel problème </a:t>
            </a:r>
            <a:r>
              <a:rPr lang="fr-FR" dirty="0" err="1"/>
              <a:t>FashionInsta</a:t>
            </a:r>
            <a:r>
              <a:rPr lang="fr-FR" dirty="0"/>
              <a:t> veut résoudre ?</a:t>
            </a:r>
          </a:p>
          <a:p>
            <a:r>
              <a:rPr lang="fr-FR" dirty="0"/>
              <a:t>Catalogue important d’articles / difficile de trouver</a:t>
            </a:r>
          </a:p>
          <a:p>
            <a:r>
              <a:rPr lang="fr-FR" dirty="0"/>
              <a:t>Notre besoin cibler des articles pertinents pour nos utilisateurs</a:t>
            </a:r>
          </a:p>
          <a:p>
            <a:r>
              <a:rPr lang="fr-FR" dirty="0"/>
              <a:t>Augmenter nos ventes en proposant du contenu personnalisé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6629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29B2-F5AD-BA28-2D63-E55CF15D1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5888EFB-193D-60BC-E73F-5B89B126A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67FBDD1-3FB7-F955-D0B1-8DEB916ED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transforme les vêtements en représentations vectorielles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D7ADC8-A228-3E8E-397C-48F681204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5056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Identifier </a:t>
            </a:r>
            <a:r>
              <a:rPr lang="fr-FR" dirty="0"/>
              <a:t>les articles susceptibles d’être intéressant pour l’utilisateur</a:t>
            </a:r>
            <a:endParaRPr lang="fr-FR" b="1" dirty="0"/>
          </a:p>
          <a:p>
            <a:r>
              <a:rPr lang="fr-FR" b="1" dirty="0"/>
              <a:t>Classer</a:t>
            </a:r>
            <a:r>
              <a:rPr lang="fr-FR" b="0" dirty="0"/>
              <a:t> les articles par pertinence</a:t>
            </a:r>
          </a:p>
          <a:p>
            <a:r>
              <a:rPr lang="fr-FR" b="1" dirty="0"/>
              <a:t>Proposer </a:t>
            </a:r>
            <a:r>
              <a:rPr lang="fr-FR" b="0" dirty="0"/>
              <a:t>les articles dans une garde robe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188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Pour notre </a:t>
            </a:r>
            <a:r>
              <a:rPr lang="fr-FR" dirty="0" err="1"/>
              <a:t>PoC</a:t>
            </a:r>
            <a:r>
              <a:rPr lang="fr-FR" dirty="0"/>
              <a:t> nous allons nous focalisé sur l’essentiel, c’est à dire….</a:t>
            </a:r>
          </a:p>
          <a:p>
            <a:endParaRPr lang="fr-FR" dirty="0"/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 </a:t>
            </a:r>
            <a:r>
              <a:rPr lang="fr-FR" dirty="0" err="1"/>
              <a:t>PoC</a:t>
            </a:r>
            <a:r>
              <a:rPr lang="fr-FR" dirty="0"/>
              <a:t> valide la faisabilité de la brique de recommandation, pas celle de l'application complète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988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E77D8-0A1F-E8EC-2AF0-4BA7FE907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901EB5B-9AE2-A23A-B353-CD16BC267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15C3880-567C-1C46-8E98-8959827EC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Note problème ML peut être formulé ainsi: ….</a:t>
            </a:r>
          </a:p>
          <a:p>
            <a:r>
              <a:rPr lang="fr-FR" dirty="0"/>
              <a:t>Prédire la pertinence des articles pour un utilisateur donné, puis classer les articles afin de sélectionner les </a:t>
            </a:r>
            <a:r>
              <a:rPr lang="fr-FR" b="1" dirty="0"/>
              <a:t>Top N recommandations</a:t>
            </a:r>
            <a:r>
              <a:rPr lang="fr-FR" dirty="0"/>
              <a:t>.</a:t>
            </a:r>
          </a:p>
          <a:p>
            <a:endParaRPr lang="fr-FR" b="1" dirty="0"/>
          </a:p>
          <a:p>
            <a:r>
              <a:rPr lang="fr-FR" b="1" dirty="0"/>
              <a:t>Entrées du modèle</a:t>
            </a:r>
            <a:endParaRPr lang="fr-FR" dirty="0"/>
          </a:p>
          <a:p>
            <a:r>
              <a:rPr lang="fr-FR" dirty="0"/>
              <a:t>* Profil et les préférences de l’utilisateur ainsi que Galerie photos (avec ou sans pose de l’utilisateur)</a:t>
            </a:r>
          </a:p>
          <a:p>
            <a:r>
              <a:rPr lang="fr-FR" dirty="0"/>
              <a:t>* Catalogue avec caractéristiques des articles</a:t>
            </a:r>
          </a:p>
          <a:p>
            <a:r>
              <a:rPr lang="fr-FR" b="1" dirty="0"/>
              <a:t>* </a:t>
            </a:r>
            <a:r>
              <a:rPr lang="fr-FR" b="0" dirty="0"/>
              <a:t>Possibilité d’associer un contexte les tendances du moment</a:t>
            </a:r>
          </a:p>
          <a:p>
            <a:endParaRPr lang="fr-FR" b="1" dirty="0"/>
          </a:p>
          <a:p>
            <a:r>
              <a:rPr lang="fr-FR" b="1" dirty="0"/>
              <a:t>Sortie attendue</a:t>
            </a:r>
            <a:endParaRPr lang="fr-FR" dirty="0"/>
          </a:p>
          <a:p>
            <a:r>
              <a:rPr lang="fr-FR" dirty="0"/>
              <a:t>Une liste d’articles </a:t>
            </a:r>
            <a:r>
              <a:rPr lang="fr-FR" b="1" dirty="0"/>
              <a:t>classés par pertinence pour chaque utilisateur</a:t>
            </a:r>
            <a:r>
              <a:rPr lang="fr-FR" dirty="0"/>
              <a:t>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E27DBF7-0B85-9E94-4FBF-E201C7A1C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893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FBD88-2270-9374-0591-F839B3D66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61CEFC4-C020-C4A8-5B84-49E1B7BAC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2F8F500-00DD-5C9E-6863-D9B8E1A86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quelles données le moteur de recommandation a besoin, et ce que l'on possède réellement pour le </a:t>
            </a:r>
            <a:r>
              <a:rPr lang="fr-FR" dirty="0" err="1"/>
              <a:t>PoC</a:t>
            </a:r>
            <a:endParaRPr lang="fr-FR" dirty="0"/>
          </a:p>
          <a:p>
            <a:endParaRPr lang="fr-FR" dirty="0"/>
          </a:p>
          <a:p>
            <a:r>
              <a:rPr lang="fr-FR" dirty="0"/>
              <a:t>Mais ces données ne sont pas encore prêtes il nous faudra les créer dans un premier temps</a:t>
            </a:r>
          </a:p>
          <a:p>
            <a:endParaRPr lang="fr-FR" dirty="0"/>
          </a:p>
          <a:p>
            <a:r>
              <a:rPr lang="fr-FR" dirty="0"/>
              <a:t>Les données (disponibles) ne sont pas encore exploitables sans travail de consolidation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Les données non-disponibles doivent être issue d’un </a:t>
            </a:r>
            <a:r>
              <a:rPr lang="fr-FR" dirty="0" err="1"/>
              <a:t>dataset</a:t>
            </a:r>
            <a:r>
              <a:rPr lang="fr-FR" dirty="0"/>
              <a:t> public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97B478-B5A6-9C10-0C40-9A950DB07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090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transforme les vêtements en représentations vectorielles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7558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DFD2C-AEB5-D8AE-8E58-09F4A6B62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1192155-5FD2-7581-5898-6B596DB72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A796B91-4196-E50A-0E28-D9C1BFF5F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peut utiliser par exemple un modèle de type </a:t>
            </a:r>
            <a:r>
              <a:rPr lang="fr-FR" b="1" dirty="0" err="1"/>
              <a:t>FashionCLIP</a:t>
            </a:r>
            <a:r>
              <a:rPr lang="fr-FR" dirty="0"/>
              <a:t> comme candidat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5BA683-83C6-18BB-44A0-80B15C818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6778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67FA3-9DC3-EEFA-5CC6-B89C641EE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B08A2F3-F416-0E43-593F-76312B55E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E74FC5B-064B-AE1C-F0D4-CD86C7381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On compare les deux vecteurs</a:t>
            </a:r>
          </a:p>
          <a:p>
            <a:r>
              <a:rPr lang="fr-FR" dirty="0"/>
              <a:t>Une méthode très courante est la </a:t>
            </a:r>
            <a:r>
              <a:rPr lang="fr-FR" b="1" dirty="0"/>
              <a:t>similarité cosinus</a:t>
            </a:r>
            <a:r>
              <a:rPr lang="fr-F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r>
              <a:rPr lang="fr-FR" dirty="0"/>
              <a:t>Si les deux vecteurs pointent dans des directions proches :</a:t>
            </a:r>
          </a:p>
          <a:p>
            <a:pPr rtl="0"/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similarité ≈ 1</a:t>
            </a:r>
          </a:p>
          <a:p>
            <a:r>
              <a:rPr lang="fr-FR" dirty="0"/>
              <a:t>S'ils sont relativement indépendants :</a:t>
            </a:r>
          </a:p>
          <a:p>
            <a:pPr rtl="0"/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similarité ≈ 0</a:t>
            </a:r>
          </a:p>
          <a:p>
            <a:r>
              <a:rPr lang="fr-FR" dirty="0"/>
              <a:t>Et s'ils pointent dans des directions opposées :</a:t>
            </a:r>
          </a:p>
          <a:p>
            <a:pPr rtl="0"/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similarité ≈ -1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B9AC03-EBB5-D9E6-FB7C-E1FBAFA38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926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donc des choix pertinents pour remplacer un élément de la garde robe par un élément du même style</a:t>
            </a:r>
          </a:p>
          <a:p>
            <a:r>
              <a:rPr lang="fr-FR" dirty="0"/>
              <a:t>Mais cela ne suffit par à proposer une recommandation avec de nouveaux vêtements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720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Approche 2 — Recommandation IA multimodale</a:t>
            </a:r>
          </a:p>
          <a:p>
            <a:r>
              <a:rPr lang="fr-FR" b="1" dirty="0"/>
              <a:t>Principe</a:t>
            </a:r>
            <a:endParaRPr lang="fr-FR" dirty="0"/>
          </a:p>
          <a:p>
            <a:r>
              <a:rPr lang="fr-FR" dirty="0"/>
              <a:t>Exploiter plusieurs modalités décrivant les articles afin de construire une représentation de leur contenu et d’identifier ceux qui correspondent aux préférences de l’utilisateur.</a:t>
            </a:r>
          </a:p>
          <a:p>
            <a:r>
              <a:rPr lang="fr-FR" b="1" dirty="0"/>
              <a:t>Données utilisées</a:t>
            </a:r>
            <a:endParaRPr lang="fr-FR" dirty="0"/>
          </a:p>
          <a:p>
            <a:r>
              <a:rPr lang="fr-FR" b="1" dirty="0"/>
              <a:t>Texte</a:t>
            </a:r>
            <a:r>
              <a:rPr lang="fr-FR" dirty="0"/>
              <a:t> : description, catégorie, marque, caractéristiques…</a:t>
            </a:r>
          </a:p>
          <a:p>
            <a:r>
              <a:rPr lang="fr-FR" b="1" dirty="0"/>
              <a:t>Image</a:t>
            </a:r>
            <a:r>
              <a:rPr lang="fr-FR" dirty="0"/>
              <a:t> : photo de l’article</a:t>
            </a:r>
          </a:p>
          <a:p>
            <a:r>
              <a:rPr lang="fr-FR" b="1" dirty="0"/>
              <a:t>Utilisateur</a:t>
            </a:r>
            <a:r>
              <a:rPr lang="fr-FR" dirty="0"/>
              <a:t> : historique des interactions et articles appréciés</a:t>
            </a:r>
          </a:p>
          <a:p>
            <a:r>
              <a:rPr lang="fr-FR" b="1" dirty="0"/>
              <a:t>Approche envisagée</a:t>
            </a:r>
            <a:endParaRPr lang="fr-FR" dirty="0"/>
          </a:p>
          <a:p>
            <a:r>
              <a:rPr lang="fr-FR" dirty="0"/>
              <a:t>Utiliser un modèle d’IA pour transformer les contenus des articles en </a:t>
            </a:r>
            <a:r>
              <a:rPr lang="fr-FR" b="1" dirty="0"/>
              <a:t>représentations vectorielles (</a:t>
            </a:r>
            <a:r>
              <a:rPr lang="fr-FR" b="1" dirty="0" err="1"/>
              <a:t>embeddings</a:t>
            </a:r>
            <a:r>
              <a:rPr lang="fr-FR" b="1" dirty="0"/>
              <a:t>)</a:t>
            </a:r>
            <a:r>
              <a:rPr lang="fr-FR" dirty="0"/>
              <a:t>.</a:t>
            </a:r>
          </a:p>
          <a:p>
            <a:r>
              <a:rPr lang="fr-FR" dirty="0"/>
              <a:t>Les articles appréciés par l’utilisateur permettent ensuite d'identifier les caractéristiques qui lui correspondent et de rechercher les articles similaires ou pertinents.</a:t>
            </a:r>
          </a:p>
          <a:p>
            <a:r>
              <a:rPr lang="fr-FR" b="1" dirty="0"/>
              <a:t>Pipeline</a:t>
            </a:r>
            <a:endParaRPr lang="fr-FR" dirty="0"/>
          </a:p>
          <a:p>
            <a:r>
              <a:rPr lang="fr-FR" dirty="0"/>
              <a:t>Texte + Image des articles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Modèle multimodal / </a:t>
            </a:r>
            <a:r>
              <a:rPr lang="fr-FR" dirty="0" err="1"/>
              <a:t>embeddings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Représentation vectorielle des articles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Profil des préférences utilisateur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Calcul de similarité / classement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b="1" dirty="0"/>
              <a:t>Top N recommandations</a:t>
            </a:r>
            <a:endParaRPr lang="fr-FR" dirty="0"/>
          </a:p>
          <a:p>
            <a:r>
              <a:rPr lang="fr-FR" b="1" dirty="0"/>
              <a:t>Évaluation</a:t>
            </a:r>
            <a:endParaRPr lang="fr-FR" dirty="0"/>
          </a:p>
          <a:p>
            <a:r>
              <a:rPr lang="fr-FR" dirty="0"/>
              <a:t>Comparer la pertinence des recommandations avec :</a:t>
            </a:r>
          </a:p>
          <a:p>
            <a:r>
              <a:rPr lang="fr-FR" b="1" dirty="0" err="1"/>
              <a:t>Precision@K</a:t>
            </a:r>
            <a:endParaRPr lang="fr-FR" dirty="0"/>
          </a:p>
          <a:p>
            <a:r>
              <a:rPr lang="fr-FR" b="1" dirty="0" err="1"/>
              <a:t>Recall@K</a:t>
            </a:r>
            <a:endParaRPr lang="fr-FR" dirty="0"/>
          </a:p>
          <a:p>
            <a:r>
              <a:rPr lang="fr-FR" b="1" dirty="0"/>
              <a:t>NDCG@K</a:t>
            </a:r>
            <a:endParaRPr lang="fr-FR" dirty="0"/>
          </a:p>
          <a:p>
            <a:r>
              <a:rPr lang="fr-FR" dirty="0"/>
              <a:t>et comparer les résultats à l’approche ML de référence.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4294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E1800-02AE-8423-C3AD-FEC31A87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5553745-059D-AF39-0D85-C7638B1BA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942FAFB-EB1A-D316-9236-B057B851C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peut utiliser par exemple un modèle de type </a:t>
            </a:r>
            <a:r>
              <a:rPr lang="fr-FR" b="1" dirty="0" err="1"/>
              <a:t>FashionCLIP</a:t>
            </a:r>
            <a:r>
              <a:rPr lang="fr-FR" dirty="0"/>
              <a:t> comme candidat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4F71BD-E25C-04FB-129D-ED6BC62CF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0187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CFBB3-9C2C-4A7E-2C90-17B14DF6B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C914110-26A9-ECBD-A7B0-A95F9944E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282D64-6903-4875-6C31-86A5B3244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A partir d'un </a:t>
            </a:r>
            <a:r>
              <a:rPr lang="fr-FR" b="1" dirty="0" err="1"/>
              <a:t>dataset</a:t>
            </a:r>
            <a:r>
              <a:rPr lang="fr-FR" b="1" dirty="0"/>
              <a:t> d'</a:t>
            </a:r>
            <a:r>
              <a:rPr lang="fr-FR" b="1" dirty="0" err="1"/>
              <a:t>outfits</a:t>
            </a:r>
            <a:r>
              <a:rPr lang="fr-FR" b="1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On peut considérer que nous avons des tenues cohérentes</a:t>
            </a:r>
          </a:p>
          <a:p>
            <a:endParaRPr lang="fr-FR" b="1" dirty="0"/>
          </a:p>
          <a:p>
            <a:r>
              <a:rPr lang="fr-FR" b="1" dirty="0"/>
              <a:t>Réaliser des paires (chapeau =&gt; haut, haut =&gt; bas, bas =&gt; pieds)</a:t>
            </a:r>
          </a:p>
          <a:p>
            <a:endParaRPr lang="fr-FR" b="1" dirty="0"/>
          </a:p>
          <a:p>
            <a:r>
              <a:rPr lang="fr-FR" dirty="0"/>
              <a:t>Il faut des données indiquant quelles associations sont considérées comme cohérentes.</a:t>
            </a:r>
          </a:p>
          <a:p>
            <a:endParaRPr lang="fr-FR" dirty="0"/>
          </a:p>
          <a:p>
            <a:r>
              <a:rPr lang="fr-FR" dirty="0"/>
              <a:t>Inversement on construit les paires négatives à partir des vêtements qui ne sont pas présents ensembles.</a:t>
            </a:r>
          </a:p>
          <a:p>
            <a:endParaRPr lang="fr-FR" dirty="0"/>
          </a:p>
          <a:p>
            <a:r>
              <a:rPr lang="fr-FR" dirty="0"/>
              <a:t>On obtient donc un problème supervisé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193FD4-FAA2-198A-C44F-A00D32024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593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EB0B3-3508-D122-AB48-D63F5247D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7E11C83-2B80-17EC-8139-C98B2E929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4DE40B3-4349-B67D-1441-19502F688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donc des choix pertinents pour remplacer un élément de la garde robe par un élément du même style</a:t>
            </a:r>
          </a:p>
          <a:p>
            <a:r>
              <a:rPr lang="fr-FR" dirty="0"/>
              <a:t>Mais cela ne suffit par à proposer une recommandation avec de nouveaux vêtements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F0022B-ED48-08A1-50C1-3991AC963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82382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Approche A — </a:t>
            </a:r>
            <a:r>
              <a:rPr lang="fr-FR" dirty="0" err="1"/>
              <a:t>dataset</a:t>
            </a:r>
            <a:r>
              <a:rPr lang="fr-FR" dirty="0"/>
              <a:t> fournissant déjà les vêtements individuellement</a:t>
            </a:r>
          </a:p>
          <a:p>
            <a:r>
              <a:rPr lang="fr-FR" dirty="0"/>
              <a:t>Approche B — l'image d'</a:t>
            </a:r>
            <a:r>
              <a:rPr lang="fr-FR" dirty="0" err="1"/>
              <a:t>outfit</a:t>
            </a:r>
            <a:r>
              <a:rPr lang="fr-FR" dirty="0"/>
              <a:t> est accompagnée des références des vêtements</a:t>
            </a:r>
          </a:p>
          <a:p>
            <a:r>
              <a:rPr lang="fr-FR" dirty="0"/>
              <a:t>Approche C — partir uniquement de l'image de l'</a:t>
            </a:r>
            <a:r>
              <a:rPr lang="fr-FR" dirty="0" err="1"/>
              <a:t>outfit</a:t>
            </a:r>
            <a:r>
              <a:rPr lang="fr-FR" dirty="0"/>
              <a:t> avec segmentation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01121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deux approches peuvent être complémentaires plutôt que concurrentes.</a:t>
            </a:r>
          </a:p>
          <a:p>
            <a:r>
              <a:rPr lang="fr-FR" dirty="0"/>
              <a:t>La similarité peut servir à générer des candidats ou identifier l’article en question</a:t>
            </a:r>
          </a:p>
          <a:p>
            <a:r>
              <a:rPr lang="fr-FR" dirty="0"/>
              <a:t>La compatibilité sert à les classer.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89975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21C02-EF4E-7690-A684-53FCFD59B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4608CA5-9F7C-FF1C-8FAD-1BB62685E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E64C414-FF66-2FEE-3A70-B7F010721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Approche 2 — Recommandation IA multimodale</a:t>
            </a:r>
          </a:p>
          <a:p>
            <a:r>
              <a:rPr lang="fr-FR" b="1" dirty="0"/>
              <a:t>Principe</a:t>
            </a:r>
            <a:endParaRPr lang="fr-FR" dirty="0"/>
          </a:p>
          <a:p>
            <a:r>
              <a:rPr lang="fr-FR" dirty="0"/>
              <a:t>Exploiter plusieurs modalités décrivant les articles afin de construire une représentation de leur contenu et d’identifier ceux qui correspondent aux préférences de l’utilisateur.</a:t>
            </a:r>
          </a:p>
          <a:p>
            <a:r>
              <a:rPr lang="fr-FR" b="1" dirty="0"/>
              <a:t>Données utilisées</a:t>
            </a:r>
            <a:endParaRPr lang="fr-FR" dirty="0"/>
          </a:p>
          <a:p>
            <a:r>
              <a:rPr lang="fr-FR" b="1" dirty="0"/>
              <a:t>Texte</a:t>
            </a:r>
            <a:r>
              <a:rPr lang="fr-FR" dirty="0"/>
              <a:t> : description, catégorie, marque, caractéristiques…</a:t>
            </a:r>
          </a:p>
          <a:p>
            <a:r>
              <a:rPr lang="fr-FR" b="1" dirty="0"/>
              <a:t>Image</a:t>
            </a:r>
            <a:r>
              <a:rPr lang="fr-FR" dirty="0"/>
              <a:t> : photo de l’article</a:t>
            </a:r>
          </a:p>
          <a:p>
            <a:r>
              <a:rPr lang="fr-FR" b="1" dirty="0"/>
              <a:t>Utilisateur</a:t>
            </a:r>
            <a:r>
              <a:rPr lang="fr-FR" dirty="0"/>
              <a:t> : historique des interactions et articles appréciés</a:t>
            </a:r>
          </a:p>
          <a:p>
            <a:r>
              <a:rPr lang="fr-FR" b="1" dirty="0"/>
              <a:t>Approche envisagée</a:t>
            </a:r>
            <a:endParaRPr lang="fr-FR" dirty="0"/>
          </a:p>
          <a:p>
            <a:r>
              <a:rPr lang="fr-FR" dirty="0"/>
              <a:t>Utiliser un modèle d’IA pour transformer les contenus des articles en </a:t>
            </a:r>
            <a:r>
              <a:rPr lang="fr-FR" b="1" dirty="0"/>
              <a:t>représentations vectorielles (</a:t>
            </a:r>
            <a:r>
              <a:rPr lang="fr-FR" b="1" dirty="0" err="1"/>
              <a:t>embeddings</a:t>
            </a:r>
            <a:r>
              <a:rPr lang="fr-FR" b="1" dirty="0"/>
              <a:t>)</a:t>
            </a:r>
            <a:r>
              <a:rPr lang="fr-FR" dirty="0"/>
              <a:t>.</a:t>
            </a:r>
          </a:p>
          <a:p>
            <a:r>
              <a:rPr lang="fr-FR" dirty="0"/>
              <a:t>Les articles appréciés par l’utilisateur permettent ensuite d'identifier les caractéristiques qui lui correspondent et de rechercher les articles similaires ou pertinents.</a:t>
            </a:r>
          </a:p>
          <a:p>
            <a:r>
              <a:rPr lang="fr-FR" b="1" dirty="0"/>
              <a:t>Pipeline</a:t>
            </a:r>
            <a:endParaRPr lang="fr-FR" dirty="0"/>
          </a:p>
          <a:p>
            <a:r>
              <a:rPr lang="fr-FR" dirty="0"/>
              <a:t>Texte + Image des articles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Modèle multimodal / </a:t>
            </a:r>
            <a:r>
              <a:rPr lang="fr-FR" dirty="0" err="1"/>
              <a:t>embeddings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Représentation vectorielle des articles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Profil des préférences utilisateur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Calcul de similarité / classement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b="1" dirty="0"/>
              <a:t>Top N recommandations</a:t>
            </a:r>
            <a:endParaRPr lang="fr-FR" dirty="0"/>
          </a:p>
          <a:p>
            <a:r>
              <a:rPr lang="fr-FR" b="1" dirty="0"/>
              <a:t>Évaluation</a:t>
            </a:r>
            <a:endParaRPr lang="fr-FR" dirty="0"/>
          </a:p>
          <a:p>
            <a:r>
              <a:rPr lang="fr-FR" dirty="0"/>
              <a:t>Comparer la pertinence des recommandations avec :</a:t>
            </a:r>
          </a:p>
          <a:p>
            <a:r>
              <a:rPr lang="fr-FR" b="1" dirty="0" err="1"/>
              <a:t>Precision@K</a:t>
            </a:r>
            <a:endParaRPr lang="fr-FR" dirty="0"/>
          </a:p>
          <a:p>
            <a:r>
              <a:rPr lang="fr-FR" b="1" dirty="0" err="1"/>
              <a:t>Recall@K</a:t>
            </a:r>
            <a:endParaRPr lang="fr-FR" dirty="0"/>
          </a:p>
          <a:p>
            <a:r>
              <a:rPr lang="fr-FR" b="1" dirty="0"/>
              <a:t>NDCG@K</a:t>
            </a:r>
            <a:endParaRPr lang="fr-FR" dirty="0"/>
          </a:p>
          <a:p>
            <a:r>
              <a:rPr lang="fr-FR" dirty="0"/>
              <a:t>et comparer les résultats à l’approche ML de référence.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CDAC5E-E10C-4EEA-429D-F1D052E21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8365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4D93-9DB4-3D8B-EEAF-085E6E52A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9B8601-7D4F-E401-D645-79DB0D9E1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F05F9B3-0208-F1B2-1329-7D1253FA6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Blob Storage</a:t>
            </a:r>
            <a:r>
              <a:rPr lang="fr-FR" dirty="0"/>
              <a:t> est le service de stockage d'objets dans le cloud de Microsoft Azure, conçu pour héberger de grandes quantités de 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données non structurées</a:t>
            </a:r>
            <a:r>
              <a:rPr lang="fr-FR" dirty="0"/>
              <a:t> (comme des images, des vidéos, des fichiers audio, des sauvegardes, des journaux ou des données de Machine Learning).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Machine Learning</a:t>
            </a:r>
            <a:r>
              <a:rPr lang="fr-FR" dirty="0"/>
              <a:t> (Azure ML) est un service cloud de Microsoft qui permet de concevoir, d'entraîner, de déployer et de gérer des modèles d'apprentissage automatique (machine </a:t>
            </a:r>
            <a:r>
              <a:rPr lang="fr-FR" dirty="0" err="1"/>
              <a:t>learning</a:t>
            </a:r>
            <a:r>
              <a:rPr lang="fr-FR" dirty="0"/>
              <a:t>) et d'intelligence artificielle à grande échelle</a:t>
            </a: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Foundry</a:t>
            </a:r>
            <a:r>
              <a:rPr lang="fr-FR" dirty="0"/>
              <a:t> (anciennement connu sous le nom d'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AI Studio</a:t>
            </a:r>
            <a:r>
              <a:rPr lang="fr-FR" dirty="0"/>
              <a:t> ou 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AI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Foundry</a:t>
            </a:r>
            <a:r>
              <a:rPr lang="fr-FR" dirty="0"/>
              <a:t>) est la plateforme unifiée de Microsoft pour concevoir, tester, déployer et gérer des applications et des agents d'intelligence artificielle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AI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fr-FR" dirty="0"/>
              <a:t> (anciennement </a:t>
            </a:r>
            <a:r>
              <a:rPr lang="fr-FR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Cognitive </a:t>
            </a:r>
            <a:r>
              <a:rPr lang="fr-FR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fr-FR" dirty="0"/>
              <a:t>) est un service de recherche cloud géré de Microsoft qui permet d'ajouter des capacités de recherche avancées et propulsées par l'intelligence artificielle à vos applications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App Service, Azure Container Apps (ACA) et Azure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 (AKS) </a:t>
            </a:r>
            <a:r>
              <a:rPr lang="fr-F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 </a:t>
            </a:r>
            <a:r>
              <a:rPr lang="fr-FR" dirty="0"/>
              <a:t>trois services majeurs de Microsoft Azure pour héberger des applications, mais ils ciblent des besoins et des niveaux de contrôle très différents.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Pour le calcule des couts avec Azure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https://azure.microsoft.com/fr-fr/pricing/calculator/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1B8132-A69F-68F6-C6EA-75AFAC97D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5302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Succès du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</a:t>
            </a:r>
            <a:r>
              <a:rPr lang="fr-FR" dirty="0">
                <a:effectLst/>
              </a:rPr>
              <a:t> 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Faisabilité technique</a:t>
            </a:r>
            <a:r>
              <a:rPr lang="fr-FR" dirty="0">
                <a:effectLst/>
              </a:rPr>
              <a:t> 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segmentation exploitable</a:t>
            </a:r>
            <a:r>
              <a:rPr lang="fr-FR" dirty="0">
                <a:effectLst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exploitables</a:t>
            </a:r>
            <a:r>
              <a:rPr lang="fr-FR" dirty="0">
                <a:effectLst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caractéristiques suffisamment fiables</a:t>
            </a:r>
            <a:r>
              <a:rPr lang="fr-FR" dirty="0">
                <a:effectLst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Pertinence</a:t>
            </a:r>
            <a:r>
              <a:rPr lang="fr-FR" dirty="0">
                <a:effectLst/>
              </a:rPr>
              <a:t>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 de compatibilité performant</a:t>
            </a:r>
            <a:r>
              <a:rPr lang="fr-FR" dirty="0">
                <a:effectLst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recommandations Top-K pertinentes</a:t>
            </a:r>
            <a:r>
              <a:rPr lang="fr-FR" dirty="0">
                <a:effectLst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Valeur métier</a:t>
            </a:r>
            <a:r>
              <a:rPr lang="fr-FR" dirty="0">
                <a:effectLst/>
              </a:rPr>
              <a:t> 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meilleure personnalisation que la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</a:t>
            </a:r>
            <a:r>
              <a:rPr lang="fr-FR" dirty="0">
                <a:effectLst/>
              </a:rPr>
              <a:t>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37745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Cela permet de vérifier que la chaîne fonctionne correctement</a:t>
            </a:r>
            <a:endParaRPr lang="fr-FR" dirty="0"/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Modèle de compatibilité: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Pour chaque tenue connue du </a:t>
            </a:r>
            <a:r>
              <a:rPr lang="fr-FR" dirty="0" err="1"/>
              <a:t>dataset</a:t>
            </a:r>
            <a:r>
              <a:rPr lang="fr-FR" dirty="0"/>
              <a:t>, on masque un vêtement et on demande au système de le retrouver à partir des autres vêtements.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3448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6B5E7-C7C6-107C-C27C-E97758B52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B4ECCEC-EC60-CF2D-103D-8E1F21B00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BD2C0A1-226E-56D0-65D4-628AD923D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a représentation visuelle seule est-elle suffisante ?</a:t>
            </a:r>
            <a:endParaRPr lang="fr-FR" dirty="0"/>
          </a:p>
          <a:p>
            <a:r>
              <a:rPr lang="fr-FR" dirty="0"/>
              <a:t>→ comparer A et B.</a:t>
            </a:r>
          </a:p>
          <a:p>
            <a:r>
              <a:rPr lang="fr-FR" b="1" dirty="0"/>
              <a:t>La compatibilité apporte-t-elle quelque chose par rapport à la simple similarité ?</a:t>
            </a:r>
            <a:endParaRPr lang="fr-FR" dirty="0"/>
          </a:p>
          <a:p>
            <a:r>
              <a:rPr lang="fr-FR" dirty="0"/>
              <a:t>→ comparer B et D.</a:t>
            </a:r>
          </a:p>
          <a:p>
            <a:r>
              <a:rPr lang="fr-FR" b="1" dirty="0"/>
              <a:t>Les caractéristiques apportent-elles une amélioration ?</a:t>
            </a:r>
            <a:endParaRPr lang="fr-FR" dirty="0"/>
          </a:p>
          <a:p>
            <a:r>
              <a:rPr lang="fr-FR" dirty="0"/>
              <a:t>→ comparer C et D.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CCA88C-A64E-7470-15A8-2395A8DC5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12146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déterminer avec le métier quel niveau de pertinence rend la fonctionnalité exploitable.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42973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8802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593ddc2c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593ddc2c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dirty="0"/>
              <a:t>POC</a:t>
            </a:r>
            <a:endParaRPr lang="fr-FR" dirty="0"/>
          </a:p>
          <a:p>
            <a:r>
              <a:rPr lang="fr-FR" dirty="0"/>
              <a:t>COPROJ : début POC </a:t>
            </a:r>
          </a:p>
          <a:p>
            <a:r>
              <a:rPr lang="fr-FR" dirty="0"/>
              <a:t>COPROJ : après préparation du jeu de test </a:t>
            </a:r>
          </a:p>
          <a:p>
            <a:r>
              <a:rPr lang="fr-FR" dirty="0"/>
              <a:t>COPROJ : point intermédiaire sur les résultats </a:t>
            </a:r>
          </a:p>
          <a:p>
            <a:r>
              <a:rPr lang="fr-FR" dirty="0"/>
              <a:t>COPROJ : avant synthèse </a:t>
            </a:r>
          </a:p>
          <a:p>
            <a:r>
              <a:rPr lang="fr-FR" b="1" dirty="0"/>
              <a:t>COPIL : fin POC → GO / NO-GO MVP</a:t>
            </a:r>
            <a:r>
              <a:rPr lang="fr-FR" dirty="0"/>
              <a:t> </a:t>
            </a:r>
          </a:p>
          <a:p>
            <a:r>
              <a:rPr lang="fr-FR" b="1" dirty="0"/>
              <a:t>MVP</a:t>
            </a:r>
            <a:endParaRPr lang="fr-FR" dirty="0"/>
          </a:p>
          <a:p>
            <a:r>
              <a:rPr lang="fr-FR" dirty="0"/>
              <a:t>COPROJ : lancement MVP </a:t>
            </a:r>
          </a:p>
          <a:p>
            <a:r>
              <a:rPr lang="fr-FR" dirty="0"/>
              <a:t>COPROJ : point architecture/développement </a:t>
            </a:r>
          </a:p>
          <a:p>
            <a:r>
              <a:rPr lang="fr-FR" dirty="0"/>
              <a:t>COPROJ : point validation </a:t>
            </a:r>
          </a:p>
          <a:p>
            <a:r>
              <a:rPr lang="fr-FR" b="1" dirty="0"/>
              <a:t>COPIL : fin MVP → GO / NO-GO RUN</a:t>
            </a:r>
            <a:r>
              <a:rPr lang="fr-FR" dirty="0"/>
              <a:t> </a:t>
            </a:r>
          </a:p>
          <a:p>
            <a:r>
              <a:rPr lang="fr-FR" b="1" dirty="0"/>
              <a:t>RUN</a:t>
            </a:r>
            <a:endParaRPr lang="fr-FR" dirty="0"/>
          </a:p>
          <a:p>
            <a:r>
              <a:rPr lang="fr-FR" dirty="0"/>
              <a:t>COPROJ : suivi opérationnel régulier </a:t>
            </a:r>
          </a:p>
          <a:p>
            <a:r>
              <a:rPr lang="fr-FR" b="1" dirty="0"/>
              <a:t>COPIL : revue périodique</a:t>
            </a:r>
            <a:r>
              <a:rPr lang="fr-FR" dirty="0"/>
              <a:t> des KPI, coûts, qualité et feuille de route.</a:t>
            </a:r>
          </a:p>
          <a:p>
            <a:endParaRPr lang="fr-FR" dirty="0"/>
          </a:p>
          <a:p>
            <a:r>
              <a:rPr lang="fr-FR" dirty="0"/>
              <a:t>POC</a:t>
            </a:r>
          </a:p>
          <a:p>
            <a:r>
              <a:rPr lang="fr-FR" dirty="0"/>
              <a:t>Le </a:t>
            </a:r>
            <a:r>
              <a:rPr lang="fr-FR" b="1" dirty="0"/>
              <a:t>Data </a:t>
            </a:r>
            <a:r>
              <a:rPr lang="fr-FR" b="1" dirty="0" err="1"/>
              <a:t>Scientist</a:t>
            </a:r>
            <a:r>
              <a:rPr lang="fr-FR" dirty="0"/>
              <a:t> est le profil principal du POC : préparation du protocole, </a:t>
            </a:r>
            <a:r>
              <a:rPr lang="fr-FR" dirty="0" err="1"/>
              <a:t>embeddings</a:t>
            </a:r>
            <a:r>
              <a:rPr lang="fr-FR" dirty="0"/>
              <a:t>, similarité, modèle de compatibilité et évaluation.</a:t>
            </a:r>
          </a:p>
          <a:p>
            <a:r>
              <a:rPr lang="fr-FR" dirty="0"/>
              <a:t>Le </a:t>
            </a:r>
            <a:r>
              <a:rPr lang="fr-FR" b="1" dirty="0"/>
              <a:t>Data </a:t>
            </a:r>
            <a:r>
              <a:rPr lang="fr-FR" b="1" dirty="0" err="1"/>
              <a:t>Engineer</a:t>
            </a:r>
            <a:r>
              <a:rPr lang="fr-FR" dirty="0"/>
              <a:t> est surtout sollicité pour préparer et structurer les données. Sa charge diminue une fois le jeu de test disponible.</a:t>
            </a:r>
          </a:p>
          <a:p>
            <a:r>
              <a:rPr lang="fr-FR" dirty="0"/>
              <a:t>Le </a:t>
            </a:r>
            <a:r>
              <a:rPr lang="fr-FR" b="1" dirty="0"/>
              <a:t>Tech Lead Data</a:t>
            </a:r>
            <a:r>
              <a:rPr lang="fr-FR" dirty="0"/>
              <a:t> intervient ponctuellement pour valider l'architecture et les choix techniques.</a:t>
            </a:r>
          </a:p>
          <a:p>
            <a:r>
              <a:rPr lang="fr-FR" dirty="0"/>
              <a:t>Le </a:t>
            </a:r>
            <a:r>
              <a:rPr lang="fr-FR" b="1" dirty="0"/>
              <a:t>ML Ops</a:t>
            </a:r>
            <a:r>
              <a:rPr lang="fr-FR" dirty="0"/>
              <a:t> intervient peu au début, puis davantage lorsque les modèles doivent être évalués dans des conditions proches du déploiement.</a:t>
            </a:r>
          </a:p>
          <a:p>
            <a:endParaRPr lang="fr-FR" dirty="0"/>
          </a:p>
          <a:p>
            <a:r>
              <a:rPr lang="fr-FR" dirty="0"/>
              <a:t>MVP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8FD7-E763-8A8C-EE8E-694901B1A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75FB3C6-27AC-E8EF-601A-A14E65F40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99DFB0E-C59D-5C1F-6362-789F10059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EF8B46-58A7-A125-A538-8E0F87663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7388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3612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CA Hypothèse Progression </a:t>
            </a:r>
            <a:r>
              <a:rPr lang="fr-FR" dirty="0"/>
              <a:t>: atteint exactement les 14 % à 24 mois et évite de supposer que l'effet commercial est immédiatement linéaire.</a:t>
            </a:r>
          </a:p>
          <a:p>
            <a:endParaRPr lang="fr-FR" b="1" dirty="0"/>
          </a:p>
          <a:p>
            <a:r>
              <a:rPr lang="fr-FR" b="1" dirty="0"/>
              <a:t>Progression CA Cumulé </a:t>
            </a:r>
            <a:r>
              <a:rPr lang="fr-FR" dirty="0"/>
              <a:t>: Surplus de CA par rapport à 2024</a:t>
            </a:r>
          </a:p>
          <a:p>
            <a:endParaRPr lang="fr-FR" dirty="0"/>
          </a:p>
          <a:p>
            <a:r>
              <a:rPr lang="fr-FR" b="1" dirty="0"/>
              <a:t>Coûts Cumulé </a:t>
            </a:r>
            <a:r>
              <a:rPr lang="fr-FR" dirty="0"/>
              <a:t>: Cout de départ + Couts mensuels</a:t>
            </a:r>
          </a:p>
          <a:p>
            <a:endParaRPr lang="fr-FR" dirty="0"/>
          </a:p>
          <a:p>
            <a:r>
              <a:rPr lang="fr-FR" b="1" dirty="0"/>
              <a:t>Gain Net Cumulé </a:t>
            </a:r>
            <a:r>
              <a:rPr lang="fr-FR" dirty="0"/>
              <a:t>: CA (Hypo-</a:t>
            </a:r>
            <a:r>
              <a:rPr lang="fr-FR" dirty="0" err="1"/>
              <a:t>Ref</a:t>
            </a:r>
            <a:r>
              <a:rPr lang="fr-FR" dirty="0"/>
              <a:t>) – Coûts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2383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2947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DD21BB-1CE0-7901-61C2-3B24602F7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FD5469-6BA4-AEC3-A5B7-904EBCD32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6950A4-FD24-F065-8B74-E0880991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A8E2FC-709B-0B0C-C029-EBF71BD70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22FCD2-5031-5192-6F55-08DC40C0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84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2D063F-8D80-4D91-22E2-D3DEBF06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231B1F-F03E-7638-E4A4-4125EF0AF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59CBFB-7FCF-D142-FAD6-7826CF3F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54CE63-EB05-D633-249F-5A775A114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AE44CA-E21D-5601-228B-BF77BD1E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61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F48CDE-C309-59C4-4895-0A4BBFF9F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0C6CFE-E1FD-D0F4-6F08-5B9A36337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24640F-D135-A307-6D41-393B432B8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984362-0410-3E83-E073-F7F8009A1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5F0DB1-2B9E-7E60-5988-AEF189FF6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04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3FC0A3-466C-4402-CC05-2C760C56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82F9EE-E6E9-63EA-CCB5-E1390FB64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FB9B13-53D0-3EDC-C6AC-052A16943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8CC1C4-4FDC-953F-0161-CA3C4FA71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8EB0905-5001-CF99-4B0C-4886C62D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5FE4F4-019B-60F5-CD1D-BA4689D0C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73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5D6C3A-C82D-4D1D-2005-62EAE28A0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216FAF-EC17-1EDD-2BEF-A5ED41265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A0FD0E4-0D98-904D-CAB3-B048FDD35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3080324-FC3B-5BA8-64C8-7DF5FA3EF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13B409B-857E-1C2A-E03E-B0FFE187D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8982A2E-A67E-3B0B-A6F3-DE0906837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33CFF35-20A1-0B0F-2D60-0744DB5D5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4A7FD97-F161-6EE1-74EE-652DA1FE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802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CDBB13-8CA2-FA7B-C3C8-EEB3DB605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50E2318-6E16-F401-B279-2202461F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5834A39-D4BC-0C8F-50E8-46B3F88C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30EE6B-C09A-94C7-6B0F-7E4EC221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12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F4F0933-72DA-E507-0159-F34CCA911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1B07705-56D7-EC36-E832-FCEEA99BB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A17672-C458-F1AF-C153-E98EA3804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733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B0213D-5179-8CEB-DBB0-4B8A16480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9A7073-C342-4670-0A3D-C1A748902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AB8202E-D7E3-1708-CD37-2631CF80F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2D6FC1-9165-CFDB-916F-7517EED9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B14E1F-C985-1235-1E21-3BC8A2AB5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AFCD46-3388-4030-3AB6-2567CA3E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73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97292C-130C-97BF-1F27-E960A7E70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A8B82CE-728F-4C07-214A-B649716ACA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6D5A2F-69C8-4EB0-4EE9-429E6AD6A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E789A3-0747-DC6A-E48F-A508E1C91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923689-F78B-B593-D149-2FEC6134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242A2B-08DB-4614-F5EC-340D91AA1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1541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9AA423-CEDB-9333-2D70-1477C63B3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2D7517C-4A32-C725-A9A4-35038922C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579B0D-EC4D-E8EE-125F-B9782A55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F14A52-F46D-C764-67DB-5EF3A880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E0F349-990C-42DE-2C83-8A9F5BD6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18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20F6AD7-2C3E-337C-C915-248B46EDD5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8491BC-9B74-18A8-CE89-91CFBC7B0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69A1F4-F529-4E90-AAC4-7E83A613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C5E071-7399-1927-27A7-870D6B7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A2405C-10FF-4A73-0165-EBEA4658F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5321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821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4001160-7BC7-DA17-AE3A-7E976507F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99B181-B603-F483-F517-AAE033C3B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B8419E-9B0D-2480-6D28-3A2431ACD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4EF5E-5CA6-42F0-B583-013C857A1C28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5911B9-1B6C-D2A5-A9C9-F6A3260782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5886C3-2DD9-73CC-F407-F7101F980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18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package" Target="../embeddings/Microsoft_Excel_Worksheet2.xlsx"/><Relationship Id="rId4" Type="http://schemas.openxmlformats.org/officeDocument/2006/relationships/image" Target="../media/image8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011564-E175-E802-3D69-6D7695DDA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033"/>
            <a:ext cx="10515600" cy="1039467"/>
          </a:xfrm>
          <a:noFill/>
        </p:spPr>
        <p:txBody>
          <a:bodyPr/>
          <a:lstStyle/>
          <a:p>
            <a:pPr algn="ctr"/>
            <a:r>
              <a:rPr lang="fr-FR" cap="small" dirty="0">
                <a:latin typeface="Arial Black" panose="020B0A04020102020204" pitchFamily="34" charset="0"/>
              </a:rPr>
              <a:t>Cadrage Projet IA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367092-174E-FF50-EBDD-9C556A60D1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72" y="1027906"/>
            <a:ext cx="10515600" cy="41481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267;p34">
            <a:extLst>
              <a:ext uri="{FF2B5EF4-FFF2-40B4-BE49-F238E27FC236}">
                <a16:creationId xmlns:a16="http://schemas.microsoft.com/office/drawing/2014/main" id="{D69C45F6-759A-E5AE-CF10-AD7D38C57117}"/>
              </a:ext>
            </a:extLst>
          </p:cNvPr>
          <p:cNvSpPr txBox="1">
            <a:spLocks/>
          </p:cNvSpPr>
          <p:nvPr/>
        </p:nvSpPr>
        <p:spPr>
          <a:xfrm>
            <a:off x="309820" y="5614361"/>
            <a:ext cx="6233928" cy="11537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fr-FR" sz="3600" i="1" dirty="0">
                <a:solidFill>
                  <a:schemeClr val="bg1">
                    <a:lumMod val="50000"/>
                  </a:schemeClr>
                </a:solidFill>
              </a:rPr>
              <a:t>Formation Développeur IA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sz="3600" i="1" dirty="0">
                <a:solidFill>
                  <a:schemeClr val="bg1">
                    <a:lumMod val="50000"/>
                  </a:schemeClr>
                </a:solidFill>
              </a:rPr>
              <a:t>Septembre 2026</a:t>
            </a:r>
          </a:p>
        </p:txBody>
      </p:sp>
      <p:sp>
        <p:nvSpPr>
          <p:cNvPr id="5" name="Google Shape;267;p34">
            <a:extLst>
              <a:ext uri="{FF2B5EF4-FFF2-40B4-BE49-F238E27FC236}">
                <a16:creationId xmlns:a16="http://schemas.microsoft.com/office/drawing/2014/main" id="{238A8E7D-3DF6-7D82-87F9-14C7E9E7DD24}"/>
              </a:ext>
            </a:extLst>
          </p:cNvPr>
          <p:cNvSpPr txBox="1">
            <a:spLocks/>
          </p:cNvSpPr>
          <p:nvPr/>
        </p:nvSpPr>
        <p:spPr>
          <a:xfrm>
            <a:off x="309820" y="5149824"/>
            <a:ext cx="2667000" cy="456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fr-FR" sz="2400" i="1" dirty="0">
                <a:solidFill>
                  <a:schemeClr val="accent1">
                    <a:lumMod val="75000"/>
                  </a:schemeClr>
                </a:solidFill>
              </a:rPr>
              <a:t>Thomas AUGUEY</a:t>
            </a:r>
          </a:p>
        </p:txBody>
      </p:sp>
      <p:pic>
        <p:nvPicPr>
          <p:cNvPr id="6" name="Picture 6" descr="OpenClassrooms | Spreadshop">
            <a:extLst>
              <a:ext uri="{FF2B5EF4-FFF2-40B4-BE49-F238E27FC236}">
                <a16:creationId xmlns:a16="http://schemas.microsoft.com/office/drawing/2014/main" id="{3FBC5416-E130-D775-C779-637BD3416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3296" y="6036921"/>
            <a:ext cx="3648884" cy="654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627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F47304-A677-F55B-B5DE-7B0262529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02272"/>
          </a:xfrm>
        </p:spPr>
        <p:txBody>
          <a:bodyPr/>
          <a:lstStyle/>
          <a:p>
            <a:r>
              <a:rPr lang="fr-FR" dirty="0"/>
              <a:t>Contexte et Objectif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57530C9-4457-F5E1-E0A9-3614B28FE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10118"/>
            <a:ext cx="9144000" cy="3818964"/>
          </a:xfrm>
        </p:spPr>
        <p:txBody>
          <a:bodyPr>
            <a:normAutofit/>
          </a:bodyPr>
          <a:lstStyle/>
          <a:p>
            <a:r>
              <a:rPr lang="fr-FR" b="1" dirty="0"/>
              <a:t>Besoin métier</a:t>
            </a:r>
          </a:p>
          <a:p>
            <a:r>
              <a:rPr lang="fr-FR" dirty="0"/>
              <a:t>Proposer aux utilisateurs de </a:t>
            </a:r>
            <a:r>
              <a:rPr lang="fr-FR" dirty="0" err="1"/>
              <a:t>FashionInsta</a:t>
            </a:r>
            <a:r>
              <a:rPr lang="fr-FR" dirty="0"/>
              <a:t> des recommandations d’articles personnalisées, adaptées à leur profil et à leurs préférences, au sein d’une application mobile.</a:t>
            </a:r>
          </a:p>
          <a:p>
            <a:endParaRPr lang="fr-FR" dirty="0"/>
          </a:p>
          <a:p>
            <a:r>
              <a:rPr lang="fr-FR" b="1" dirty="0"/>
              <a:t>Objectif de ce POC</a:t>
            </a:r>
          </a:p>
          <a:p>
            <a:r>
              <a:rPr lang="fr-FR" dirty="0"/>
              <a:t>Valider la faisabilité technique d’une solution IA/ML pour la recommandation personnalisée, à travers un périmètre volontairement restreint permettant une expérimentation rapide.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4628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213A-4121-8045-8B96-F206B6FD0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EA7BA9-DF68-23C7-47A3-65E3B1A91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5482"/>
            <a:ext cx="9144000" cy="1387755"/>
          </a:xfrm>
        </p:spPr>
        <p:txBody>
          <a:bodyPr/>
          <a:lstStyle/>
          <a:p>
            <a:r>
              <a:rPr lang="fr-FR" dirty="0"/>
              <a:t>Besoin métier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6D39539-8546-959C-BAF4-41CED0714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8007"/>
            <a:ext cx="9144000" cy="4334511"/>
          </a:xfrm>
        </p:spPr>
        <p:txBody>
          <a:bodyPr>
            <a:normAutofit fontScale="92500" lnSpcReduction="20000"/>
          </a:bodyPr>
          <a:lstStyle/>
          <a:p>
            <a:r>
              <a:rPr lang="fr-FR" b="1" dirty="0"/>
              <a:t>Constat</a:t>
            </a:r>
            <a:endParaRPr lang="fr-FR" dirty="0"/>
          </a:p>
          <a:p>
            <a:r>
              <a:rPr lang="fr-FR" dirty="0"/>
              <a:t>Les utilisateurs disposent d'un volume important de contenus/produits parmi lesquels il est difficile d'identifier rapidement ceux qui correspondent à leurs attentes.</a:t>
            </a:r>
          </a:p>
          <a:p>
            <a:endParaRPr lang="fr-FR" b="1" dirty="0"/>
          </a:p>
          <a:p>
            <a:r>
              <a:rPr lang="fr-FR" b="1" dirty="0"/>
              <a:t>Besoin</a:t>
            </a:r>
            <a:endParaRPr lang="fr-FR" dirty="0"/>
          </a:p>
          <a:p>
            <a:r>
              <a:rPr lang="fr-FR" dirty="0"/>
              <a:t>Mettre en place un outil capable de proposer automatiquement à chaque utilisateur des recommandations personnalisées à partir de son profil et de son comportement.</a:t>
            </a:r>
          </a:p>
          <a:p>
            <a:endParaRPr lang="fr-FR" b="1" dirty="0"/>
          </a:p>
          <a:p>
            <a:r>
              <a:rPr lang="fr-FR" b="1" dirty="0"/>
              <a:t>Objectif métier</a:t>
            </a:r>
            <a:endParaRPr lang="fr-FR" dirty="0"/>
          </a:p>
          <a:p>
            <a:r>
              <a:rPr lang="fr-FR" dirty="0"/>
              <a:t>Améliorer la pertinence des contenus proposés et faciliter la découverte de contenus susceptibles d'intéresser l'utilisateur.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5999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18AB8-946B-C921-ACFB-55D435792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B19122-2CBC-3E71-F841-06B2A0631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PoC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D11D098-E146-3011-F39C-973CA78D06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Proof of Concept</a:t>
            </a:r>
          </a:p>
        </p:txBody>
      </p:sp>
    </p:spTree>
    <p:extLst>
      <p:ext uri="{BB962C8B-B14F-4D97-AF65-F5344CB8AC3E}">
        <p14:creationId xmlns:p14="http://schemas.microsoft.com/office/powerpoint/2010/main" val="3824137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3390E-DB1D-BD20-E2C7-BCACE1031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F06571-9862-3925-3138-EA086E36E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9624"/>
            <a:ext cx="9144000" cy="1288676"/>
          </a:xfrm>
        </p:spPr>
        <p:txBody>
          <a:bodyPr/>
          <a:lstStyle/>
          <a:p>
            <a:r>
              <a:rPr lang="fr-FR" dirty="0"/>
              <a:t>Fonctionnalité centrale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FC90CBF-97C8-2953-EDBB-78FAD0818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70100"/>
            <a:ext cx="9144000" cy="4438276"/>
          </a:xfrm>
        </p:spPr>
        <p:txBody>
          <a:bodyPr>
            <a:normAutofit fontScale="92500" lnSpcReduction="20000"/>
          </a:bodyPr>
          <a:lstStyle/>
          <a:p>
            <a:r>
              <a:rPr lang="fr-FR" sz="3000" b="1" dirty="0"/>
              <a:t>Générer une liste d’articles personnalisée pour chaque utilisateur.</a:t>
            </a:r>
            <a:endParaRPr lang="fr-FR" sz="3000" dirty="0"/>
          </a:p>
          <a:p>
            <a:r>
              <a:rPr lang="fr-FR" u="sng" dirty="0"/>
              <a:t>À partir des informations disponibles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/>
              <a:t>Identifier</a:t>
            </a:r>
            <a:r>
              <a:rPr lang="fr-FR" dirty="0"/>
              <a:t> les articles susceptibles de correspondre à ses préférences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/>
              <a:t>Classer</a:t>
            </a:r>
            <a:r>
              <a:rPr lang="fr-FR" dirty="0"/>
              <a:t> les articles par niveau de pertinence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/>
              <a:t>Proposer</a:t>
            </a:r>
            <a:r>
              <a:rPr lang="fr-FR" dirty="0"/>
              <a:t> les articles de façon cohérente à l’utilisateur</a:t>
            </a:r>
          </a:p>
          <a:p>
            <a:endParaRPr lang="fr-FR" b="1" dirty="0"/>
          </a:p>
          <a:p>
            <a:r>
              <a:rPr lang="fr-FR" b="1" dirty="0"/>
              <a:t>Entrées</a:t>
            </a:r>
            <a:br>
              <a:rPr lang="fr-FR" dirty="0"/>
            </a:br>
            <a:r>
              <a:rPr lang="fr-FR" dirty="0"/>
              <a:t>Profil utilisateur + garde robe + caractéristiques des articles (catalogue)</a:t>
            </a:r>
          </a:p>
          <a:p>
            <a:endParaRPr lang="fr-FR" b="1" dirty="0"/>
          </a:p>
          <a:p>
            <a:r>
              <a:rPr lang="fr-FR" b="1" dirty="0"/>
              <a:t>Sortie</a:t>
            </a:r>
            <a:br>
              <a:rPr lang="fr-FR" dirty="0"/>
            </a:br>
            <a:r>
              <a:rPr lang="fr-FR" dirty="0"/>
              <a:t>Une liste d’articles recommandés, classés par pertinence.</a:t>
            </a:r>
          </a:p>
        </p:txBody>
      </p:sp>
    </p:spTree>
    <p:extLst>
      <p:ext uri="{BB962C8B-B14F-4D97-AF65-F5344CB8AC3E}">
        <p14:creationId xmlns:p14="http://schemas.microsoft.com/office/powerpoint/2010/main" val="1357774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F7802-B14C-BA96-AACD-F5B3FF0D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AE7D39-4309-1DD2-9CDA-58AF9AE9F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1399"/>
            <a:ext cx="9144000" cy="1109849"/>
          </a:xfrm>
        </p:spPr>
        <p:txBody>
          <a:bodyPr/>
          <a:lstStyle/>
          <a:p>
            <a:r>
              <a:rPr lang="fr-FR" dirty="0"/>
              <a:t>Périmètre du </a:t>
            </a:r>
            <a:r>
              <a:rPr lang="fr-FR" dirty="0" err="1"/>
              <a:t>PoC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BF51F8F-852A-CA2E-F3A4-6A5D75E95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412" y="1703296"/>
            <a:ext cx="5692588" cy="4912656"/>
          </a:xfrm>
        </p:spPr>
        <p:txBody>
          <a:bodyPr>
            <a:normAutofit/>
          </a:bodyPr>
          <a:lstStyle/>
          <a:p>
            <a:r>
              <a:rPr lang="fr-FR" sz="4000" b="1" dirty="0" err="1"/>
              <a:t>PoC</a:t>
            </a:r>
            <a:endParaRPr lang="fr-FR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Identifier les données nécessaires à la recommandation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Expérimenter plusieurs approches IA/ML de recommandation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Évaluer la pertinence des recommandations à l'aide de métriques métier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Comparer les approches et identifier les conditions nécessaires à une future industrialisation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26705A7B-EE01-A4C4-780E-6E8B6CA11603}"/>
              </a:ext>
            </a:extLst>
          </p:cNvPr>
          <p:cNvSpPr txBox="1">
            <a:spLocks/>
          </p:cNvSpPr>
          <p:nvPr/>
        </p:nvSpPr>
        <p:spPr>
          <a:xfrm>
            <a:off x="6096000" y="1703295"/>
            <a:ext cx="5889812" cy="491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/>
              <a:t>Hors </a:t>
            </a:r>
            <a:r>
              <a:rPr lang="fr-FR" sz="4000" b="1" dirty="0" err="1"/>
              <a:t>PoC</a:t>
            </a:r>
            <a:endParaRPr lang="fr-FR" sz="4000" b="1" dirty="0"/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Développement de l'application mobile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Gestion des comptes et Authentification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Développement des fonctionnalités métier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Mise en production et industrialisation de la solution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Constitution d'une base de données utilisateurs réels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Personnalisation des photos (couleurs, tailles, etc…)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98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1C1C-A256-7D75-3215-6413C849E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CFC6DEA6-B676-523D-5B19-6265CC3A2AC3}"/>
              </a:ext>
            </a:extLst>
          </p:cNvPr>
          <p:cNvSpPr/>
          <p:nvPr/>
        </p:nvSpPr>
        <p:spPr>
          <a:xfrm>
            <a:off x="7848600" y="1523944"/>
            <a:ext cx="4231192" cy="50311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2800" dirty="0"/>
              <a:t>Liste d’articles</a:t>
            </a:r>
          </a:p>
        </p:txBody>
      </p:sp>
      <p:sp>
        <p:nvSpPr>
          <p:cNvPr id="30" name="Flèche : bas 29">
            <a:extLst>
              <a:ext uri="{FF2B5EF4-FFF2-40B4-BE49-F238E27FC236}">
                <a16:creationId xmlns:a16="http://schemas.microsoft.com/office/drawing/2014/main" id="{2C72839E-0856-BFD9-57E1-47C17B1B3EEE}"/>
              </a:ext>
            </a:extLst>
          </p:cNvPr>
          <p:cNvSpPr/>
          <p:nvPr/>
        </p:nvSpPr>
        <p:spPr>
          <a:xfrm rot="16200000">
            <a:off x="371320" y="3551109"/>
            <a:ext cx="1084881" cy="775206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E17E9EE5-2841-12C1-70DD-20DDAE98D52C}"/>
              </a:ext>
            </a:extLst>
          </p:cNvPr>
          <p:cNvGrpSpPr/>
          <p:nvPr/>
        </p:nvGrpSpPr>
        <p:grpSpPr>
          <a:xfrm>
            <a:off x="1805006" y="5412055"/>
            <a:ext cx="4437036" cy="1143000"/>
            <a:chOff x="108488" y="2654511"/>
            <a:chExt cx="4230392" cy="20603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F2BACC-DAAC-62EC-C509-F2342D8A032E}"/>
                </a:ext>
              </a:extLst>
            </p:cNvPr>
            <p:cNvSpPr/>
            <p:nvPr/>
          </p:nvSpPr>
          <p:spPr>
            <a:xfrm>
              <a:off x="108488" y="2654511"/>
              <a:ext cx="4230392" cy="206035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2800" dirty="0"/>
                <a:t>(Contexte)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A9B9C14A-ECFB-6B95-C353-D4ED933974F3}"/>
                </a:ext>
              </a:extLst>
            </p:cNvPr>
            <p:cNvSpPr/>
            <p:nvPr/>
          </p:nvSpPr>
          <p:spPr>
            <a:xfrm>
              <a:off x="385519" y="3681702"/>
              <a:ext cx="3596900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Tendances actuelles</a:t>
              </a:r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FCD10F60-7074-5A2A-DB58-606E4094D822}"/>
              </a:ext>
            </a:extLst>
          </p:cNvPr>
          <p:cNvGrpSpPr/>
          <p:nvPr/>
        </p:nvGrpSpPr>
        <p:grpSpPr>
          <a:xfrm>
            <a:off x="1805006" y="3135792"/>
            <a:ext cx="4437036" cy="2065856"/>
            <a:chOff x="6096000" y="2620069"/>
            <a:chExt cx="4230392" cy="389380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5951EA5-CEB5-50C9-1741-CD3F707E1ED1}"/>
                </a:ext>
              </a:extLst>
            </p:cNvPr>
            <p:cNvSpPr/>
            <p:nvPr/>
          </p:nvSpPr>
          <p:spPr>
            <a:xfrm>
              <a:off x="6096000" y="2620069"/>
              <a:ext cx="4230392" cy="389380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2800" dirty="0"/>
                <a:t>Catalogue</a:t>
              </a:r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02950634-5787-7FDE-B6AF-6BCF0F7F5F8E}"/>
                </a:ext>
              </a:extLst>
            </p:cNvPr>
            <p:cNvSpPr/>
            <p:nvPr/>
          </p:nvSpPr>
          <p:spPr>
            <a:xfrm>
              <a:off x="6373031" y="3647261"/>
              <a:ext cx="3596900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Image des articles</a:t>
              </a:r>
            </a:p>
          </p:txBody>
        </p:sp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9FE3D03B-C8B5-B6F3-541C-B4B84510DF76}"/>
                </a:ext>
              </a:extLst>
            </p:cNvPr>
            <p:cNvSpPr/>
            <p:nvPr/>
          </p:nvSpPr>
          <p:spPr>
            <a:xfrm>
              <a:off x="6357359" y="4310242"/>
              <a:ext cx="3612572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Description</a:t>
              </a:r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0A235298-7C93-11F1-D4CC-B8E936313423}"/>
                </a:ext>
              </a:extLst>
            </p:cNvPr>
            <p:cNvSpPr/>
            <p:nvPr/>
          </p:nvSpPr>
          <p:spPr>
            <a:xfrm>
              <a:off x="6357359" y="4973223"/>
              <a:ext cx="3612572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Catégorie</a:t>
              </a:r>
            </a:p>
          </p:txBody>
        </p:sp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5D73B4CB-E46A-C666-3C68-D93AA1351DF1}"/>
                </a:ext>
              </a:extLst>
            </p:cNvPr>
            <p:cNvSpPr/>
            <p:nvPr/>
          </p:nvSpPr>
          <p:spPr>
            <a:xfrm>
              <a:off x="6357359" y="5636204"/>
              <a:ext cx="3612572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Tags, Prix, autres </a:t>
              </a:r>
              <a:r>
                <a:rPr lang="fr-FR" sz="1400" dirty="0" err="1"/>
                <a:t>méta-données</a:t>
              </a:r>
              <a:r>
                <a:rPr lang="fr-FR" sz="1400" dirty="0"/>
                <a:t>…</a:t>
              </a: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FE66C0FA-381B-C130-E341-29EDEB007FC4}"/>
              </a:ext>
            </a:extLst>
          </p:cNvPr>
          <p:cNvGrpSpPr/>
          <p:nvPr/>
        </p:nvGrpSpPr>
        <p:grpSpPr>
          <a:xfrm>
            <a:off x="1805006" y="1523944"/>
            <a:ext cx="4437036" cy="1401442"/>
            <a:chOff x="108488" y="2654511"/>
            <a:chExt cx="4230392" cy="252622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E9B42E2-2A66-3857-2754-5B469DC59830}"/>
                </a:ext>
              </a:extLst>
            </p:cNvPr>
            <p:cNvSpPr/>
            <p:nvPr/>
          </p:nvSpPr>
          <p:spPr>
            <a:xfrm>
              <a:off x="108488" y="2654511"/>
              <a:ext cx="4230392" cy="252622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2800" dirty="0"/>
                <a:t>Utilisateur</a:t>
              </a:r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DA352765-8502-4448-3E5C-AFADA04E820E}"/>
                </a:ext>
              </a:extLst>
            </p:cNvPr>
            <p:cNvSpPr/>
            <p:nvPr/>
          </p:nvSpPr>
          <p:spPr>
            <a:xfrm>
              <a:off x="385519" y="3681702"/>
              <a:ext cx="3596900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Photos de la garde-robe</a:t>
              </a:r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9C27605C-7C24-7B83-638F-7DAEAEF8A583}"/>
                </a:ext>
              </a:extLst>
            </p:cNvPr>
            <p:cNvSpPr/>
            <p:nvPr/>
          </p:nvSpPr>
          <p:spPr>
            <a:xfrm>
              <a:off x="369847" y="4344683"/>
              <a:ext cx="3612572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Préférences de styles</a:t>
              </a:r>
            </a:p>
          </p:txBody>
        </p:sp>
      </p:grpSp>
      <p:sp>
        <p:nvSpPr>
          <p:cNvPr id="27" name="ZoneTexte 26">
            <a:extLst>
              <a:ext uri="{FF2B5EF4-FFF2-40B4-BE49-F238E27FC236}">
                <a16:creationId xmlns:a16="http://schemas.microsoft.com/office/drawing/2014/main" id="{4D917CC3-506D-CD79-CF1F-2A11DFFD8D2C}"/>
              </a:ext>
            </a:extLst>
          </p:cNvPr>
          <p:cNvSpPr txBox="1"/>
          <p:nvPr/>
        </p:nvSpPr>
        <p:spPr>
          <a:xfrm>
            <a:off x="112208" y="2501062"/>
            <a:ext cx="1603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cap="small" dirty="0"/>
              <a:t>Entrée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A8F8F7-0A43-980F-1AED-124FFA5FBE43}"/>
              </a:ext>
            </a:extLst>
          </p:cNvPr>
          <p:cNvSpPr txBox="1"/>
          <p:nvPr/>
        </p:nvSpPr>
        <p:spPr>
          <a:xfrm>
            <a:off x="6511402" y="2666162"/>
            <a:ext cx="11875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cap="small" dirty="0"/>
              <a:t>Sortie</a:t>
            </a:r>
          </a:p>
        </p:txBody>
      </p:sp>
      <p:sp>
        <p:nvSpPr>
          <p:cNvPr id="31" name="Flèche : bas 30">
            <a:extLst>
              <a:ext uri="{FF2B5EF4-FFF2-40B4-BE49-F238E27FC236}">
                <a16:creationId xmlns:a16="http://schemas.microsoft.com/office/drawing/2014/main" id="{C9D4985A-148B-3A5F-29E3-E50107B96D02}"/>
              </a:ext>
            </a:extLst>
          </p:cNvPr>
          <p:cNvSpPr/>
          <p:nvPr/>
        </p:nvSpPr>
        <p:spPr>
          <a:xfrm rot="16200000">
            <a:off x="6610237" y="3551108"/>
            <a:ext cx="1084881" cy="775206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7145CBA2-210F-EFAB-5572-1DDCA1807267}"/>
              </a:ext>
            </a:extLst>
          </p:cNvPr>
          <p:cNvSpPr/>
          <p:nvPr/>
        </p:nvSpPr>
        <p:spPr>
          <a:xfrm>
            <a:off x="8063313" y="2749131"/>
            <a:ext cx="3772600" cy="4797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Article 1 : score 0,92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DEAE40DD-5DFE-128A-7413-C50B51FF561B}"/>
              </a:ext>
            </a:extLst>
          </p:cNvPr>
          <p:cNvSpPr/>
          <p:nvPr/>
        </p:nvSpPr>
        <p:spPr>
          <a:xfrm>
            <a:off x="8063313" y="3464734"/>
            <a:ext cx="3772600" cy="4797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Article 1 : score 0,87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CFB9F1C3-0502-D364-FE16-76D32EFD1A89}"/>
              </a:ext>
            </a:extLst>
          </p:cNvPr>
          <p:cNvSpPr/>
          <p:nvPr/>
        </p:nvSpPr>
        <p:spPr>
          <a:xfrm>
            <a:off x="8063313" y="4117677"/>
            <a:ext cx="3772600" cy="4797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Article 1 : score 0,84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87638537-358B-2D8E-05EE-CBB8541BC866}"/>
              </a:ext>
            </a:extLst>
          </p:cNvPr>
          <p:cNvSpPr/>
          <p:nvPr/>
        </p:nvSpPr>
        <p:spPr>
          <a:xfrm>
            <a:off x="8063313" y="4843499"/>
            <a:ext cx="3772600" cy="4797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…</a:t>
            </a:r>
          </a:p>
        </p:txBody>
      </p:sp>
      <p:sp>
        <p:nvSpPr>
          <p:cNvPr id="37" name="Titre 1">
            <a:extLst>
              <a:ext uri="{FF2B5EF4-FFF2-40B4-BE49-F238E27FC236}">
                <a16:creationId xmlns:a16="http://schemas.microsoft.com/office/drawing/2014/main" id="{7792A136-856B-9204-7235-A977C19EF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0521"/>
            <a:ext cx="12192000" cy="1012257"/>
          </a:xfrm>
        </p:spPr>
        <p:txBody>
          <a:bodyPr anchor="ctr">
            <a:normAutofit/>
          </a:bodyPr>
          <a:lstStyle/>
          <a:p>
            <a:r>
              <a:rPr lang="fr-FR" sz="5400" dirty="0"/>
              <a:t>Besoin =&gt; Problème ML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3839169-162B-6743-4B2B-2C900371E8D2}"/>
              </a:ext>
            </a:extLst>
          </p:cNvPr>
          <p:cNvSpPr txBox="1"/>
          <p:nvPr/>
        </p:nvSpPr>
        <p:spPr>
          <a:xfrm>
            <a:off x="393213" y="899931"/>
            <a:ext cx="12538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Prédire la pertinence des articles d’un utilisateur, puis classer les articles afin de sélectionner les </a:t>
            </a:r>
            <a:r>
              <a:rPr lang="fr-FR" b="1" dirty="0"/>
              <a:t>Top N recommandations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8102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98BD6-2285-7CAF-9691-B5F25D2A0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66AF9B-CE90-ED05-2A95-53E9C5E64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0465" y="1214377"/>
            <a:ext cx="4448014" cy="935752"/>
          </a:xfrm>
        </p:spPr>
        <p:txBody>
          <a:bodyPr>
            <a:normAutofit fontScale="90000"/>
          </a:bodyPr>
          <a:lstStyle/>
          <a:p>
            <a:r>
              <a:rPr lang="fr-FR" dirty="0"/>
              <a:t>(A Consolider)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53EE2062-1392-76BA-1461-44187966E9E8}"/>
              </a:ext>
            </a:extLst>
          </p:cNvPr>
          <p:cNvGrpSpPr/>
          <p:nvPr/>
        </p:nvGrpSpPr>
        <p:grpSpPr>
          <a:xfrm>
            <a:off x="944750" y="2377549"/>
            <a:ext cx="4448014" cy="3950068"/>
            <a:chOff x="108488" y="2094271"/>
            <a:chExt cx="4448014" cy="395006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5BEE4C-021C-B8AF-2AD8-C06AF32E1DDB}"/>
                </a:ext>
              </a:extLst>
            </p:cNvPr>
            <p:cNvSpPr/>
            <p:nvPr/>
          </p:nvSpPr>
          <p:spPr>
            <a:xfrm>
              <a:off x="108488" y="2094271"/>
              <a:ext cx="4448014" cy="3950068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3600" dirty="0"/>
                <a:t>Utilisateur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D9FA7C74-0893-28C1-B2AF-D59E57EFA8AC}"/>
                </a:ext>
              </a:extLst>
            </p:cNvPr>
            <p:cNvSpPr/>
            <p:nvPr/>
          </p:nvSpPr>
          <p:spPr>
            <a:xfrm>
              <a:off x="385519" y="2913680"/>
              <a:ext cx="1724185" cy="128635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Garde Robe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4C09E376-F447-052B-AADF-B3620C38FBD9}"/>
                </a:ext>
              </a:extLst>
            </p:cNvPr>
            <p:cNvSpPr/>
            <p:nvPr/>
          </p:nvSpPr>
          <p:spPr>
            <a:xfrm>
              <a:off x="2425483" y="2913680"/>
              <a:ext cx="1786178" cy="128635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Préférences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9FF1D9B4-44DD-2394-35C5-CAA7693D0F6F}"/>
                </a:ext>
              </a:extLst>
            </p:cNvPr>
            <p:cNvSpPr txBox="1"/>
            <p:nvPr/>
          </p:nvSpPr>
          <p:spPr>
            <a:xfrm>
              <a:off x="385519" y="4419285"/>
              <a:ext cx="178617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dirty="0"/>
                <a:t>Photos de l’utilisateur avec des vêtements qu’il possède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65352CC7-948D-6E08-545D-09E3F53FBCF1}"/>
                </a:ext>
              </a:extLst>
            </p:cNvPr>
            <p:cNvSpPr txBox="1"/>
            <p:nvPr/>
          </p:nvSpPr>
          <p:spPr>
            <a:xfrm>
              <a:off x="2369302" y="4419284"/>
              <a:ext cx="178617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dirty="0"/>
                <a:t>Marques, Styles, Influenceuses, blogs, tendances préférées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38CC611F-7075-EA39-8F27-69CB8F090144}"/>
              </a:ext>
            </a:extLst>
          </p:cNvPr>
          <p:cNvGrpSpPr/>
          <p:nvPr/>
        </p:nvGrpSpPr>
        <p:grpSpPr>
          <a:xfrm>
            <a:off x="6800464" y="2377549"/>
            <a:ext cx="4448014" cy="3950068"/>
            <a:chOff x="108488" y="2094271"/>
            <a:chExt cx="4448014" cy="395006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C0D53A3-0A99-D03E-7F16-F589E56DB98A}"/>
                </a:ext>
              </a:extLst>
            </p:cNvPr>
            <p:cNvSpPr/>
            <p:nvPr/>
          </p:nvSpPr>
          <p:spPr>
            <a:xfrm>
              <a:off x="108488" y="2094271"/>
              <a:ext cx="4448014" cy="395006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3600" dirty="0"/>
                <a:t>Fashion Insta</a:t>
              </a:r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32278593-82DA-12AF-85B2-F16157E28CA5}"/>
                </a:ext>
              </a:extLst>
            </p:cNvPr>
            <p:cNvSpPr/>
            <p:nvPr/>
          </p:nvSpPr>
          <p:spPr>
            <a:xfrm>
              <a:off x="432013" y="2913680"/>
              <a:ext cx="1724185" cy="128635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Catalogue</a:t>
              </a:r>
            </a:p>
          </p:txBody>
        </p:sp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8F4BB81F-EDAD-FB26-F27F-819A0CF7D8C5}"/>
                </a:ext>
              </a:extLst>
            </p:cNvPr>
            <p:cNvSpPr/>
            <p:nvPr/>
          </p:nvSpPr>
          <p:spPr>
            <a:xfrm>
              <a:off x="2471977" y="2913680"/>
              <a:ext cx="1786178" cy="128635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Tendances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F0F38440-B3A8-E528-8D55-EF67713EDF54}"/>
                </a:ext>
              </a:extLst>
            </p:cNvPr>
            <p:cNvSpPr txBox="1"/>
            <p:nvPr/>
          </p:nvSpPr>
          <p:spPr>
            <a:xfrm>
              <a:off x="432013" y="4419285"/>
              <a:ext cx="1786179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dirty="0"/>
                <a:t>Images différents angles, description, prix, tags des styles de vêtement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6D011F79-7AC5-08FD-021E-44A41CE184B8}"/>
                </a:ext>
              </a:extLst>
            </p:cNvPr>
            <p:cNvSpPr txBox="1"/>
            <p:nvPr/>
          </p:nvSpPr>
          <p:spPr>
            <a:xfrm>
              <a:off x="2415796" y="4419284"/>
              <a:ext cx="178617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dirty="0"/>
                <a:t>Libellé des styles vendus dans le catalogue</a:t>
              </a:r>
            </a:p>
          </p:txBody>
        </p:sp>
      </p:grpSp>
      <p:sp>
        <p:nvSpPr>
          <p:cNvPr id="24" name="Titre 1">
            <a:extLst>
              <a:ext uri="{FF2B5EF4-FFF2-40B4-BE49-F238E27FC236}">
                <a16:creationId xmlns:a16="http://schemas.microsoft.com/office/drawing/2014/main" id="{9F2935A6-D500-BDB8-0ACC-292A44B1C76F}"/>
              </a:ext>
            </a:extLst>
          </p:cNvPr>
          <p:cNvSpPr txBox="1">
            <a:spLocks/>
          </p:cNvSpPr>
          <p:nvPr/>
        </p:nvSpPr>
        <p:spPr>
          <a:xfrm>
            <a:off x="944750" y="1214377"/>
            <a:ext cx="4448014" cy="9334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 Construire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806FEBD2-696A-E5D1-3FBF-7DB1A5784A9E}"/>
              </a:ext>
            </a:extLst>
          </p:cNvPr>
          <p:cNvSpPr txBox="1">
            <a:spLocks/>
          </p:cNvSpPr>
          <p:nvPr/>
        </p:nvSpPr>
        <p:spPr>
          <a:xfrm>
            <a:off x="0" y="100521"/>
            <a:ext cx="12192000" cy="1012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/>
              <a:t>Données nécessaires et disponibles</a:t>
            </a:r>
          </a:p>
        </p:txBody>
      </p:sp>
    </p:spTree>
    <p:extLst>
      <p:ext uri="{BB962C8B-B14F-4D97-AF65-F5344CB8AC3E}">
        <p14:creationId xmlns:p14="http://schemas.microsoft.com/office/powerpoint/2010/main" val="3154111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8AA4D-4343-7D95-054D-2500643DE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5AB0A6-EF46-6EED-82DF-18772A6907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Approche 1 :</a:t>
            </a:r>
            <a:br>
              <a:rPr lang="fr-FR" dirty="0"/>
            </a:br>
            <a:r>
              <a:rPr lang="fr-FR" dirty="0"/>
              <a:t>Recommandation par similarité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5ABA053-FA6D-68E8-436D-3AB27B8BB6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 quel autre vêtement se vêtement ressemble ?</a:t>
            </a:r>
          </a:p>
        </p:txBody>
      </p:sp>
    </p:spTree>
    <p:extLst>
      <p:ext uri="{BB962C8B-B14F-4D97-AF65-F5344CB8AC3E}">
        <p14:creationId xmlns:p14="http://schemas.microsoft.com/office/powerpoint/2010/main" val="644731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7FA34-4FE7-40E6-3B66-06C11477E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9439C8-F357-E8C3-5A17-CCC627FDF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017" y="294468"/>
            <a:ext cx="9144000" cy="6377150"/>
          </a:xfrm>
          <a:noFill/>
        </p:spPr>
        <p:txBody>
          <a:bodyPr anchor="ctr">
            <a:noAutofit/>
          </a:bodyPr>
          <a:lstStyle/>
          <a:p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Photo utilisateur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Segmentation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Vectorisation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Recherche d'articles similaires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Classement</a:t>
            </a:r>
          </a:p>
        </p:txBody>
      </p:sp>
    </p:spTree>
    <p:extLst>
      <p:ext uri="{BB962C8B-B14F-4D97-AF65-F5344CB8AC3E}">
        <p14:creationId xmlns:p14="http://schemas.microsoft.com/office/powerpoint/2010/main" val="1548437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49F78-6911-817E-0CD4-9371E9683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50788DF6-07B1-5552-69AD-DB68FB17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D'où vient le signal de similarité 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DAFF54A-6FCE-EF21-FA80-1F5A18944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0" y="1976853"/>
            <a:ext cx="2181529" cy="243874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0EA8286-8EFB-57AE-2CED-C09E4AD43949}"/>
              </a:ext>
            </a:extLst>
          </p:cNvPr>
          <p:cNvSpPr txBox="1"/>
          <p:nvPr/>
        </p:nvSpPr>
        <p:spPr>
          <a:xfrm>
            <a:off x="2546313" y="4518708"/>
            <a:ext cx="1584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Embedding A</a:t>
            </a:r>
          </a:p>
          <a:p>
            <a:pPr algn="ctr"/>
            <a:r>
              <a:rPr lang="fr-FR" dirty="0"/>
              <a:t>[0.8, 0.2, 0.6]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FA82769-8D61-7AC4-AA25-E47929A70AFD}"/>
              </a:ext>
            </a:extLst>
          </p:cNvPr>
          <p:cNvSpPr txBox="1"/>
          <p:nvPr/>
        </p:nvSpPr>
        <p:spPr>
          <a:xfrm>
            <a:off x="5828510" y="4518708"/>
            <a:ext cx="1584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Embedding B</a:t>
            </a:r>
          </a:p>
          <a:p>
            <a:pPr algn="ctr"/>
            <a:r>
              <a:rPr lang="fr-FR" dirty="0"/>
              <a:t>[0.7, 0.3, 0.5]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FC13D8B-3304-5B61-DB93-A5986C7179A2}"/>
              </a:ext>
            </a:extLst>
          </p:cNvPr>
          <p:cNvSpPr txBox="1"/>
          <p:nvPr/>
        </p:nvSpPr>
        <p:spPr>
          <a:xfrm>
            <a:off x="749300" y="2842279"/>
            <a:ext cx="11470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b="1" dirty="0"/>
              <a:t>+1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4969C26-CADF-1F60-8D97-4669D10BCBBB}"/>
              </a:ext>
            </a:extLst>
          </p:cNvPr>
          <p:cNvSpPr txBox="1"/>
          <p:nvPr/>
        </p:nvSpPr>
        <p:spPr>
          <a:xfrm>
            <a:off x="8641455" y="4518708"/>
            <a:ext cx="1584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Embedding C</a:t>
            </a:r>
          </a:p>
          <a:p>
            <a:pPr algn="ctr"/>
            <a:r>
              <a:rPr lang="fr-FR" dirty="0"/>
              <a:t>[0.1, 0.9, 0.2]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6BB5D92-830E-ABA4-FAB0-3BEF8CF3E775}"/>
              </a:ext>
            </a:extLst>
          </p:cNvPr>
          <p:cNvSpPr txBox="1"/>
          <p:nvPr/>
        </p:nvSpPr>
        <p:spPr>
          <a:xfrm>
            <a:off x="10226156" y="2873057"/>
            <a:ext cx="1235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/>
              <a:t>-1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A203028-44E3-13E3-C872-0FBE1A78D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693" y="1976853"/>
            <a:ext cx="1066227" cy="2418134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6832DFF4-C089-0FF7-03B5-4009B4C35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5889" y="2108478"/>
            <a:ext cx="2169944" cy="214471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493802DA-7CC0-3A79-11B2-08C6779532F9}"/>
              </a:ext>
            </a:extLst>
          </p:cNvPr>
          <p:cNvSpPr txBox="1"/>
          <p:nvPr/>
        </p:nvSpPr>
        <p:spPr>
          <a:xfrm>
            <a:off x="3667575" y="5491857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/>
              <a:t>On compare 2 vecteurs dans leur espace</a:t>
            </a:r>
          </a:p>
        </p:txBody>
      </p:sp>
    </p:spTree>
    <p:extLst>
      <p:ext uri="{BB962C8B-B14F-4D97-AF65-F5344CB8AC3E}">
        <p14:creationId xmlns:p14="http://schemas.microsoft.com/office/powerpoint/2010/main" val="881353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206792B-9D39-C28A-5C7D-FD245CE05FBD}"/>
              </a:ext>
            </a:extLst>
          </p:cNvPr>
          <p:cNvSpPr/>
          <p:nvPr/>
        </p:nvSpPr>
        <p:spPr>
          <a:xfrm>
            <a:off x="618186" y="4153145"/>
            <a:ext cx="11214100" cy="232752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CC15CF0-832B-5101-A9A3-7BF6F7A503A2}"/>
              </a:ext>
            </a:extLst>
          </p:cNvPr>
          <p:cNvSpPr/>
          <p:nvPr/>
        </p:nvSpPr>
        <p:spPr>
          <a:xfrm>
            <a:off x="618186" y="1690688"/>
            <a:ext cx="11214100" cy="232752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AC5E50E-37DD-04D9-F88F-BA02B8CE4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 b="1" dirty="0"/>
              <a:t>Exemple</a:t>
            </a:r>
            <a:endParaRPr lang="fr-FR" sz="6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0C8CC1-6600-255B-4C35-CD7673881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14100" cy="4351338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L'utilisateur possède :</a:t>
            </a:r>
          </a:p>
          <a:p>
            <a:r>
              <a:rPr lang="fr-FR" dirty="0"/>
              <a:t>Jean bleu</a:t>
            </a:r>
          </a:p>
          <a:p>
            <a:r>
              <a:rPr lang="fr-FR" dirty="0"/>
              <a:t>Veste noire</a:t>
            </a:r>
          </a:p>
          <a:p>
            <a:r>
              <a:rPr lang="fr-FR" dirty="0"/>
              <a:t>T-shirt blanc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/>
              <a:t>Le système recherche:</a:t>
            </a:r>
          </a:p>
          <a:p>
            <a:r>
              <a:rPr lang="fr-FR" dirty="0"/>
              <a:t>Articles (dans le catalogue) dont la représentation est proche de celles de la garde-robe et du profil utilisateur.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880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3F50C-01FA-05DF-6D11-27A618702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AFA4F8-FF70-8338-DDC7-A47D5921F4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Approche 2 :</a:t>
            </a:r>
            <a:br>
              <a:rPr lang="it-IT" dirty="0"/>
            </a:br>
            <a:r>
              <a:rPr lang="fr-FR" dirty="0"/>
              <a:t>Recommandation par compatibilité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EF3B5EA-D2B9-7907-4A5F-12E86B2C5D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Avec quels autres vêtements ce vêtement peut-il être associé ?</a:t>
            </a:r>
          </a:p>
        </p:txBody>
      </p:sp>
    </p:spTree>
    <p:extLst>
      <p:ext uri="{BB962C8B-B14F-4D97-AF65-F5344CB8AC3E}">
        <p14:creationId xmlns:p14="http://schemas.microsoft.com/office/powerpoint/2010/main" val="1823636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7A27C-EF4E-A0C4-2D67-1BBDA7FD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46F7EC-A0B7-AEFA-2D7C-63D30C66B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017" y="294468"/>
            <a:ext cx="9144000" cy="6377150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Photo utilisateur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Segmentation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Vectorisation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Recherche par compatibilité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Classement</a:t>
            </a:r>
          </a:p>
        </p:txBody>
      </p:sp>
    </p:spTree>
    <p:extLst>
      <p:ext uri="{BB962C8B-B14F-4D97-AF65-F5344CB8AC3E}">
        <p14:creationId xmlns:p14="http://schemas.microsoft.com/office/powerpoint/2010/main" val="3922114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EAB0A-06DB-0DDA-4F2F-A7457EF4F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285DC324-7A6A-8053-4672-8A05ACB5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D'où vient le signal de compatibilité ?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AF5B0648-CD21-DCAC-FDC0-0BDC83117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792016"/>
              </p:ext>
            </p:extLst>
          </p:nvPr>
        </p:nvGraphicFramePr>
        <p:xfrm>
          <a:off x="2243371" y="2284731"/>
          <a:ext cx="6027873" cy="1463040"/>
        </p:xfrm>
        <a:graphic>
          <a:graphicData uri="http://schemas.openxmlformats.org/drawingml/2006/table">
            <a:tbl>
              <a:tblPr/>
              <a:tblGrid>
                <a:gridCol w="2009291">
                  <a:extLst>
                    <a:ext uri="{9D8B030D-6E8A-4147-A177-3AD203B41FA5}">
                      <a16:colId xmlns:a16="http://schemas.microsoft.com/office/drawing/2014/main" val="2969228565"/>
                    </a:ext>
                  </a:extLst>
                </a:gridCol>
                <a:gridCol w="2009291">
                  <a:extLst>
                    <a:ext uri="{9D8B030D-6E8A-4147-A177-3AD203B41FA5}">
                      <a16:colId xmlns:a16="http://schemas.microsoft.com/office/drawing/2014/main" val="3677953315"/>
                    </a:ext>
                  </a:extLst>
                </a:gridCol>
                <a:gridCol w="2009291">
                  <a:extLst>
                    <a:ext uri="{9D8B030D-6E8A-4147-A177-3AD203B41FA5}">
                      <a16:colId xmlns:a16="http://schemas.microsoft.com/office/drawing/2014/main" val="2094220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Outfit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Vêtement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Vêtement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433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jean bleu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T-shirt blanc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921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O2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pantalon noir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chemise blanche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039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jupe noire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pull beige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621533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F8E05188-0A34-E35B-4265-B63248389F23}"/>
              </a:ext>
            </a:extLst>
          </p:cNvPr>
          <p:cNvSpPr txBox="1"/>
          <p:nvPr/>
        </p:nvSpPr>
        <p:spPr>
          <a:xfrm>
            <a:off x="1698997" y="1690688"/>
            <a:ext cx="9331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Dataset</a:t>
            </a:r>
            <a:r>
              <a:rPr lang="fr-FR" sz="2400" b="1" dirty="0"/>
              <a:t> existant (associations cohérentes)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06F6195A-D566-FA56-AB08-570501A66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084049"/>
              </p:ext>
            </p:extLst>
          </p:nvPr>
        </p:nvGraphicFramePr>
        <p:xfrm>
          <a:off x="2243371" y="4671101"/>
          <a:ext cx="6027873" cy="1463040"/>
        </p:xfrm>
        <a:graphic>
          <a:graphicData uri="http://schemas.openxmlformats.org/drawingml/2006/table">
            <a:tbl>
              <a:tblPr/>
              <a:tblGrid>
                <a:gridCol w="2009291">
                  <a:extLst>
                    <a:ext uri="{9D8B030D-6E8A-4147-A177-3AD203B41FA5}">
                      <a16:colId xmlns:a16="http://schemas.microsoft.com/office/drawing/2014/main" val="2969228565"/>
                    </a:ext>
                  </a:extLst>
                </a:gridCol>
                <a:gridCol w="2009291">
                  <a:extLst>
                    <a:ext uri="{9D8B030D-6E8A-4147-A177-3AD203B41FA5}">
                      <a16:colId xmlns:a16="http://schemas.microsoft.com/office/drawing/2014/main" val="3677953315"/>
                    </a:ext>
                  </a:extLst>
                </a:gridCol>
                <a:gridCol w="2009291">
                  <a:extLst>
                    <a:ext uri="{9D8B030D-6E8A-4147-A177-3AD203B41FA5}">
                      <a16:colId xmlns:a16="http://schemas.microsoft.com/office/drawing/2014/main" val="2094220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Outfit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Vêtement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Vêtement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433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jean bleu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robe rouge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921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O2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pantalon noir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maillot de bain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039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jupe noire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manteau de cuire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621533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B7A5482E-A56A-39D9-5174-B22FFF95982D}"/>
              </a:ext>
            </a:extLst>
          </p:cNvPr>
          <p:cNvSpPr txBox="1"/>
          <p:nvPr/>
        </p:nvSpPr>
        <p:spPr>
          <a:xfrm>
            <a:off x="1698997" y="4077058"/>
            <a:ext cx="9821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Dataset</a:t>
            </a:r>
            <a:r>
              <a:rPr lang="fr-FR" sz="2400" b="1" dirty="0"/>
              <a:t> construit (associations potentiellement incohérente)</a:t>
            </a:r>
          </a:p>
        </p:txBody>
      </p:sp>
      <p:sp>
        <p:nvSpPr>
          <p:cNvPr id="11" name="Flèche : courbe vers la gauche 10">
            <a:extLst>
              <a:ext uri="{FF2B5EF4-FFF2-40B4-BE49-F238E27FC236}">
                <a16:creationId xmlns:a16="http://schemas.microsoft.com/office/drawing/2014/main" id="{C2AFD99C-9F26-AEEC-91B9-F7C784C7020A}"/>
              </a:ext>
            </a:extLst>
          </p:cNvPr>
          <p:cNvSpPr/>
          <p:nvPr/>
        </p:nvSpPr>
        <p:spPr>
          <a:xfrm>
            <a:off x="10268918" y="2888476"/>
            <a:ext cx="1084882" cy="282233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5BD98B7-387F-6EA0-E693-A488668163B1}"/>
              </a:ext>
            </a:extLst>
          </p:cNvPr>
          <p:cNvSpPr txBox="1"/>
          <p:nvPr/>
        </p:nvSpPr>
        <p:spPr>
          <a:xfrm>
            <a:off x="9011612" y="2284731"/>
            <a:ext cx="90019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800" b="1" dirty="0"/>
              <a:t>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3187B84-5F58-3343-2C7C-7D32AEDAFC0E}"/>
              </a:ext>
            </a:extLst>
          </p:cNvPr>
          <p:cNvSpPr txBox="1"/>
          <p:nvPr/>
        </p:nvSpPr>
        <p:spPr>
          <a:xfrm>
            <a:off x="9011611" y="4679346"/>
            <a:ext cx="90019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800" b="1" dirty="0"/>
              <a:t>0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40E9456-CBD2-9650-7A79-E30B83D10E0F}"/>
              </a:ext>
            </a:extLst>
          </p:cNvPr>
          <p:cNvSpPr txBox="1"/>
          <p:nvPr/>
        </p:nvSpPr>
        <p:spPr>
          <a:xfrm>
            <a:off x="9011611" y="2185981"/>
            <a:ext cx="900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positifs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44B6A0D-DA2A-5A36-D523-B3C30979CEA9}"/>
              </a:ext>
            </a:extLst>
          </p:cNvPr>
          <p:cNvSpPr txBox="1"/>
          <p:nvPr/>
        </p:nvSpPr>
        <p:spPr>
          <a:xfrm>
            <a:off x="8928550" y="5875802"/>
            <a:ext cx="1066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 dirty="0"/>
              <a:t>négatifs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16DEBC6-53D8-D8B6-7E1A-AD3A418C217E}"/>
              </a:ext>
            </a:extLst>
          </p:cNvPr>
          <p:cNvSpPr txBox="1"/>
          <p:nvPr/>
        </p:nvSpPr>
        <p:spPr>
          <a:xfrm rot="16200000">
            <a:off x="-1057036" y="3633188"/>
            <a:ext cx="4294017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r-FR" sz="4000" b="1" dirty="0" err="1"/>
              <a:t>Dataset</a:t>
            </a:r>
            <a:r>
              <a:rPr lang="fr-FR" sz="4000" b="1" dirty="0"/>
              <a:t> </a:t>
            </a:r>
            <a:r>
              <a:rPr lang="fr-FR" sz="4000" b="1" dirty="0" err="1"/>
              <a:t>Outfits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4107969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59AEC-17B3-2DBF-E24D-929233F0E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DB2B0F6-01F4-BB3D-D727-95FA0685357B}"/>
              </a:ext>
            </a:extLst>
          </p:cNvPr>
          <p:cNvSpPr/>
          <p:nvPr/>
        </p:nvSpPr>
        <p:spPr>
          <a:xfrm>
            <a:off x="618186" y="4153145"/>
            <a:ext cx="11214100" cy="232752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EDB51332-BEA3-189E-E54B-97D449A7A50E}"/>
              </a:ext>
            </a:extLst>
          </p:cNvPr>
          <p:cNvSpPr/>
          <p:nvPr/>
        </p:nvSpPr>
        <p:spPr>
          <a:xfrm>
            <a:off x="618186" y="1690688"/>
            <a:ext cx="11214100" cy="232752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36C742D-9549-29A0-EABE-5BDE9A27B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 b="1" dirty="0"/>
              <a:t>Exemple</a:t>
            </a:r>
            <a:endParaRPr lang="fr-FR" sz="6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723CD7-48B8-9ACB-2AE1-6A81425F8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14100" cy="4351338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L'utilisateur possède :</a:t>
            </a:r>
          </a:p>
          <a:p>
            <a:r>
              <a:rPr lang="fr-FR" dirty="0"/>
              <a:t>Jean bleu</a:t>
            </a:r>
          </a:p>
          <a:p>
            <a:r>
              <a:rPr lang="fr-FR" dirty="0"/>
              <a:t>Veste noire</a:t>
            </a:r>
          </a:p>
          <a:p>
            <a:r>
              <a:rPr lang="fr-FR" dirty="0"/>
              <a:t>T-shirt blanc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/>
              <a:t>Le système recherche:</a:t>
            </a:r>
          </a:p>
          <a:p>
            <a:r>
              <a:rPr lang="fr-FR" dirty="0"/>
              <a:t>Articles (dans le catalogue) dont la compatibilité par paire est proche de celles de la garde-robe et du profil utilisateur.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9284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679DA1-3FD0-55DD-A9B9-4C53821F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Données nécessaires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DFAE38-C8A3-B52B-2C31-39332FA8F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Un </a:t>
            </a:r>
            <a:r>
              <a:rPr lang="fr-FR" dirty="0" err="1"/>
              <a:t>dataset</a:t>
            </a:r>
            <a:r>
              <a:rPr lang="fr-FR" dirty="0"/>
              <a:t> d'</a:t>
            </a:r>
            <a:r>
              <a:rPr lang="fr-FR" dirty="0" err="1"/>
              <a:t>outfits</a:t>
            </a:r>
            <a:r>
              <a:rPr lang="fr-FR" dirty="0"/>
              <a:t> permettant d'identifier individuellement les vêtements composant chaque </a:t>
            </a:r>
            <a:r>
              <a:rPr lang="fr-FR" dirty="0" err="1"/>
              <a:t>outfit</a:t>
            </a:r>
            <a:r>
              <a:rPr lang="fr-FR" dirty="0"/>
              <a:t>, idéalement avec une image individuelle, une catégorie et/ou des attributs pour chaque vêtement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Un </a:t>
            </a:r>
            <a:r>
              <a:rPr lang="fr-FR" dirty="0" err="1"/>
              <a:t>dataset</a:t>
            </a:r>
            <a:r>
              <a:rPr lang="fr-FR" dirty="0"/>
              <a:t> de photos d'utilisateurs portant différentes tenues</a:t>
            </a:r>
          </a:p>
        </p:txBody>
      </p:sp>
    </p:spTree>
    <p:extLst>
      <p:ext uri="{BB962C8B-B14F-4D97-AF65-F5344CB8AC3E}">
        <p14:creationId xmlns:p14="http://schemas.microsoft.com/office/powerpoint/2010/main" val="3522599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03B53E-7518-D6EF-3E46-E3B8BDE6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des deux approches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88E24AF0-3CD1-10B2-2400-B302CA5F5F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276809"/>
              </p:ext>
            </p:extLst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1926587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536947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148603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Similarité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Compatibilité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242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« À quoi cela ressemble ? 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« Avec quoi l'associer ? 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470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Données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Images + texte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Outfits + articles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033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Complexité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Faible à moyenne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Moyenne à élevée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592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Personnalisation garde robe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À construire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Plus naturelle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809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Données publiques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Nombreuses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Plus difficiles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730487"/>
                  </a:ext>
                </a:extLst>
              </a:tr>
              <a:tr h="121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Intérêt </a:t>
                      </a:r>
                      <a:r>
                        <a:rPr lang="fr-FR" b="1" dirty="0" err="1"/>
                        <a:t>PoC</a:t>
                      </a:r>
                      <a:endParaRPr lang="fr-FR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Approche avancée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858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Intérêt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Produits similaires ou équivalent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Tenue complète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234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507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EB095-8D42-91D5-92B7-F3C03C31A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E84C51-1B6E-C68C-F6CD-08F773D8A8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System Design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7E9525-26BF-3DFA-6DE9-757D7D79EB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Solution IA end-to-tend</a:t>
            </a:r>
          </a:p>
        </p:txBody>
      </p:sp>
    </p:spTree>
    <p:extLst>
      <p:ext uri="{BB962C8B-B14F-4D97-AF65-F5344CB8AC3E}">
        <p14:creationId xmlns:p14="http://schemas.microsoft.com/office/powerpoint/2010/main" val="2964753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E514C-0178-AB82-D3C3-85D16AB15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279DD633-715F-0439-4B67-053B37EBFF7C}"/>
              </a:ext>
            </a:extLst>
          </p:cNvPr>
          <p:cNvCxnSpPr>
            <a:cxnSpLocks/>
          </p:cNvCxnSpPr>
          <p:nvPr/>
        </p:nvCxnSpPr>
        <p:spPr>
          <a:xfrm>
            <a:off x="2099599" y="199444"/>
            <a:ext cx="0" cy="6515100"/>
          </a:xfrm>
          <a:prstGeom prst="line">
            <a:avLst/>
          </a:prstGeom>
          <a:ln w="60325">
            <a:solidFill>
              <a:schemeClr val="accent2">
                <a:lumMod val="20000"/>
                <a:lumOff val="8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132">
            <a:extLst>
              <a:ext uri="{FF2B5EF4-FFF2-40B4-BE49-F238E27FC236}">
                <a16:creationId xmlns:a16="http://schemas.microsoft.com/office/drawing/2014/main" id="{0828684A-2A6E-0F2F-187A-A6BCAF97ED5B}"/>
              </a:ext>
            </a:extLst>
          </p:cNvPr>
          <p:cNvCxnSpPr>
            <a:cxnSpLocks/>
          </p:cNvCxnSpPr>
          <p:nvPr/>
        </p:nvCxnSpPr>
        <p:spPr>
          <a:xfrm>
            <a:off x="4131065" y="199444"/>
            <a:ext cx="0" cy="6515100"/>
          </a:xfrm>
          <a:prstGeom prst="line">
            <a:avLst/>
          </a:prstGeom>
          <a:ln w="60325">
            <a:solidFill>
              <a:schemeClr val="accent2">
                <a:lumMod val="20000"/>
                <a:lumOff val="8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134">
            <a:extLst>
              <a:ext uri="{FF2B5EF4-FFF2-40B4-BE49-F238E27FC236}">
                <a16:creationId xmlns:a16="http://schemas.microsoft.com/office/drawing/2014/main" id="{97607F54-5D6F-7438-59BC-1112D07D8319}"/>
              </a:ext>
            </a:extLst>
          </p:cNvPr>
          <p:cNvCxnSpPr>
            <a:cxnSpLocks/>
          </p:cNvCxnSpPr>
          <p:nvPr/>
        </p:nvCxnSpPr>
        <p:spPr>
          <a:xfrm>
            <a:off x="6981642" y="199444"/>
            <a:ext cx="0" cy="6515100"/>
          </a:xfrm>
          <a:prstGeom prst="line">
            <a:avLst/>
          </a:prstGeom>
          <a:ln w="60325">
            <a:solidFill>
              <a:schemeClr val="accent2">
                <a:lumMod val="20000"/>
                <a:lumOff val="8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135">
            <a:extLst>
              <a:ext uri="{FF2B5EF4-FFF2-40B4-BE49-F238E27FC236}">
                <a16:creationId xmlns:a16="http://schemas.microsoft.com/office/drawing/2014/main" id="{066E3ADF-2030-DD2A-FBE4-5948A109B138}"/>
              </a:ext>
            </a:extLst>
          </p:cNvPr>
          <p:cNvCxnSpPr>
            <a:cxnSpLocks/>
          </p:cNvCxnSpPr>
          <p:nvPr/>
        </p:nvCxnSpPr>
        <p:spPr>
          <a:xfrm>
            <a:off x="9944050" y="199444"/>
            <a:ext cx="0" cy="6515100"/>
          </a:xfrm>
          <a:prstGeom prst="line">
            <a:avLst/>
          </a:prstGeom>
          <a:ln w="60325">
            <a:solidFill>
              <a:schemeClr val="accent2">
                <a:lumMod val="20000"/>
                <a:lumOff val="8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70E794E-05FC-52E2-6696-31D2158992BC}"/>
              </a:ext>
            </a:extLst>
          </p:cNvPr>
          <p:cNvSpPr/>
          <p:nvPr/>
        </p:nvSpPr>
        <p:spPr>
          <a:xfrm>
            <a:off x="363869" y="2847039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Photo Utilisateur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295539-6466-9BA4-1885-50664089F233}"/>
              </a:ext>
            </a:extLst>
          </p:cNvPr>
          <p:cNvSpPr/>
          <p:nvPr/>
        </p:nvSpPr>
        <p:spPr>
          <a:xfrm>
            <a:off x="2482421" y="2847039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Segmentation</a:t>
            </a:r>
          </a:p>
          <a:p>
            <a:pPr algn="ctr"/>
            <a:r>
              <a:rPr lang="fr-FR" sz="1200" dirty="0"/>
              <a:t>des vêtements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471CB1-8FD0-ECF0-7001-18F92542200D}"/>
              </a:ext>
            </a:extLst>
          </p:cNvPr>
          <p:cNvSpPr/>
          <p:nvPr/>
        </p:nvSpPr>
        <p:spPr>
          <a:xfrm>
            <a:off x="4827818" y="1683111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Embedding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819967-1F08-B4A2-A8C9-B2E335A3675F}"/>
              </a:ext>
            </a:extLst>
          </p:cNvPr>
          <p:cNvSpPr/>
          <p:nvPr/>
        </p:nvSpPr>
        <p:spPr>
          <a:xfrm>
            <a:off x="4827818" y="4104339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Caractéristiques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9B9869-2CE9-2AB8-5647-3ABB515F2CDA}"/>
              </a:ext>
            </a:extLst>
          </p:cNvPr>
          <p:cNvSpPr/>
          <p:nvPr/>
        </p:nvSpPr>
        <p:spPr>
          <a:xfrm>
            <a:off x="7754208" y="1688880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Similarité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E0F402-C015-3334-8B1C-B55C6F2C006C}"/>
              </a:ext>
            </a:extLst>
          </p:cNvPr>
          <p:cNvSpPr/>
          <p:nvPr/>
        </p:nvSpPr>
        <p:spPr>
          <a:xfrm>
            <a:off x="7754208" y="4104339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Compatibilité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B3880D-43B7-DA5A-AC3C-DFC492508D03}"/>
              </a:ext>
            </a:extLst>
          </p:cNvPr>
          <p:cNvSpPr/>
          <p:nvPr/>
        </p:nvSpPr>
        <p:spPr>
          <a:xfrm>
            <a:off x="10437707" y="2851999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Recommandation</a:t>
            </a:r>
          </a:p>
          <a:p>
            <a:pPr algn="ctr"/>
            <a:r>
              <a:rPr lang="fr-FR" sz="1200" dirty="0"/>
              <a:t>Top K</a:t>
            </a:r>
          </a:p>
        </p:txBody>
      </p: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4FAAFA1A-219A-29E1-6A47-FFEE84FD13B4}"/>
              </a:ext>
            </a:extLst>
          </p:cNvPr>
          <p:cNvGrpSpPr/>
          <p:nvPr/>
        </p:nvGrpSpPr>
        <p:grpSpPr>
          <a:xfrm>
            <a:off x="7335023" y="2178278"/>
            <a:ext cx="419185" cy="2415457"/>
            <a:chOff x="7729050" y="2178277"/>
            <a:chExt cx="419185" cy="2415457"/>
          </a:xfrm>
        </p:grpSpPr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59E0DF0D-FBB6-7F93-44A6-D9A70F5997C4}"/>
                </a:ext>
              </a:extLst>
            </p:cNvPr>
            <p:cNvSpPr/>
            <p:nvPr/>
          </p:nvSpPr>
          <p:spPr>
            <a:xfrm>
              <a:off x="7729050" y="3297426"/>
              <a:ext cx="93372" cy="93372"/>
            </a:xfrm>
            <a:prstGeom prst="ellipse">
              <a:avLst/>
            </a:prstGeom>
            <a:solidFill>
              <a:srgbClr val="4472C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9" name="Connecteur : en angle 38">
              <a:extLst>
                <a:ext uri="{FF2B5EF4-FFF2-40B4-BE49-F238E27FC236}">
                  <a16:creationId xmlns:a16="http://schemas.microsoft.com/office/drawing/2014/main" id="{BEE2B8F2-1A7D-E687-E7A2-7DB9F90C6415}"/>
                </a:ext>
              </a:extLst>
            </p:cNvPr>
            <p:cNvCxnSpPr>
              <a:cxnSpLocks/>
              <a:stCxn id="36" idx="0"/>
              <a:endCxn id="17" idx="1"/>
            </p:cNvCxnSpPr>
            <p:nvPr/>
          </p:nvCxnSpPr>
          <p:spPr>
            <a:xfrm rot="5400000" flipH="1" flipV="1">
              <a:off x="7402410" y="2551602"/>
              <a:ext cx="1119150" cy="37249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 : en angle 39">
              <a:extLst>
                <a:ext uri="{FF2B5EF4-FFF2-40B4-BE49-F238E27FC236}">
                  <a16:creationId xmlns:a16="http://schemas.microsoft.com/office/drawing/2014/main" id="{72A3DBEE-F977-C2BD-65E7-CABDCD22C4BA}"/>
                </a:ext>
              </a:extLst>
            </p:cNvPr>
            <p:cNvCxnSpPr>
              <a:cxnSpLocks/>
              <a:stCxn id="36" idx="4"/>
              <a:endCxn id="19" idx="1"/>
            </p:cNvCxnSpPr>
            <p:nvPr/>
          </p:nvCxnSpPr>
          <p:spPr>
            <a:xfrm rot="16200000" flipH="1">
              <a:off x="7360517" y="3806016"/>
              <a:ext cx="1202937" cy="37249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A1EFB9FE-D671-8954-4464-332CBAFFB103}"/>
              </a:ext>
            </a:extLst>
          </p:cNvPr>
          <p:cNvGrpSpPr/>
          <p:nvPr/>
        </p:nvGrpSpPr>
        <p:grpSpPr>
          <a:xfrm>
            <a:off x="4434498" y="2172508"/>
            <a:ext cx="393321" cy="2421227"/>
            <a:chOff x="7791001" y="2172509"/>
            <a:chExt cx="393321" cy="2421227"/>
          </a:xfrm>
        </p:grpSpPr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ACBF7E34-4738-0E59-83A2-7FA4B883AFF2}"/>
                </a:ext>
              </a:extLst>
            </p:cNvPr>
            <p:cNvSpPr/>
            <p:nvPr/>
          </p:nvSpPr>
          <p:spPr>
            <a:xfrm>
              <a:off x="7791001" y="3297428"/>
              <a:ext cx="93372" cy="93372"/>
            </a:xfrm>
            <a:prstGeom prst="ellipse">
              <a:avLst/>
            </a:prstGeom>
            <a:solidFill>
              <a:srgbClr val="4472C4"/>
            </a:solidFill>
            <a:ln w="412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60" name="Connecteur : en angle 59">
              <a:extLst>
                <a:ext uri="{FF2B5EF4-FFF2-40B4-BE49-F238E27FC236}">
                  <a16:creationId xmlns:a16="http://schemas.microsoft.com/office/drawing/2014/main" id="{9D7851BC-EE4F-5939-9968-C7C5CA17078D}"/>
                </a:ext>
              </a:extLst>
            </p:cNvPr>
            <p:cNvCxnSpPr>
              <a:cxnSpLocks/>
              <a:stCxn id="59" idx="0"/>
              <a:endCxn id="14" idx="1"/>
            </p:cNvCxnSpPr>
            <p:nvPr/>
          </p:nvCxnSpPr>
          <p:spPr>
            <a:xfrm rot="5400000" flipH="1" flipV="1">
              <a:off x="7448545" y="2561652"/>
              <a:ext cx="1124919" cy="346634"/>
            </a:xfrm>
            <a:prstGeom prst="bentConnector2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 : en angle 60">
              <a:extLst>
                <a:ext uri="{FF2B5EF4-FFF2-40B4-BE49-F238E27FC236}">
                  <a16:creationId xmlns:a16="http://schemas.microsoft.com/office/drawing/2014/main" id="{49BB77B4-4C52-1D00-81CB-87A5F1E90821}"/>
                </a:ext>
              </a:extLst>
            </p:cNvPr>
            <p:cNvCxnSpPr>
              <a:cxnSpLocks/>
              <a:stCxn id="59" idx="4"/>
              <a:endCxn id="15" idx="1"/>
            </p:cNvCxnSpPr>
            <p:nvPr/>
          </p:nvCxnSpPr>
          <p:spPr>
            <a:xfrm rot="16200000" flipH="1">
              <a:off x="7409536" y="3818951"/>
              <a:ext cx="1202937" cy="346634"/>
            </a:xfrm>
            <a:prstGeom prst="bentConnector2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B296D81B-F92C-CCCE-32D2-23FCAD6E5D63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1760323" y="3336436"/>
            <a:ext cx="7220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avec flèche 94">
            <a:extLst>
              <a:ext uri="{FF2B5EF4-FFF2-40B4-BE49-F238E27FC236}">
                <a16:creationId xmlns:a16="http://schemas.microsoft.com/office/drawing/2014/main" id="{E1FFD585-544B-82BF-12A9-D3590FE65D08}"/>
              </a:ext>
            </a:extLst>
          </p:cNvPr>
          <p:cNvCxnSpPr>
            <a:cxnSpLocks/>
            <a:stCxn id="12" idx="3"/>
            <a:endCxn id="59" idx="2"/>
          </p:cNvCxnSpPr>
          <p:nvPr/>
        </p:nvCxnSpPr>
        <p:spPr>
          <a:xfrm>
            <a:off x="3878875" y="3336436"/>
            <a:ext cx="555623" cy="76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e 109">
            <a:extLst>
              <a:ext uri="{FF2B5EF4-FFF2-40B4-BE49-F238E27FC236}">
                <a16:creationId xmlns:a16="http://schemas.microsoft.com/office/drawing/2014/main" id="{9918D12E-8685-0FD9-2EE0-AD9499677955}"/>
              </a:ext>
            </a:extLst>
          </p:cNvPr>
          <p:cNvGrpSpPr/>
          <p:nvPr/>
        </p:nvGrpSpPr>
        <p:grpSpPr>
          <a:xfrm flipH="1">
            <a:off x="6224273" y="2172508"/>
            <a:ext cx="410734" cy="2421229"/>
            <a:chOff x="8778234" y="2172508"/>
            <a:chExt cx="410734" cy="2421229"/>
          </a:xfrm>
        </p:grpSpPr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DFBD48F2-ABCE-02A8-FF24-6C9E466E941D}"/>
                </a:ext>
              </a:extLst>
            </p:cNvPr>
            <p:cNvSpPr/>
            <p:nvPr/>
          </p:nvSpPr>
          <p:spPr>
            <a:xfrm>
              <a:off x="8778234" y="3289750"/>
              <a:ext cx="93372" cy="93372"/>
            </a:xfrm>
            <a:prstGeom prst="ellipse">
              <a:avLst/>
            </a:prstGeom>
            <a:solidFill>
              <a:srgbClr val="4472C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12" name="Connecteur : en angle 111">
              <a:extLst>
                <a:ext uri="{FF2B5EF4-FFF2-40B4-BE49-F238E27FC236}">
                  <a16:creationId xmlns:a16="http://schemas.microsoft.com/office/drawing/2014/main" id="{5BFD916F-009D-7B29-BE26-812720FD2B9A}"/>
                </a:ext>
              </a:extLst>
            </p:cNvPr>
            <p:cNvCxnSpPr>
              <a:cxnSpLocks/>
              <a:stCxn id="111" idx="0"/>
              <a:endCxn id="14" idx="3"/>
            </p:cNvCxnSpPr>
            <p:nvPr/>
          </p:nvCxnSpPr>
          <p:spPr>
            <a:xfrm rot="5400000" flipH="1" flipV="1">
              <a:off x="8448323" y="2549104"/>
              <a:ext cx="1117242" cy="364049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 : en angle 112">
              <a:extLst>
                <a:ext uri="{FF2B5EF4-FFF2-40B4-BE49-F238E27FC236}">
                  <a16:creationId xmlns:a16="http://schemas.microsoft.com/office/drawing/2014/main" id="{898D506D-2706-99C7-3189-849BBC2BD240}"/>
                </a:ext>
              </a:extLst>
            </p:cNvPr>
            <p:cNvCxnSpPr>
              <a:cxnSpLocks/>
              <a:stCxn id="111" idx="4"/>
              <a:endCxn id="15" idx="3"/>
            </p:cNvCxnSpPr>
            <p:nvPr/>
          </p:nvCxnSpPr>
          <p:spPr>
            <a:xfrm rot="16200000" flipH="1">
              <a:off x="8401637" y="3806405"/>
              <a:ext cx="1210614" cy="364049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8" name="Connecteur droit avec flèche 117">
            <a:extLst>
              <a:ext uri="{FF2B5EF4-FFF2-40B4-BE49-F238E27FC236}">
                <a16:creationId xmlns:a16="http://schemas.microsoft.com/office/drawing/2014/main" id="{1E34FF63-1422-C365-55E4-3837E83BF4A7}"/>
              </a:ext>
            </a:extLst>
          </p:cNvPr>
          <p:cNvCxnSpPr>
            <a:cxnSpLocks/>
            <a:stCxn id="111" idx="2"/>
            <a:endCxn id="36" idx="2"/>
          </p:cNvCxnSpPr>
          <p:nvPr/>
        </p:nvCxnSpPr>
        <p:spPr>
          <a:xfrm>
            <a:off x="6635007" y="3336436"/>
            <a:ext cx="700016" cy="76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Groupe 120">
            <a:extLst>
              <a:ext uri="{FF2B5EF4-FFF2-40B4-BE49-F238E27FC236}">
                <a16:creationId xmlns:a16="http://schemas.microsoft.com/office/drawing/2014/main" id="{6F86DA3A-1CB7-097A-4BFC-2FF39876A49F}"/>
              </a:ext>
            </a:extLst>
          </p:cNvPr>
          <p:cNvGrpSpPr/>
          <p:nvPr/>
        </p:nvGrpSpPr>
        <p:grpSpPr>
          <a:xfrm flipH="1">
            <a:off x="9150663" y="2178277"/>
            <a:ext cx="381606" cy="2415460"/>
            <a:chOff x="8451764" y="2178277"/>
            <a:chExt cx="381606" cy="2415460"/>
          </a:xfrm>
        </p:grpSpPr>
        <p:sp>
          <p:nvSpPr>
            <p:cNvPr id="122" name="Ellipse 121">
              <a:extLst>
                <a:ext uri="{FF2B5EF4-FFF2-40B4-BE49-F238E27FC236}">
                  <a16:creationId xmlns:a16="http://schemas.microsoft.com/office/drawing/2014/main" id="{10614711-864C-56A2-05CC-88F1C2B3FDA4}"/>
                </a:ext>
              </a:extLst>
            </p:cNvPr>
            <p:cNvSpPr/>
            <p:nvPr/>
          </p:nvSpPr>
          <p:spPr>
            <a:xfrm>
              <a:off x="8451764" y="3294710"/>
              <a:ext cx="93372" cy="93372"/>
            </a:xfrm>
            <a:prstGeom prst="ellipse">
              <a:avLst/>
            </a:prstGeom>
            <a:solidFill>
              <a:srgbClr val="4472C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23" name="Connecteur : en angle 122">
              <a:extLst>
                <a:ext uri="{FF2B5EF4-FFF2-40B4-BE49-F238E27FC236}">
                  <a16:creationId xmlns:a16="http://schemas.microsoft.com/office/drawing/2014/main" id="{6A796959-0E7A-D9F0-413A-467AE4D999F0}"/>
                </a:ext>
              </a:extLst>
            </p:cNvPr>
            <p:cNvCxnSpPr>
              <a:cxnSpLocks/>
              <a:stCxn id="122" idx="0"/>
              <a:endCxn id="17" idx="3"/>
            </p:cNvCxnSpPr>
            <p:nvPr/>
          </p:nvCxnSpPr>
          <p:spPr>
            <a:xfrm rot="5400000" flipH="1" flipV="1">
              <a:off x="8107693" y="2569033"/>
              <a:ext cx="1116433" cy="334921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eur : en angle 123">
              <a:extLst>
                <a:ext uri="{FF2B5EF4-FFF2-40B4-BE49-F238E27FC236}">
                  <a16:creationId xmlns:a16="http://schemas.microsoft.com/office/drawing/2014/main" id="{57DD71FD-EADD-2E8C-6DAD-B415F46D3BF1}"/>
                </a:ext>
              </a:extLst>
            </p:cNvPr>
            <p:cNvCxnSpPr>
              <a:cxnSpLocks/>
              <a:stCxn id="122" idx="4"/>
              <a:endCxn id="19" idx="3"/>
            </p:cNvCxnSpPr>
            <p:nvPr/>
          </p:nvCxnSpPr>
          <p:spPr>
            <a:xfrm rot="16200000" flipH="1">
              <a:off x="8063083" y="3823449"/>
              <a:ext cx="1205654" cy="334921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9415BA70-852D-912D-F7E7-F68FB8D71277}"/>
              </a:ext>
            </a:extLst>
          </p:cNvPr>
          <p:cNvCxnSpPr>
            <a:cxnSpLocks/>
            <a:stCxn id="122" idx="2"/>
            <a:endCxn id="20" idx="1"/>
          </p:cNvCxnSpPr>
          <p:nvPr/>
        </p:nvCxnSpPr>
        <p:spPr>
          <a:xfrm>
            <a:off x="9532269" y="3341396"/>
            <a:ext cx="90543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ZoneTexte 137">
            <a:extLst>
              <a:ext uri="{FF2B5EF4-FFF2-40B4-BE49-F238E27FC236}">
                <a16:creationId xmlns:a16="http://schemas.microsoft.com/office/drawing/2014/main" id="{6FFEB258-E79D-A991-34B2-373C925BCDE3}"/>
              </a:ext>
            </a:extLst>
          </p:cNvPr>
          <p:cNvSpPr txBox="1"/>
          <p:nvPr/>
        </p:nvSpPr>
        <p:spPr>
          <a:xfrm>
            <a:off x="305331" y="4104339"/>
            <a:ext cx="1501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</a:t>
            </a:r>
          </a:p>
          <a:p>
            <a:pPr algn="ctr"/>
            <a:r>
              <a:rPr lang="fr-FR" sz="1200" dirty="0"/>
              <a:t>Blob Storage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53E16420-B521-E8AB-9261-5B56841827A1}"/>
              </a:ext>
            </a:extLst>
          </p:cNvPr>
          <p:cNvSpPr txBox="1"/>
          <p:nvPr/>
        </p:nvSpPr>
        <p:spPr>
          <a:xfrm>
            <a:off x="2433855" y="4060803"/>
            <a:ext cx="1501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</a:t>
            </a:r>
          </a:p>
          <a:p>
            <a:pPr algn="ctr"/>
            <a:r>
              <a:rPr lang="fr-FR" sz="1200" dirty="0"/>
              <a:t>Machine Learning</a:t>
            </a:r>
          </a:p>
        </p:txBody>
      </p:sp>
      <p:graphicFrame>
        <p:nvGraphicFramePr>
          <p:cNvPr id="141" name="Tableau 140">
            <a:extLst>
              <a:ext uri="{FF2B5EF4-FFF2-40B4-BE49-F238E27FC236}">
                <a16:creationId xmlns:a16="http://schemas.microsoft.com/office/drawing/2014/main" id="{9E24BAD7-FA82-4A37-486D-76A4F2C2B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177312"/>
              </p:ext>
            </p:extLst>
          </p:nvPr>
        </p:nvGraphicFramePr>
        <p:xfrm>
          <a:off x="176551" y="5991438"/>
          <a:ext cx="1741195" cy="457200"/>
        </p:xfrm>
        <a:graphic>
          <a:graphicData uri="http://schemas.openxmlformats.org/drawingml/2006/table">
            <a:tbl>
              <a:tblPr/>
              <a:tblGrid>
                <a:gridCol w="1741195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Stockage des photos utilisateur et catalogue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graphicFrame>
        <p:nvGraphicFramePr>
          <p:cNvPr id="142" name="Tableau 141">
            <a:extLst>
              <a:ext uri="{FF2B5EF4-FFF2-40B4-BE49-F238E27FC236}">
                <a16:creationId xmlns:a16="http://schemas.microsoft.com/office/drawing/2014/main" id="{C5C62944-A054-D69B-E4E2-DA353666E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993563"/>
              </p:ext>
            </p:extLst>
          </p:nvPr>
        </p:nvGraphicFramePr>
        <p:xfrm>
          <a:off x="2284240" y="5991438"/>
          <a:ext cx="1798741" cy="640080"/>
        </p:xfrm>
        <a:graphic>
          <a:graphicData uri="http://schemas.openxmlformats.org/drawingml/2006/table">
            <a:tbl>
              <a:tblPr/>
              <a:tblGrid>
                <a:gridCol w="1798741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Hébergement/exécution d'un modèle de segmentation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graphicFrame>
        <p:nvGraphicFramePr>
          <p:cNvPr id="144" name="Tableau 143">
            <a:extLst>
              <a:ext uri="{FF2B5EF4-FFF2-40B4-BE49-F238E27FC236}">
                <a16:creationId xmlns:a16="http://schemas.microsoft.com/office/drawing/2014/main" id="{215338D3-335E-F043-C296-4D10E4579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838302"/>
              </p:ext>
            </p:extLst>
          </p:nvPr>
        </p:nvGraphicFramePr>
        <p:xfrm>
          <a:off x="4675233" y="5991438"/>
          <a:ext cx="1691353" cy="640080"/>
        </p:xfrm>
        <a:graphic>
          <a:graphicData uri="http://schemas.openxmlformats.org/drawingml/2006/table">
            <a:tbl>
              <a:tblPr/>
              <a:tblGrid>
                <a:gridCol w="1691353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Modèle d'extraction/classification des attributs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graphicFrame>
        <p:nvGraphicFramePr>
          <p:cNvPr id="145" name="Tableau 144">
            <a:extLst>
              <a:ext uri="{FF2B5EF4-FFF2-40B4-BE49-F238E27FC236}">
                <a16:creationId xmlns:a16="http://schemas.microsoft.com/office/drawing/2014/main" id="{55FCE2B8-710A-6FEF-15FC-A4A99A295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725406"/>
              </p:ext>
            </p:extLst>
          </p:nvPr>
        </p:nvGraphicFramePr>
        <p:xfrm>
          <a:off x="7602712" y="5991438"/>
          <a:ext cx="1691353" cy="640080"/>
        </p:xfrm>
        <a:graphic>
          <a:graphicData uri="http://schemas.openxmlformats.org/drawingml/2006/table">
            <a:tbl>
              <a:tblPr/>
              <a:tblGrid>
                <a:gridCol w="1691353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Entraînement et déploiement du modèle </a:t>
                      </a:r>
                      <a:r>
                        <a:rPr lang="fr-FR" sz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pairwise</a:t>
                      </a:r>
                      <a:endParaRPr lang="fr-FR" sz="1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graphicFrame>
        <p:nvGraphicFramePr>
          <p:cNvPr id="146" name="Tableau 145">
            <a:extLst>
              <a:ext uri="{FF2B5EF4-FFF2-40B4-BE49-F238E27FC236}">
                <a16:creationId xmlns:a16="http://schemas.microsoft.com/office/drawing/2014/main" id="{18641115-8E67-B809-0CB6-A2A1EB8B7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140955"/>
              </p:ext>
            </p:extLst>
          </p:nvPr>
        </p:nvGraphicFramePr>
        <p:xfrm>
          <a:off x="10290257" y="5991438"/>
          <a:ext cx="1691353" cy="457200"/>
        </p:xfrm>
        <a:graphic>
          <a:graphicData uri="http://schemas.openxmlformats.org/drawingml/2006/table">
            <a:tbl>
              <a:tblPr/>
              <a:tblGrid>
                <a:gridCol w="1691353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Exposer le moteur (API) de recommandation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sp>
        <p:nvSpPr>
          <p:cNvPr id="148" name="ZoneTexte 147">
            <a:extLst>
              <a:ext uri="{FF2B5EF4-FFF2-40B4-BE49-F238E27FC236}">
                <a16:creationId xmlns:a16="http://schemas.microsoft.com/office/drawing/2014/main" id="{BF696C49-EAE8-612A-4245-3CD7648E2429}"/>
              </a:ext>
            </a:extLst>
          </p:cNvPr>
          <p:cNvSpPr txBox="1"/>
          <p:nvPr/>
        </p:nvSpPr>
        <p:spPr>
          <a:xfrm>
            <a:off x="4827819" y="5152600"/>
            <a:ext cx="1396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 Machine Learning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AA786923-547B-BF43-DDBC-1AC31E2C26EA}"/>
              </a:ext>
            </a:extLst>
          </p:cNvPr>
          <p:cNvSpPr txBox="1"/>
          <p:nvPr/>
        </p:nvSpPr>
        <p:spPr>
          <a:xfrm>
            <a:off x="7754209" y="5152600"/>
            <a:ext cx="1396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 Machine Learning</a:t>
            </a:r>
          </a:p>
        </p:txBody>
      </p:sp>
      <p:graphicFrame>
        <p:nvGraphicFramePr>
          <p:cNvPr id="181" name="Tableau 180">
            <a:extLst>
              <a:ext uri="{FF2B5EF4-FFF2-40B4-BE49-F238E27FC236}">
                <a16:creationId xmlns:a16="http://schemas.microsoft.com/office/drawing/2014/main" id="{31441E57-BC44-4B28-17B3-0B474111A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3669"/>
              </p:ext>
            </p:extLst>
          </p:nvPr>
        </p:nvGraphicFramePr>
        <p:xfrm>
          <a:off x="7602711" y="212938"/>
          <a:ext cx="1691353" cy="640080"/>
        </p:xfrm>
        <a:graphic>
          <a:graphicData uri="http://schemas.openxmlformats.org/drawingml/2006/table">
            <a:tbl>
              <a:tblPr/>
              <a:tblGrid>
                <a:gridCol w="1691353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Index vectoriel et recherche des vêtements similaires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sp>
        <p:nvSpPr>
          <p:cNvPr id="190" name="ZoneTexte 189">
            <a:extLst>
              <a:ext uri="{FF2B5EF4-FFF2-40B4-BE49-F238E27FC236}">
                <a16:creationId xmlns:a16="http://schemas.microsoft.com/office/drawing/2014/main" id="{A31E200B-65AD-B83E-3FE0-09D5E06AFED6}"/>
              </a:ext>
            </a:extLst>
          </p:cNvPr>
          <p:cNvSpPr txBox="1"/>
          <p:nvPr/>
        </p:nvSpPr>
        <p:spPr>
          <a:xfrm>
            <a:off x="7754208" y="1311707"/>
            <a:ext cx="1371930" cy="283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 AI </a:t>
            </a:r>
            <a:r>
              <a:rPr lang="fr-FR" sz="1200" dirty="0" err="1"/>
              <a:t>Search</a:t>
            </a:r>
            <a:endParaRPr lang="fr-FR" sz="1200" dirty="0"/>
          </a:p>
        </p:txBody>
      </p:sp>
      <p:sp>
        <p:nvSpPr>
          <p:cNvPr id="191" name="ZoneTexte 190">
            <a:extLst>
              <a:ext uri="{FF2B5EF4-FFF2-40B4-BE49-F238E27FC236}">
                <a16:creationId xmlns:a16="http://schemas.microsoft.com/office/drawing/2014/main" id="{9ED7E065-28FE-4494-D345-0CCFECC65623}"/>
              </a:ext>
            </a:extLst>
          </p:cNvPr>
          <p:cNvSpPr txBox="1"/>
          <p:nvPr/>
        </p:nvSpPr>
        <p:spPr>
          <a:xfrm>
            <a:off x="10377259" y="3991583"/>
            <a:ext cx="1501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 Container Apps / App Service / AKS</a:t>
            </a:r>
          </a:p>
        </p:txBody>
      </p:sp>
      <p:graphicFrame>
        <p:nvGraphicFramePr>
          <p:cNvPr id="192" name="Tableau 191">
            <a:extLst>
              <a:ext uri="{FF2B5EF4-FFF2-40B4-BE49-F238E27FC236}">
                <a16:creationId xmlns:a16="http://schemas.microsoft.com/office/drawing/2014/main" id="{2F230CB7-886C-8836-7FDC-2B0E85C63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608800"/>
              </p:ext>
            </p:extLst>
          </p:nvPr>
        </p:nvGraphicFramePr>
        <p:xfrm>
          <a:off x="4675233" y="212938"/>
          <a:ext cx="1691353" cy="457200"/>
        </p:xfrm>
        <a:graphic>
          <a:graphicData uri="http://schemas.openxmlformats.org/drawingml/2006/table">
            <a:tbl>
              <a:tblPr/>
              <a:tblGrid>
                <a:gridCol w="1691353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Hébergement du modèle d'</a:t>
                      </a:r>
                      <a:r>
                        <a:rPr lang="fr-FR" sz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embedding</a:t>
                      </a:r>
                      <a:endParaRPr lang="fr-FR" sz="1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sp>
        <p:nvSpPr>
          <p:cNvPr id="193" name="ZoneTexte 192">
            <a:extLst>
              <a:ext uri="{FF2B5EF4-FFF2-40B4-BE49-F238E27FC236}">
                <a16:creationId xmlns:a16="http://schemas.microsoft.com/office/drawing/2014/main" id="{623B5856-1FAC-4E7D-71D1-46CC1D160B55}"/>
              </a:ext>
            </a:extLst>
          </p:cNvPr>
          <p:cNvSpPr txBox="1"/>
          <p:nvPr/>
        </p:nvSpPr>
        <p:spPr>
          <a:xfrm>
            <a:off x="4773882" y="954718"/>
            <a:ext cx="1501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Azure Machine Learning / Microsoft Foundry</a:t>
            </a:r>
            <a:endParaRPr lang="fr-FR" sz="1200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D95CACC-624E-F88E-A273-61281A25493F}"/>
              </a:ext>
            </a:extLst>
          </p:cNvPr>
          <p:cNvSpPr/>
          <p:nvPr/>
        </p:nvSpPr>
        <p:spPr>
          <a:xfrm rot="16200000">
            <a:off x="7761417" y="2881982"/>
            <a:ext cx="1396454" cy="9787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>
                    <a:lumMod val="65000"/>
                  </a:schemeClr>
                </a:solidFill>
              </a:rPr>
              <a:t>Modèles de prédiction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F8A5F85-B85D-FD02-0271-3E8DF904C72B}"/>
              </a:ext>
            </a:extLst>
          </p:cNvPr>
          <p:cNvSpPr/>
          <p:nvPr/>
        </p:nvSpPr>
        <p:spPr>
          <a:xfrm rot="16200000">
            <a:off x="4827626" y="2881982"/>
            <a:ext cx="1396454" cy="9787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>
                    <a:lumMod val="65000"/>
                  </a:schemeClr>
                </a:solidFill>
              </a:rPr>
              <a:t>Représentation</a:t>
            </a:r>
          </a:p>
          <a:p>
            <a:pPr algn="ctr"/>
            <a:r>
              <a:rPr lang="fr-FR" sz="1200" dirty="0">
                <a:solidFill>
                  <a:schemeClr val="bg1">
                    <a:lumMod val="65000"/>
                  </a:schemeClr>
                </a:solidFill>
              </a:rPr>
              <a:t>du vêtement</a:t>
            </a:r>
          </a:p>
        </p:txBody>
      </p:sp>
    </p:spTree>
    <p:extLst>
      <p:ext uri="{BB962C8B-B14F-4D97-AF65-F5344CB8AC3E}">
        <p14:creationId xmlns:p14="http://schemas.microsoft.com/office/powerpoint/2010/main" val="3061022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E74E0-F6AB-C9BF-F687-86298B74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67667F-F149-B60E-1AA6-7BECB66533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Critères de succès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3BDE7BF-2760-AE8E-5346-F644AAD33A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 </a:t>
            </a:r>
            <a:r>
              <a:rPr lang="fr-FR" dirty="0" err="1"/>
              <a:t>PoC</a:t>
            </a:r>
            <a:r>
              <a:rPr lang="fr-FR" dirty="0"/>
              <a:t> sera considéré comme concluant s’il permet de démontrer qu’une recommandation personnalisée peut apporter une valeur mesurable pour </a:t>
            </a:r>
            <a:r>
              <a:rPr lang="fr-FR" dirty="0" err="1"/>
              <a:t>FashionInsta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101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F169D4-815A-2BFA-93EA-C21D476B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r-FR" altLang="fr-FR" dirty="0"/>
              <a:t>1. Évaluer chaque brique technique</a:t>
            </a:r>
            <a:endParaRPr lang="fr-FR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6A7D0DD-E523-0CAA-C2B6-CC6C70D43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572184"/>
              </p:ext>
            </p:extLst>
          </p:nvPr>
        </p:nvGraphicFramePr>
        <p:xfrm>
          <a:off x="1044262" y="2714051"/>
          <a:ext cx="10515600" cy="2133600"/>
        </p:xfrm>
        <a:graphic>
          <a:graphicData uri="http://schemas.openxmlformats.org/drawingml/2006/table">
            <a:tbl>
              <a:tblPr/>
              <a:tblGrid>
                <a:gridCol w="2458792">
                  <a:extLst>
                    <a:ext uri="{9D8B030D-6E8A-4147-A177-3AD203B41FA5}">
                      <a16:colId xmlns:a16="http://schemas.microsoft.com/office/drawing/2014/main" val="3319194609"/>
                    </a:ext>
                  </a:extLst>
                </a:gridCol>
                <a:gridCol w="4301543">
                  <a:extLst>
                    <a:ext uri="{9D8B030D-6E8A-4147-A177-3AD203B41FA5}">
                      <a16:colId xmlns:a16="http://schemas.microsoft.com/office/drawing/2014/main" val="2874097778"/>
                    </a:ext>
                  </a:extLst>
                </a:gridCol>
                <a:gridCol w="3755265">
                  <a:extLst>
                    <a:ext uri="{9D8B030D-6E8A-4147-A177-3AD203B41FA5}">
                      <a16:colId xmlns:a16="http://schemas.microsoft.com/office/drawing/2014/main" val="2708171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1" dirty="0"/>
                        <a:t>Brique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1" dirty="0"/>
                        <a:t>Ce que l'on vérifie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1" dirty="0"/>
                        <a:t>Métriques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12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Segmentation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 vêtement est correctement isolé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IoU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008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Embedding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Les vêtements similaires sont proches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Recall@K / similarité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96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Caractéristiques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Les attributs sont correctement identifiés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Accuracy / Precision / Recall / F1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03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Compatibilité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Les associations pertinentes sont correctement classées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Precision@K</a:t>
                      </a:r>
                      <a:r>
                        <a:rPr lang="fr-FR" dirty="0"/>
                        <a:t> / </a:t>
                      </a:r>
                      <a:r>
                        <a:rPr lang="fr-FR" dirty="0" err="1"/>
                        <a:t>Recall@K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674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232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0C5E-12A7-7862-45EF-2AC64CDE6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65B12B-3011-E8EA-97DC-1A70F464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2000" cy="1325563"/>
          </a:xfrm>
        </p:spPr>
        <p:txBody>
          <a:bodyPr/>
          <a:lstStyle/>
          <a:p>
            <a:r>
              <a:rPr lang="fr-FR" dirty="0"/>
              <a:t>2. Évaluer la valeur ajoutée des caractéristiques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FEA4F26D-2B6C-3EC1-856F-F5D6CC967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35760"/>
              </p:ext>
            </p:extLst>
          </p:nvPr>
        </p:nvGraphicFramePr>
        <p:xfrm>
          <a:off x="2000250" y="2733476"/>
          <a:ext cx="8191500" cy="1828800"/>
        </p:xfrm>
        <a:graphic>
          <a:graphicData uri="http://schemas.openxmlformats.org/drawingml/2006/table">
            <a:tbl>
              <a:tblPr/>
              <a:tblGrid>
                <a:gridCol w="2832100">
                  <a:extLst>
                    <a:ext uri="{9D8B030D-6E8A-4147-A177-3AD203B41FA5}">
                      <a16:colId xmlns:a16="http://schemas.microsoft.com/office/drawing/2014/main" val="1367119193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1649385846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1109441758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35649953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Expérience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/>
                        <a:t>Embedding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/>
                        <a:t>Caractéristiques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/>
                        <a:t>Compatibilité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430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A — 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fr-FR" b="1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fr-FR" b="1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716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B — Similarité enrichie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fr-FR" b="1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908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 — Compatibilité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fr-FR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61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D — Compatibilité enrichie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046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689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DEDA0-A9F4-E394-4773-A443A632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0671A4-F267-621B-B7F0-1DE575E0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Critères métier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082625-B5B1-65C4-4502-B27A0A71D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3200" u="sng" dirty="0"/>
              <a:t>Une recommandation est considérée comme pertinente:</a:t>
            </a:r>
          </a:p>
          <a:p>
            <a:r>
              <a:rPr lang="fr-FR" dirty="0"/>
              <a:t>correspond au style/préférences de l'utilisateur</a:t>
            </a:r>
          </a:p>
          <a:p>
            <a:r>
              <a:rPr lang="fr-FR" dirty="0"/>
              <a:t>complète de manière cohérente au moins une partie de sa garde-robe</a:t>
            </a:r>
          </a:p>
        </p:txBody>
      </p:sp>
      <p:pic>
        <p:nvPicPr>
          <p:cNvPr id="6146" name="Picture 2" descr="Matching Your Personality to Your Style - Image Intelligence">
            <a:extLst>
              <a:ext uri="{FF2B5EF4-FFF2-40B4-BE49-F238E27FC236}">
                <a16:creationId xmlns:a16="http://schemas.microsoft.com/office/drawing/2014/main" id="{A45D98D6-E279-344C-B32E-44193D611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499" y="3501468"/>
            <a:ext cx="5934075" cy="2991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931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3CE52-4F15-7716-B310-E774D5CE8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01866A-0229-BDAE-D323-DFF9446CB7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Planning et Ressources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DA9FB90-D7C9-F69F-24C7-2DE0C926AB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Cadrage du développement</a:t>
            </a:r>
          </a:p>
        </p:txBody>
      </p:sp>
    </p:spTree>
    <p:extLst>
      <p:ext uri="{BB962C8B-B14F-4D97-AF65-F5344CB8AC3E}">
        <p14:creationId xmlns:p14="http://schemas.microsoft.com/office/powerpoint/2010/main" val="800191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4EE8394E-C955-E433-0623-EBC2FB70EF9F}"/>
              </a:ext>
            </a:extLst>
          </p:cNvPr>
          <p:cNvCxnSpPr>
            <a:cxnSpLocks/>
          </p:cNvCxnSpPr>
          <p:nvPr/>
        </p:nvCxnSpPr>
        <p:spPr>
          <a:xfrm>
            <a:off x="8268230" y="1549594"/>
            <a:ext cx="2736458" cy="12337"/>
          </a:xfrm>
          <a:prstGeom prst="line">
            <a:avLst/>
          </a:prstGeom>
          <a:ln w="7937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" name="Rectangle : coins arrondis 97">
            <a:extLst>
              <a:ext uri="{FF2B5EF4-FFF2-40B4-BE49-F238E27FC236}">
                <a16:creationId xmlns:a16="http://schemas.microsoft.com/office/drawing/2014/main" id="{79609554-E40B-7B7C-5871-65794890D664}"/>
              </a:ext>
            </a:extLst>
          </p:cNvPr>
          <p:cNvSpPr/>
          <p:nvPr/>
        </p:nvSpPr>
        <p:spPr>
          <a:xfrm>
            <a:off x="7885824" y="5286342"/>
            <a:ext cx="4234235" cy="1262249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838515" y="178779"/>
            <a:ext cx="10091200" cy="7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algn="ctr"/>
            <a:r>
              <a:rPr lang="fr"/>
              <a:t>Timeline du projet Data Science/IA</a:t>
            </a:r>
            <a:endParaRPr/>
          </a:p>
          <a:p>
            <a:pPr algn="ctr"/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455741" y="1074914"/>
            <a:ext cx="3594316" cy="271018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fr-FR" sz="14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7 Semaines - Charge 48 Jours</a:t>
            </a:r>
          </a:p>
        </p:txBody>
      </p:sp>
      <p:sp>
        <p:nvSpPr>
          <p:cNvPr id="65" name="Google Shape;65;p14"/>
          <p:cNvSpPr/>
          <p:nvPr/>
        </p:nvSpPr>
        <p:spPr>
          <a:xfrm>
            <a:off x="4151741" y="1074914"/>
            <a:ext cx="3632116" cy="256413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fr-FR" sz="14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7 Semaines - Charge 48 Jours</a:t>
            </a:r>
          </a:p>
        </p:txBody>
      </p:sp>
      <p:sp>
        <p:nvSpPr>
          <p:cNvPr id="66" name="Google Shape;66;p14"/>
          <p:cNvSpPr/>
          <p:nvPr/>
        </p:nvSpPr>
        <p:spPr>
          <a:xfrm>
            <a:off x="7847741" y="1074914"/>
            <a:ext cx="3614883" cy="277664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fr-FR" sz="14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 Semaines - Charge 26 Jours</a:t>
            </a:r>
          </a:p>
        </p:txBody>
      </p:sp>
      <p:sp>
        <p:nvSpPr>
          <p:cNvPr id="67" name="Google Shape;67;p14"/>
          <p:cNvSpPr/>
          <p:nvPr/>
        </p:nvSpPr>
        <p:spPr>
          <a:xfrm>
            <a:off x="3757598" y="1424703"/>
            <a:ext cx="293201" cy="2932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DC7B91AA-A373-EEAB-3557-B3AE93AA157B}"/>
              </a:ext>
            </a:extLst>
          </p:cNvPr>
          <p:cNvGrpSpPr/>
          <p:nvPr/>
        </p:nvGrpSpPr>
        <p:grpSpPr>
          <a:xfrm>
            <a:off x="10445201" y="5489886"/>
            <a:ext cx="1760058" cy="293200"/>
            <a:chOff x="10181529" y="5397831"/>
            <a:chExt cx="1760058" cy="293200"/>
          </a:xfrm>
        </p:grpSpPr>
        <p:sp>
          <p:nvSpPr>
            <p:cNvPr id="68" name="Google Shape;68;p14"/>
            <p:cNvSpPr/>
            <p:nvPr/>
          </p:nvSpPr>
          <p:spPr>
            <a:xfrm>
              <a:off x="10181529" y="5397831"/>
              <a:ext cx="293200" cy="293200"/>
            </a:xfrm>
            <a:prstGeom prst="diamond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186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10447987" y="5413653"/>
              <a:ext cx="1493600" cy="2615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fr" sz="900" b="1" dirty="0">
                  <a:latin typeface="Nunito"/>
                  <a:ea typeface="Nunito"/>
                  <a:cs typeface="Nunito"/>
                  <a:sym typeface="Nunito"/>
                </a:rPr>
                <a:t>Comité de Pilotage</a:t>
              </a:r>
              <a:endParaRPr sz="933" dirty="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EEBF6F3F-2580-B919-4721-F4AB62370874}"/>
              </a:ext>
            </a:extLst>
          </p:cNvPr>
          <p:cNvGrpSpPr/>
          <p:nvPr/>
        </p:nvGrpSpPr>
        <p:grpSpPr>
          <a:xfrm>
            <a:off x="10445201" y="5996320"/>
            <a:ext cx="1674858" cy="293200"/>
            <a:chOff x="10181529" y="6107158"/>
            <a:chExt cx="1674858" cy="293200"/>
          </a:xfrm>
        </p:grpSpPr>
        <p:sp>
          <p:nvSpPr>
            <p:cNvPr id="70" name="Google Shape;70;p14"/>
            <p:cNvSpPr/>
            <p:nvPr/>
          </p:nvSpPr>
          <p:spPr>
            <a:xfrm>
              <a:off x="10181529" y="6107158"/>
              <a:ext cx="293200" cy="293200"/>
            </a:xfrm>
            <a:prstGeom prst="diamond">
              <a:avLst/>
            </a:prstGeom>
            <a:solidFill>
              <a:srgbClr val="003856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1867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10447987" y="6122980"/>
              <a:ext cx="1408400" cy="2615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fr" sz="900" b="1" dirty="0">
                  <a:latin typeface="Nunito"/>
                  <a:ea typeface="Nunito"/>
                  <a:cs typeface="Nunito"/>
                  <a:sym typeface="Nunito"/>
                </a:rPr>
                <a:t>Comité de Projet</a:t>
              </a:r>
              <a:endParaRPr sz="933" dirty="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72" name="Google Shape;72;p14"/>
          <p:cNvSpPr/>
          <p:nvPr/>
        </p:nvSpPr>
        <p:spPr>
          <a:xfrm>
            <a:off x="473257" y="2314265"/>
            <a:ext cx="3576800" cy="2863812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450957" y="1813832"/>
            <a:ext cx="3599200" cy="448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/>
            <a:r>
              <a:rPr lang="fr" sz="1200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POC</a:t>
            </a:r>
            <a:endParaRPr sz="1200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r"/>
            <a:r>
              <a:rPr lang="fr-FR" sz="1200" dirty="0">
                <a:solidFill>
                  <a:schemeClr val="bg1"/>
                </a:solidFill>
              </a:rPr>
              <a:t>Est-ce que cela fonctionne ?</a:t>
            </a:r>
            <a:endParaRPr sz="1200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558957" y="244219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1152000" algn="r">
              <a:buClr>
                <a:srgbClr val="3F3F3F"/>
              </a:buClr>
              <a:buSzPts val="1000"/>
            </a:pPr>
            <a:r>
              <a:rPr lang="fr-FR" sz="933" b="1" dirty="0">
                <a:solidFill>
                  <a:srgbClr val="3F3F3F"/>
                </a:solidFill>
                <a:latin typeface="Nunito"/>
              </a:rPr>
              <a:t>Cadrage + sélection </a:t>
            </a:r>
            <a:r>
              <a:rPr lang="fr-FR" sz="933" b="1" dirty="0" err="1">
                <a:solidFill>
                  <a:srgbClr val="3F3F3F"/>
                </a:solidFill>
                <a:latin typeface="Nunito"/>
              </a:rPr>
              <a:t>dataset</a:t>
            </a:r>
            <a:endParaRPr lang="fr-FR" sz="933" b="1" dirty="0">
              <a:solidFill>
                <a:srgbClr val="3F3F3F"/>
              </a:solidFill>
              <a:latin typeface="Nunito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558957" y="289321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1152000" algn="r">
              <a:buClr>
                <a:srgbClr val="3F3F3F"/>
              </a:buClr>
              <a:buSzPts val="1000"/>
            </a:pPr>
            <a:r>
              <a:rPr lang="fr-FR" sz="933" b="1" dirty="0">
                <a:solidFill>
                  <a:srgbClr val="3F3F3F"/>
                </a:solidFill>
                <a:latin typeface="Nunito"/>
                <a:ea typeface="Nunito"/>
                <a:cs typeface="Nunito"/>
                <a:sym typeface="Nunito"/>
              </a:rPr>
              <a:t>Préparation du jeu de test</a:t>
            </a:r>
          </a:p>
        </p:txBody>
      </p:sp>
      <p:sp>
        <p:nvSpPr>
          <p:cNvPr id="76" name="Google Shape;76;p14"/>
          <p:cNvSpPr/>
          <p:nvPr/>
        </p:nvSpPr>
        <p:spPr>
          <a:xfrm>
            <a:off x="558957" y="334423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1152000" algn="r">
              <a:buClr>
                <a:srgbClr val="3F3F3F"/>
              </a:buClr>
              <a:buSzPts val="1000"/>
            </a:pPr>
            <a:r>
              <a:rPr lang="fr-FR" sz="933" b="1" dirty="0">
                <a:solidFill>
                  <a:srgbClr val="3F3F3F"/>
                </a:solidFill>
                <a:latin typeface="Nunito"/>
                <a:ea typeface="Nunito"/>
                <a:cs typeface="Nunito"/>
                <a:sym typeface="Nunito"/>
              </a:rPr>
              <a:t>Baseline + approche similaire</a:t>
            </a:r>
          </a:p>
        </p:txBody>
      </p:sp>
      <p:sp>
        <p:nvSpPr>
          <p:cNvPr id="77" name="Google Shape;77;p14"/>
          <p:cNvSpPr/>
          <p:nvPr/>
        </p:nvSpPr>
        <p:spPr>
          <a:xfrm>
            <a:off x="558957" y="379525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1152000" algn="r">
              <a:buClr>
                <a:srgbClr val="3F3F3F"/>
              </a:buClr>
              <a:buSzPts val="1000"/>
            </a:pPr>
            <a:r>
              <a:rPr lang="fr-FR" sz="933" b="1" dirty="0">
                <a:solidFill>
                  <a:srgbClr val="3F3F3F"/>
                </a:solidFill>
                <a:latin typeface="Nunito"/>
                <a:ea typeface="Nunito"/>
                <a:cs typeface="Nunito"/>
                <a:sym typeface="Nunito"/>
              </a:rPr>
              <a:t>Approche compatibilité</a:t>
            </a:r>
          </a:p>
        </p:txBody>
      </p:sp>
      <p:sp>
        <p:nvSpPr>
          <p:cNvPr id="78" name="Google Shape;78;p14"/>
          <p:cNvSpPr/>
          <p:nvPr/>
        </p:nvSpPr>
        <p:spPr>
          <a:xfrm>
            <a:off x="4207057" y="2314265"/>
            <a:ext cx="3576800" cy="2863811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4184757" y="1813832"/>
            <a:ext cx="3599200" cy="448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/>
            <a:r>
              <a:rPr lang="fr" sz="1200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MVP</a:t>
            </a:r>
          </a:p>
          <a:p>
            <a:pPr algn="r"/>
            <a:r>
              <a:rPr lang="fr-FR" sz="1200" dirty="0">
                <a:solidFill>
                  <a:schemeClr val="bg1"/>
                </a:solidFill>
              </a:rPr>
              <a:t>Faire une solution utilisable !</a:t>
            </a:r>
            <a:r>
              <a:rPr lang="fr" sz="1200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200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4307997" y="2442195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" sz="933" b="1" dirty="0">
                <a:solidFill>
                  <a:srgbClr val="3F3F3F"/>
                </a:solidFill>
                <a:latin typeface="Nunito"/>
                <a:sym typeface="Nunito"/>
              </a:rPr>
              <a:t>Application et fonctionnalités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4307997" y="289321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" sz="933" b="1" dirty="0">
                <a:solidFill>
                  <a:srgbClr val="3F3F3F"/>
                </a:solidFill>
                <a:latin typeface="Nunito"/>
                <a:sym typeface="Nunito"/>
              </a:rPr>
              <a:t>Embedding du catalogue Fashion Insta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4307997" y="3336645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" sz="933" b="1" dirty="0">
                <a:solidFill>
                  <a:srgbClr val="3F3F3F"/>
                </a:solidFill>
                <a:latin typeface="Nunito"/>
                <a:sym typeface="Nunito"/>
              </a:rPr>
              <a:t>Déploiement du moteur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7885824" y="1813832"/>
            <a:ext cx="3576800" cy="448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/>
            <a:r>
              <a:rPr lang="fr" sz="1200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Run</a:t>
            </a:r>
          </a:p>
          <a:p>
            <a:pPr algn="r"/>
            <a:r>
              <a:rPr lang="fr-FR" sz="1200" dirty="0">
                <a:solidFill>
                  <a:schemeClr val="bg1"/>
                </a:solidFill>
              </a:rPr>
              <a:t>Exploiter et l'améliorer durablement</a:t>
            </a:r>
            <a:r>
              <a:rPr lang="fr" sz="1200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200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479656" y="5286342"/>
            <a:ext cx="3599200" cy="1262249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Livrables : </a:t>
            </a:r>
            <a:endParaRPr sz="1067" b="1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Modèle ML Segmentation</a:t>
            </a:r>
            <a:endParaRPr sz="1067" b="1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Modèle ML Embedding</a:t>
            </a: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Modèle ML Caractéristiques</a:t>
            </a: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Modèle ML </a:t>
            </a:r>
            <a:r>
              <a:rPr lang="fr-FR" sz="1067" b="1" dirty="0" err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PairWise</a:t>
            </a:r>
            <a:endParaRPr lang="fr-FR" sz="1067" b="1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Algorithme Similarité</a:t>
            </a: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Algorithme Compatibilité</a:t>
            </a:r>
          </a:p>
        </p:txBody>
      </p:sp>
      <p:sp>
        <p:nvSpPr>
          <p:cNvPr id="2" name="Google Shape;77;p14">
            <a:extLst>
              <a:ext uri="{FF2B5EF4-FFF2-40B4-BE49-F238E27FC236}">
                <a16:creationId xmlns:a16="http://schemas.microsoft.com/office/drawing/2014/main" id="{D83291E2-CFD7-B6EA-0A6B-9ED656AF004C}"/>
              </a:ext>
            </a:extLst>
          </p:cNvPr>
          <p:cNvSpPr/>
          <p:nvPr/>
        </p:nvSpPr>
        <p:spPr>
          <a:xfrm>
            <a:off x="558957" y="4246279"/>
            <a:ext cx="3383200" cy="2909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1152000" algn="r">
              <a:buClr>
                <a:srgbClr val="3F3F3F"/>
              </a:buClr>
              <a:buSzPts val="1000"/>
            </a:pPr>
            <a:r>
              <a:rPr lang="fr-FR" sz="933" b="1" dirty="0">
                <a:solidFill>
                  <a:srgbClr val="3F3F3F"/>
                </a:solidFill>
                <a:latin typeface="Nunito"/>
                <a:ea typeface="Nunito"/>
                <a:cs typeface="Nunito"/>
                <a:sym typeface="Nunito"/>
              </a:rPr>
              <a:t>Evaluation + comparaison</a:t>
            </a:r>
          </a:p>
        </p:txBody>
      </p:sp>
      <p:sp>
        <p:nvSpPr>
          <p:cNvPr id="3" name="Google Shape;77;p14">
            <a:extLst>
              <a:ext uri="{FF2B5EF4-FFF2-40B4-BE49-F238E27FC236}">
                <a16:creationId xmlns:a16="http://schemas.microsoft.com/office/drawing/2014/main" id="{E0785B7F-35E7-4F07-B35C-6597D1DC3DA4}"/>
              </a:ext>
            </a:extLst>
          </p:cNvPr>
          <p:cNvSpPr/>
          <p:nvPr/>
        </p:nvSpPr>
        <p:spPr>
          <a:xfrm>
            <a:off x="558957" y="4694999"/>
            <a:ext cx="3383200" cy="2909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1152000" algn="r">
              <a:buClr>
                <a:srgbClr val="3F3F3F"/>
              </a:buClr>
              <a:buSzPts val="1000"/>
            </a:pPr>
            <a:r>
              <a:rPr lang="fr-FR" sz="933" b="1" dirty="0">
                <a:solidFill>
                  <a:srgbClr val="3F3F3F"/>
                </a:solidFill>
                <a:latin typeface="Nunito"/>
                <a:ea typeface="Nunito"/>
                <a:cs typeface="Nunito"/>
                <a:sym typeface="Nunito"/>
              </a:rPr>
              <a:t>Synthèse + recommandation</a:t>
            </a:r>
          </a:p>
        </p:txBody>
      </p:sp>
      <p:sp>
        <p:nvSpPr>
          <p:cNvPr id="4" name="Google Shape;85;p14">
            <a:extLst>
              <a:ext uri="{FF2B5EF4-FFF2-40B4-BE49-F238E27FC236}">
                <a16:creationId xmlns:a16="http://schemas.microsoft.com/office/drawing/2014/main" id="{C1E0FBDD-EE4D-C6AB-063E-6B3DBD5624EF}"/>
              </a:ext>
            </a:extLst>
          </p:cNvPr>
          <p:cNvSpPr/>
          <p:nvPr/>
        </p:nvSpPr>
        <p:spPr>
          <a:xfrm>
            <a:off x="4207057" y="5286342"/>
            <a:ext cx="3576800" cy="1262249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Livrables : </a:t>
            </a:r>
            <a:endParaRPr sz="1067" b="1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Application Mobile et fonctionnalités</a:t>
            </a: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Un moteur de recommandation API </a:t>
            </a:r>
            <a:r>
              <a:rPr lang="fr-FR" sz="1067" b="1" dirty="0" err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Rest</a:t>
            </a:r>
            <a:endParaRPr lang="fr-FR" sz="1067" b="1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CCED1A1-C091-DC4B-CD38-96A965025607}"/>
              </a:ext>
            </a:extLst>
          </p:cNvPr>
          <p:cNvSpPr txBox="1"/>
          <p:nvPr/>
        </p:nvSpPr>
        <p:spPr>
          <a:xfrm>
            <a:off x="9197512" y="5971972"/>
            <a:ext cx="1008000" cy="432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altLang="fr-FR" sz="1100" b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Data </a:t>
            </a:r>
            <a:r>
              <a:rPr lang="fr-FR" altLang="fr-FR" sz="1100" b="1" dirty="0" err="1">
                <a:solidFill>
                  <a:sysClr val="windowText" lastClr="000000"/>
                </a:solidFill>
                <a:latin typeface="Arial" panose="020B0604020202020204" pitchFamily="34" charset="0"/>
              </a:rPr>
              <a:t>Scientist</a:t>
            </a:r>
            <a:endParaRPr lang="fr-FR" altLang="fr-FR" sz="1100" b="1" dirty="0">
              <a:solidFill>
                <a:sysClr val="windowText" lastClr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89F8222-D86B-4C0F-B22C-50B2E5F90412}"/>
              </a:ext>
            </a:extLst>
          </p:cNvPr>
          <p:cNvSpPr txBox="1"/>
          <p:nvPr/>
        </p:nvSpPr>
        <p:spPr>
          <a:xfrm>
            <a:off x="8088364" y="5424666"/>
            <a:ext cx="1008000" cy="432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altLang="fr-FR" sz="1100" b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Data </a:t>
            </a:r>
            <a:r>
              <a:rPr lang="fr-FR" altLang="fr-FR" sz="1100" b="1" dirty="0" err="1">
                <a:solidFill>
                  <a:sysClr val="windowText" lastClr="000000"/>
                </a:solidFill>
                <a:latin typeface="Arial" panose="020B0604020202020204" pitchFamily="34" charset="0"/>
              </a:rPr>
              <a:t>Engineer</a:t>
            </a:r>
            <a:endParaRPr lang="fr-FR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A25DE4F-68E5-69CE-65BB-3D4E1B63F1B2}"/>
              </a:ext>
            </a:extLst>
          </p:cNvPr>
          <p:cNvSpPr txBox="1"/>
          <p:nvPr/>
        </p:nvSpPr>
        <p:spPr>
          <a:xfrm>
            <a:off x="8088364" y="5971972"/>
            <a:ext cx="1008000" cy="432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altLang="fr-FR" sz="1100" b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ML Ops </a:t>
            </a:r>
            <a:r>
              <a:rPr lang="fr-FR" altLang="fr-FR" sz="1100" b="1" dirty="0" err="1">
                <a:solidFill>
                  <a:sysClr val="windowText" lastClr="000000"/>
                </a:solidFill>
                <a:latin typeface="Arial" panose="020B0604020202020204" pitchFamily="34" charset="0"/>
              </a:rPr>
              <a:t>Engineer</a:t>
            </a:r>
            <a:endParaRPr lang="fr-FR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1E2E35F-080E-66B3-1C0A-6A7FE838818F}"/>
              </a:ext>
            </a:extLst>
          </p:cNvPr>
          <p:cNvSpPr txBox="1"/>
          <p:nvPr/>
        </p:nvSpPr>
        <p:spPr>
          <a:xfrm>
            <a:off x="9197512" y="5424666"/>
            <a:ext cx="1008000" cy="432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fr-FR"/>
            </a:defPPr>
            <a:lvl1pPr algn="ctr">
              <a:defRPr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altLang="fr-FR" sz="1100" dirty="0"/>
              <a:t>Tech Lead Data</a:t>
            </a:r>
            <a:endParaRPr lang="fr-FR" sz="1100" dirty="0"/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79683FB6-F0D9-98A2-9845-9AD5CEE5B251}"/>
              </a:ext>
            </a:extLst>
          </p:cNvPr>
          <p:cNvGrpSpPr/>
          <p:nvPr/>
        </p:nvGrpSpPr>
        <p:grpSpPr>
          <a:xfrm>
            <a:off x="491177" y="1851490"/>
            <a:ext cx="956597" cy="372684"/>
            <a:chOff x="491177" y="1851490"/>
            <a:chExt cx="956597" cy="372684"/>
          </a:xfrm>
        </p:grpSpPr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CB3E427E-3C37-2B69-7443-993FCA4C0D01}"/>
                </a:ext>
              </a:extLst>
            </p:cNvPr>
            <p:cNvSpPr txBox="1"/>
            <p:nvPr/>
          </p:nvSpPr>
          <p:spPr>
            <a:xfrm>
              <a:off x="491177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50 %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A97BF9D7-5F7A-D51F-33DA-706E650ABE2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36888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</a:lstStyle>
            <a:p>
              <a:r>
                <a:rPr lang="fr-FR" sz="900" dirty="0"/>
                <a:t>15 %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D83F005A-1EB6-0400-F7A2-495D21C86F68}"/>
                </a:ext>
              </a:extLst>
            </p:cNvPr>
            <p:cNvSpPr txBox="1"/>
            <p:nvPr/>
          </p:nvSpPr>
          <p:spPr>
            <a:xfrm>
              <a:off x="982599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fr-FR" sz="900" dirty="0"/>
                <a:t>25 %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80BA3A6E-9ADA-17A5-E835-471141913FF4}"/>
                </a:ext>
              </a:extLst>
            </p:cNvPr>
            <p:cNvSpPr txBox="1"/>
            <p:nvPr/>
          </p:nvSpPr>
          <p:spPr>
            <a:xfrm>
              <a:off x="1228310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10 %</a:t>
              </a:r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2032A2EC-536F-236F-3620-94866441DB7B}"/>
              </a:ext>
            </a:extLst>
          </p:cNvPr>
          <p:cNvSpPr txBox="1">
            <a:spLocks noChangeAspect="1"/>
          </p:cNvSpPr>
          <p:nvPr/>
        </p:nvSpPr>
        <p:spPr>
          <a:xfrm>
            <a:off x="620865" y="4207549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5 JO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23E81C8-8737-27A2-10D7-A2E7270E372B}"/>
              </a:ext>
            </a:extLst>
          </p:cNvPr>
          <p:cNvSpPr txBox="1"/>
          <p:nvPr/>
        </p:nvSpPr>
        <p:spPr>
          <a:xfrm>
            <a:off x="620865" y="4657579"/>
            <a:ext cx="219464" cy="3653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26" name="Google Shape;78;p14">
            <a:extLst>
              <a:ext uri="{FF2B5EF4-FFF2-40B4-BE49-F238E27FC236}">
                <a16:creationId xmlns:a16="http://schemas.microsoft.com/office/drawing/2014/main" id="{78D12A63-617C-E7D4-272B-BDF4EACB261D}"/>
              </a:ext>
            </a:extLst>
          </p:cNvPr>
          <p:cNvSpPr/>
          <p:nvPr/>
        </p:nvSpPr>
        <p:spPr>
          <a:xfrm>
            <a:off x="7885824" y="2314265"/>
            <a:ext cx="3576800" cy="2863811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" name="Google Shape;80;p14">
            <a:extLst>
              <a:ext uri="{FF2B5EF4-FFF2-40B4-BE49-F238E27FC236}">
                <a16:creationId xmlns:a16="http://schemas.microsoft.com/office/drawing/2014/main" id="{B7542D7A-6ED7-E797-8CC9-A9F7024105D5}"/>
              </a:ext>
            </a:extLst>
          </p:cNvPr>
          <p:cNvSpPr/>
          <p:nvPr/>
        </p:nvSpPr>
        <p:spPr>
          <a:xfrm>
            <a:off x="7986764" y="2442195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-FR" sz="1000" dirty="0"/>
              <a:t>Exploitation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28" name="Google Shape;81;p14">
            <a:extLst>
              <a:ext uri="{FF2B5EF4-FFF2-40B4-BE49-F238E27FC236}">
                <a16:creationId xmlns:a16="http://schemas.microsoft.com/office/drawing/2014/main" id="{D6E1C378-F245-DAA0-F45C-E632207A3D3E}"/>
              </a:ext>
            </a:extLst>
          </p:cNvPr>
          <p:cNvSpPr/>
          <p:nvPr/>
        </p:nvSpPr>
        <p:spPr>
          <a:xfrm>
            <a:off x="7986764" y="289321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-FR" sz="1000" dirty="0"/>
              <a:t>Monitoring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29" name="Google Shape;82;p14">
            <a:extLst>
              <a:ext uri="{FF2B5EF4-FFF2-40B4-BE49-F238E27FC236}">
                <a16:creationId xmlns:a16="http://schemas.microsoft.com/office/drawing/2014/main" id="{2A280676-BCA4-8004-D4D2-09D5B74E189F}"/>
              </a:ext>
            </a:extLst>
          </p:cNvPr>
          <p:cNvSpPr/>
          <p:nvPr/>
        </p:nvSpPr>
        <p:spPr>
          <a:xfrm>
            <a:off x="7986764" y="3336645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-FR" sz="1000" dirty="0"/>
              <a:t>Réentraînement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30" name="Google Shape;83;p14">
            <a:extLst>
              <a:ext uri="{FF2B5EF4-FFF2-40B4-BE49-F238E27FC236}">
                <a16:creationId xmlns:a16="http://schemas.microsoft.com/office/drawing/2014/main" id="{7806F34B-BDE2-D4EC-84B4-0CAB1145E806}"/>
              </a:ext>
            </a:extLst>
          </p:cNvPr>
          <p:cNvSpPr/>
          <p:nvPr/>
        </p:nvSpPr>
        <p:spPr>
          <a:xfrm>
            <a:off x="7986764" y="379525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-FR" sz="1000" dirty="0"/>
              <a:t>Amélioration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A5C1002C-F406-F7A9-1228-8D91E00B8111}"/>
              </a:ext>
            </a:extLst>
          </p:cNvPr>
          <p:cNvGrpSpPr/>
          <p:nvPr/>
        </p:nvGrpSpPr>
        <p:grpSpPr>
          <a:xfrm>
            <a:off x="4225276" y="1836205"/>
            <a:ext cx="956597" cy="372684"/>
            <a:chOff x="491177" y="1851490"/>
            <a:chExt cx="956597" cy="372684"/>
          </a:xfrm>
        </p:grpSpPr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9996571C-AB1D-696F-7CA5-1220171B276A}"/>
                </a:ext>
              </a:extLst>
            </p:cNvPr>
            <p:cNvSpPr txBox="1"/>
            <p:nvPr/>
          </p:nvSpPr>
          <p:spPr>
            <a:xfrm>
              <a:off x="491177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23 %</a:t>
              </a: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5F37D13E-FC56-41F2-C84B-E1F14ADA903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36888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</a:lstStyle>
            <a:p>
              <a:r>
                <a:rPr lang="fr-FR" sz="900" dirty="0"/>
                <a:t>29 %</a:t>
              </a: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73062E3A-B255-1C13-60F8-69504B640936}"/>
                </a:ext>
              </a:extLst>
            </p:cNvPr>
            <p:cNvSpPr txBox="1"/>
            <p:nvPr/>
          </p:nvSpPr>
          <p:spPr>
            <a:xfrm>
              <a:off x="982599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fr-FR" sz="900" dirty="0"/>
                <a:t>33 %</a:t>
              </a: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377BFC3A-A5CA-1CCD-FB3F-8EC6A71DDB89}"/>
                </a:ext>
              </a:extLst>
            </p:cNvPr>
            <p:cNvSpPr txBox="1"/>
            <p:nvPr/>
          </p:nvSpPr>
          <p:spPr>
            <a:xfrm>
              <a:off x="1228310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15 %</a:t>
              </a:r>
            </a:p>
          </p:txBody>
        </p: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6ADE2249-C2DC-F82F-D7C4-E341ABFED9A7}"/>
              </a:ext>
            </a:extLst>
          </p:cNvPr>
          <p:cNvGrpSpPr/>
          <p:nvPr/>
        </p:nvGrpSpPr>
        <p:grpSpPr>
          <a:xfrm>
            <a:off x="7949655" y="1848024"/>
            <a:ext cx="956597" cy="372684"/>
            <a:chOff x="491177" y="1851490"/>
            <a:chExt cx="956597" cy="372684"/>
          </a:xfrm>
        </p:grpSpPr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34E68A86-9AB2-E3AE-9788-4F106B2939B6}"/>
                </a:ext>
              </a:extLst>
            </p:cNvPr>
            <p:cNvSpPr txBox="1"/>
            <p:nvPr/>
          </p:nvSpPr>
          <p:spPr>
            <a:xfrm>
              <a:off x="491177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31 %</a:t>
              </a: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67697C49-8205-4EF9-9EB4-1308C58477C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36888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</a:lstStyle>
            <a:p>
              <a:r>
                <a:rPr lang="fr-FR" sz="900" dirty="0"/>
                <a:t>38 %</a:t>
              </a: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DDC84E5D-4C0C-3608-8942-9956BBDA2EFE}"/>
                </a:ext>
              </a:extLst>
            </p:cNvPr>
            <p:cNvSpPr txBox="1"/>
            <p:nvPr/>
          </p:nvSpPr>
          <p:spPr>
            <a:xfrm>
              <a:off x="982599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fr-FR" sz="900" dirty="0"/>
                <a:t>27 %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DCBE1F99-5B47-39B5-5FF8-03480E1A3A27}"/>
                </a:ext>
              </a:extLst>
            </p:cNvPr>
            <p:cNvSpPr txBox="1"/>
            <p:nvPr/>
          </p:nvSpPr>
          <p:spPr>
            <a:xfrm>
              <a:off x="1228310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4 %</a:t>
              </a:r>
            </a:p>
          </p:txBody>
        </p:sp>
      </p:grpSp>
      <p:sp>
        <p:nvSpPr>
          <p:cNvPr id="48" name="ZoneTexte 47">
            <a:extLst>
              <a:ext uri="{FF2B5EF4-FFF2-40B4-BE49-F238E27FC236}">
                <a16:creationId xmlns:a16="http://schemas.microsoft.com/office/drawing/2014/main" id="{EFCA73D8-EB1B-A594-B6C3-10F2687D1CD6}"/>
              </a:ext>
            </a:extLst>
          </p:cNvPr>
          <p:cNvSpPr txBox="1">
            <a:spLocks noChangeAspect="1"/>
          </p:cNvSpPr>
          <p:nvPr/>
        </p:nvSpPr>
        <p:spPr>
          <a:xfrm>
            <a:off x="874859" y="2856827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5 JO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6B3AD0A-3F61-75DD-598D-656674C30EBB}"/>
              </a:ext>
            </a:extLst>
          </p:cNvPr>
          <p:cNvSpPr txBox="1"/>
          <p:nvPr/>
        </p:nvSpPr>
        <p:spPr>
          <a:xfrm>
            <a:off x="620865" y="3757522"/>
            <a:ext cx="219464" cy="3653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6 JO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D5D23C46-70CB-1E7C-BE62-20535569AA32}"/>
              </a:ext>
            </a:extLst>
          </p:cNvPr>
          <p:cNvSpPr txBox="1">
            <a:spLocks noChangeAspect="1"/>
          </p:cNvSpPr>
          <p:nvPr/>
        </p:nvSpPr>
        <p:spPr>
          <a:xfrm>
            <a:off x="620865" y="2407439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B8710187-F89B-3B3C-A645-CDC4E37910CD}"/>
              </a:ext>
            </a:extLst>
          </p:cNvPr>
          <p:cNvSpPr txBox="1"/>
          <p:nvPr/>
        </p:nvSpPr>
        <p:spPr>
          <a:xfrm>
            <a:off x="620865" y="2857467"/>
            <a:ext cx="219464" cy="3653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4 JO</a:t>
            </a:r>
          </a:p>
        </p:txBody>
      </p:sp>
      <p:sp>
        <p:nvSpPr>
          <p:cNvPr id="61" name="Google Shape;67;p14">
            <a:extLst>
              <a:ext uri="{FF2B5EF4-FFF2-40B4-BE49-F238E27FC236}">
                <a16:creationId xmlns:a16="http://schemas.microsoft.com/office/drawing/2014/main" id="{22385F7B-3297-6502-17A9-BD46F6A5277E}"/>
              </a:ext>
            </a:extLst>
          </p:cNvPr>
          <p:cNvSpPr/>
          <p:nvPr/>
        </p:nvSpPr>
        <p:spPr>
          <a:xfrm>
            <a:off x="7482304" y="1424703"/>
            <a:ext cx="293201" cy="2932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7;p14">
            <a:extLst>
              <a:ext uri="{FF2B5EF4-FFF2-40B4-BE49-F238E27FC236}">
                <a16:creationId xmlns:a16="http://schemas.microsoft.com/office/drawing/2014/main" id="{886C84B9-D8F0-845C-D66E-BC5E95A93EB6}"/>
              </a:ext>
            </a:extLst>
          </p:cNvPr>
          <p:cNvSpPr/>
          <p:nvPr/>
        </p:nvSpPr>
        <p:spPr>
          <a:xfrm>
            <a:off x="8867689" y="1409162"/>
            <a:ext cx="293201" cy="2932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70;p14">
            <a:extLst>
              <a:ext uri="{FF2B5EF4-FFF2-40B4-BE49-F238E27FC236}">
                <a16:creationId xmlns:a16="http://schemas.microsoft.com/office/drawing/2014/main" id="{DCC69DA8-5D00-3E4E-050F-64F496742A16}"/>
              </a:ext>
            </a:extLst>
          </p:cNvPr>
          <p:cNvSpPr/>
          <p:nvPr/>
        </p:nvSpPr>
        <p:spPr>
          <a:xfrm>
            <a:off x="1368561" y="1424703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70;p14">
            <a:extLst>
              <a:ext uri="{FF2B5EF4-FFF2-40B4-BE49-F238E27FC236}">
                <a16:creationId xmlns:a16="http://schemas.microsoft.com/office/drawing/2014/main" id="{5969A405-5B61-E449-B63C-B5501C3624A8}"/>
              </a:ext>
            </a:extLst>
          </p:cNvPr>
          <p:cNvSpPr/>
          <p:nvPr/>
        </p:nvSpPr>
        <p:spPr>
          <a:xfrm>
            <a:off x="2253202" y="1424703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70;p14">
            <a:extLst>
              <a:ext uri="{FF2B5EF4-FFF2-40B4-BE49-F238E27FC236}">
                <a16:creationId xmlns:a16="http://schemas.microsoft.com/office/drawing/2014/main" id="{C6A8F735-EBC8-93A6-2977-91B0AADD8C99}"/>
              </a:ext>
            </a:extLst>
          </p:cNvPr>
          <p:cNvSpPr/>
          <p:nvPr/>
        </p:nvSpPr>
        <p:spPr>
          <a:xfrm>
            <a:off x="3152355" y="1424703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70;p14">
            <a:extLst>
              <a:ext uri="{FF2B5EF4-FFF2-40B4-BE49-F238E27FC236}">
                <a16:creationId xmlns:a16="http://schemas.microsoft.com/office/drawing/2014/main" id="{AC741ACA-4DFA-7F2D-9CC1-CEF042CC1142}"/>
              </a:ext>
            </a:extLst>
          </p:cNvPr>
          <p:cNvSpPr/>
          <p:nvPr/>
        </p:nvSpPr>
        <p:spPr>
          <a:xfrm>
            <a:off x="4200639" y="1424703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70;p14">
            <a:extLst>
              <a:ext uri="{FF2B5EF4-FFF2-40B4-BE49-F238E27FC236}">
                <a16:creationId xmlns:a16="http://schemas.microsoft.com/office/drawing/2014/main" id="{CC81012E-95AF-3965-21F2-1E39CADE5C45}"/>
              </a:ext>
            </a:extLst>
          </p:cNvPr>
          <p:cNvSpPr/>
          <p:nvPr/>
        </p:nvSpPr>
        <p:spPr>
          <a:xfrm>
            <a:off x="5571508" y="1424703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70;p14">
            <a:extLst>
              <a:ext uri="{FF2B5EF4-FFF2-40B4-BE49-F238E27FC236}">
                <a16:creationId xmlns:a16="http://schemas.microsoft.com/office/drawing/2014/main" id="{5E76AD86-FBEF-BB4F-8F59-B4E0982944AA}"/>
              </a:ext>
            </a:extLst>
          </p:cNvPr>
          <p:cNvSpPr/>
          <p:nvPr/>
        </p:nvSpPr>
        <p:spPr>
          <a:xfrm>
            <a:off x="446176" y="1435947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70;p14">
            <a:extLst>
              <a:ext uri="{FF2B5EF4-FFF2-40B4-BE49-F238E27FC236}">
                <a16:creationId xmlns:a16="http://schemas.microsoft.com/office/drawing/2014/main" id="{F8EB1EEF-E1CD-DE88-AB76-E5D7CAAE22CC}"/>
              </a:ext>
            </a:extLst>
          </p:cNvPr>
          <p:cNvSpPr/>
          <p:nvPr/>
        </p:nvSpPr>
        <p:spPr>
          <a:xfrm>
            <a:off x="8268230" y="1409162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70;p14">
            <a:extLst>
              <a:ext uri="{FF2B5EF4-FFF2-40B4-BE49-F238E27FC236}">
                <a16:creationId xmlns:a16="http://schemas.microsoft.com/office/drawing/2014/main" id="{60D2BBEE-7EE1-FC49-19C4-BE44722C2084}"/>
              </a:ext>
            </a:extLst>
          </p:cNvPr>
          <p:cNvSpPr/>
          <p:nvPr/>
        </p:nvSpPr>
        <p:spPr>
          <a:xfrm>
            <a:off x="7120155" y="1417661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67;p14">
            <a:extLst>
              <a:ext uri="{FF2B5EF4-FFF2-40B4-BE49-F238E27FC236}">
                <a16:creationId xmlns:a16="http://schemas.microsoft.com/office/drawing/2014/main" id="{E6E612ED-D8D1-8810-7ABE-0514D345B3C0}"/>
              </a:ext>
            </a:extLst>
          </p:cNvPr>
          <p:cNvSpPr/>
          <p:nvPr/>
        </p:nvSpPr>
        <p:spPr>
          <a:xfrm>
            <a:off x="9596133" y="1409162"/>
            <a:ext cx="293201" cy="2932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67;p14">
            <a:extLst>
              <a:ext uri="{FF2B5EF4-FFF2-40B4-BE49-F238E27FC236}">
                <a16:creationId xmlns:a16="http://schemas.microsoft.com/office/drawing/2014/main" id="{0907DB81-C811-BB12-C13F-393DCFA114D7}"/>
              </a:ext>
            </a:extLst>
          </p:cNvPr>
          <p:cNvSpPr/>
          <p:nvPr/>
        </p:nvSpPr>
        <p:spPr>
          <a:xfrm>
            <a:off x="10298600" y="1409162"/>
            <a:ext cx="293201" cy="2932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A4160B83-F3A3-4CEC-9B38-0178944A6B16}"/>
              </a:ext>
            </a:extLst>
          </p:cNvPr>
          <p:cNvSpPr txBox="1">
            <a:spLocks noChangeAspect="1"/>
          </p:cNvSpPr>
          <p:nvPr/>
        </p:nvSpPr>
        <p:spPr>
          <a:xfrm>
            <a:off x="874859" y="3294684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2 JO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B56EE401-9B6E-452C-AD57-C39148812149}"/>
              </a:ext>
            </a:extLst>
          </p:cNvPr>
          <p:cNvSpPr txBox="1"/>
          <p:nvPr/>
        </p:nvSpPr>
        <p:spPr>
          <a:xfrm>
            <a:off x="620865" y="3295324"/>
            <a:ext cx="219464" cy="3653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4 JO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7681119-CA9D-706A-EA5E-DA080B72C9E6}"/>
              </a:ext>
            </a:extLst>
          </p:cNvPr>
          <p:cNvSpPr txBox="1">
            <a:spLocks noChangeAspect="1"/>
          </p:cNvSpPr>
          <p:nvPr/>
        </p:nvSpPr>
        <p:spPr>
          <a:xfrm>
            <a:off x="874859" y="2406122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2 JO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9F35B7B-6D04-1451-8B6E-DBA149BB636F}"/>
              </a:ext>
            </a:extLst>
          </p:cNvPr>
          <p:cNvSpPr txBox="1">
            <a:spLocks noChangeAspect="1"/>
          </p:cNvSpPr>
          <p:nvPr/>
        </p:nvSpPr>
        <p:spPr>
          <a:xfrm>
            <a:off x="873418" y="4207549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1 JO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F86048E-8FF0-D5C5-1163-79C0549FD18F}"/>
              </a:ext>
            </a:extLst>
          </p:cNvPr>
          <p:cNvSpPr txBox="1"/>
          <p:nvPr/>
        </p:nvSpPr>
        <p:spPr>
          <a:xfrm>
            <a:off x="873418" y="3757522"/>
            <a:ext cx="219464" cy="36534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EA17235-1717-4B7D-55E2-B32C3C8EDA4E}"/>
              </a:ext>
            </a:extLst>
          </p:cNvPr>
          <p:cNvSpPr txBox="1">
            <a:spLocks noChangeAspect="1"/>
          </p:cNvSpPr>
          <p:nvPr/>
        </p:nvSpPr>
        <p:spPr>
          <a:xfrm>
            <a:off x="1129253" y="4207549"/>
            <a:ext cx="219464" cy="36534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1 JO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CED6275-5265-FE1D-25B8-0970E8C390FD}"/>
              </a:ext>
            </a:extLst>
          </p:cNvPr>
          <p:cNvSpPr txBox="1"/>
          <p:nvPr/>
        </p:nvSpPr>
        <p:spPr>
          <a:xfrm>
            <a:off x="1129253" y="4657579"/>
            <a:ext cx="219464" cy="3653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9A445FC-9713-820D-237E-3B0B7257F5D8}"/>
              </a:ext>
            </a:extLst>
          </p:cNvPr>
          <p:cNvSpPr txBox="1"/>
          <p:nvPr/>
        </p:nvSpPr>
        <p:spPr>
          <a:xfrm>
            <a:off x="1129253" y="3757522"/>
            <a:ext cx="219464" cy="3653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BD3C8A9-C12A-73C5-46A6-3E150B5E3183}"/>
              </a:ext>
            </a:extLst>
          </p:cNvPr>
          <p:cNvSpPr txBox="1">
            <a:spLocks noChangeAspect="1"/>
          </p:cNvSpPr>
          <p:nvPr/>
        </p:nvSpPr>
        <p:spPr>
          <a:xfrm>
            <a:off x="1129253" y="2407439"/>
            <a:ext cx="219464" cy="36534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110AF75-5A2D-A187-BA69-F5251B974CCE}"/>
              </a:ext>
            </a:extLst>
          </p:cNvPr>
          <p:cNvSpPr txBox="1"/>
          <p:nvPr/>
        </p:nvSpPr>
        <p:spPr>
          <a:xfrm>
            <a:off x="1129253" y="2857467"/>
            <a:ext cx="219464" cy="3653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9D4D369-1C88-4EEB-294A-64C2F44731FF}"/>
              </a:ext>
            </a:extLst>
          </p:cNvPr>
          <p:cNvSpPr txBox="1"/>
          <p:nvPr/>
        </p:nvSpPr>
        <p:spPr>
          <a:xfrm>
            <a:off x="1129253" y="3295324"/>
            <a:ext cx="219464" cy="3653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388D8F2-258A-ED58-F3C9-F60EB8F44AD0}"/>
              </a:ext>
            </a:extLst>
          </p:cNvPr>
          <p:cNvSpPr txBox="1">
            <a:spLocks noChangeAspect="1"/>
          </p:cNvSpPr>
          <p:nvPr/>
        </p:nvSpPr>
        <p:spPr>
          <a:xfrm>
            <a:off x="1384752" y="4207549"/>
            <a:ext cx="219464" cy="36534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2 JO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A35A839-1B52-E955-E58F-BB9093C426FA}"/>
              </a:ext>
            </a:extLst>
          </p:cNvPr>
          <p:cNvSpPr txBox="1"/>
          <p:nvPr/>
        </p:nvSpPr>
        <p:spPr>
          <a:xfrm>
            <a:off x="1384752" y="4657579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B3FFA751-16C3-C5FC-7534-B70F70A36149}"/>
              </a:ext>
            </a:extLst>
          </p:cNvPr>
          <p:cNvSpPr txBox="1"/>
          <p:nvPr/>
        </p:nvSpPr>
        <p:spPr>
          <a:xfrm>
            <a:off x="1384752" y="3757522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8A6A8674-0BD6-0EE5-587F-5DD79C28F6ED}"/>
              </a:ext>
            </a:extLst>
          </p:cNvPr>
          <p:cNvSpPr txBox="1"/>
          <p:nvPr/>
        </p:nvSpPr>
        <p:spPr>
          <a:xfrm>
            <a:off x="1384752" y="3295324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03C4AED7-341E-90BC-6A6E-3E070743A814}"/>
              </a:ext>
            </a:extLst>
          </p:cNvPr>
          <p:cNvSpPr txBox="1">
            <a:spLocks noChangeAspect="1"/>
          </p:cNvSpPr>
          <p:nvPr/>
        </p:nvSpPr>
        <p:spPr>
          <a:xfrm>
            <a:off x="4626082" y="2856827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8 JO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122ABB2D-8731-7D16-A4C1-8249F90DEBF7}"/>
              </a:ext>
            </a:extLst>
          </p:cNvPr>
          <p:cNvSpPr txBox="1">
            <a:spLocks noChangeAspect="1"/>
          </p:cNvSpPr>
          <p:nvPr/>
        </p:nvSpPr>
        <p:spPr>
          <a:xfrm>
            <a:off x="4372088" y="2407439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5 JO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318966FF-59A0-032D-DAB2-D04AA2B9C0CB}"/>
              </a:ext>
            </a:extLst>
          </p:cNvPr>
          <p:cNvSpPr txBox="1"/>
          <p:nvPr/>
        </p:nvSpPr>
        <p:spPr>
          <a:xfrm>
            <a:off x="4372088" y="2857467"/>
            <a:ext cx="219464" cy="3653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4 JO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11A41A00-03F5-6619-1971-70823323EB08}"/>
              </a:ext>
            </a:extLst>
          </p:cNvPr>
          <p:cNvSpPr txBox="1">
            <a:spLocks noChangeAspect="1"/>
          </p:cNvSpPr>
          <p:nvPr/>
        </p:nvSpPr>
        <p:spPr>
          <a:xfrm>
            <a:off x="4626082" y="3294684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3 JO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4289E27D-3A68-CBDB-B725-6400BD688AF2}"/>
              </a:ext>
            </a:extLst>
          </p:cNvPr>
          <p:cNvSpPr txBox="1"/>
          <p:nvPr/>
        </p:nvSpPr>
        <p:spPr>
          <a:xfrm>
            <a:off x="4372088" y="3295324"/>
            <a:ext cx="219464" cy="3653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9D417F6C-76FF-C87B-860A-9CFBD3768110}"/>
              </a:ext>
            </a:extLst>
          </p:cNvPr>
          <p:cNvSpPr txBox="1">
            <a:spLocks noChangeAspect="1"/>
          </p:cNvSpPr>
          <p:nvPr/>
        </p:nvSpPr>
        <p:spPr>
          <a:xfrm>
            <a:off x="4626082" y="2406122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5 JO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A779E18D-B866-0260-0F07-8186B06EFBB8}"/>
              </a:ext>
            </a:extLst>
          </p:cNvPr>
          <p:cNvSpPr txBox="1">
            <a:spLocks noChangeAspect="1"/>
          </p:cNvSpPr>
          <p:nvPr/>
        </p:nvSpPr>
        <p:spPr>
          <a:xfrm>
            <a:off x="4880476" y="2407439"/>
            <a:ext cx="219464" cy="36534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686D253C-037B-65FF-383D-CDD5C2F94A20}"/>
              </a:ext>
            </a:extLst>
          </p:cNvPr>
          <p:cNvSpPr txBox="1"/>
          <p:nvPr/>
        </p:nvSpPr>
        <p:spPr>
          <a:xfrm>
            <a:off x="4880476" y="2857467"/>
            <a:ext cx="219464" cy="3653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D44EAF57-7AC1-7022-2D94-F6287F9B757F}"/>
              </a:ext>
            </a:extLst>
          </p:cNvPr>
          <p:cNvSpPr txBox="1"/>
          <p:nvPr/>
        </p:nvSpPr>
        <p:spPr>
          <a:xfrm>
            <a:off x="4880476" y="3295324"/>
            <a:ext cx="219464" cy="3653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904A4174-B14B-27D6-1D9F-8D2F81063BB6}"/>
              </a:ext>
            </a:extLst>
          </p:cNvPr>
          <p:cNvSpPr txBox="1"/>
          <p:nvPr/>
        </p:nvSpPr>
        <p:spPr>
          <a:xfrm>
            <a:off x="5135975" y="3295324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7 JO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4B26AB6D-924F-1B6B-F85F-018EDD83A075}"/>
              </a:ext>
            </a:extLst>
          </p:cNvPr>
          <p:cNvSpPr txBox="1"/>
          <p:nvPr/>
        </p:nvSpPr>
        <p:spPr>
          <a:xfrm>
            <a:off x="5135975" y="2856828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29F920EA-6E69-ECDC-B4A2-19E124E6A6D9}"/>
              </a:ext>
            </a:extLst>
          </p:cNvPr>
          <p:cNvSpPr txBox="1"/>
          <p:nvPr/>
        </p:nvSpPr>
        <p:spPr>
          <a:xfrm>
            <a:off x="5126221" y="2406123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4 JO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12AA7E7E-C5EB-294D-C2EC-640992120FDD}"/>
              </a:ext>
            </a:extLst>
          </p:cNvPr>
          <p:cNvSpPr txBox="1">
            <a:spLocks noChangeAspect="1"/>
          </p:cNvSpPr>
          <p:nvPr/>
        </p:nvSpPr>
        <p:spPr>
          <a:xfrm>
            <a:off x="8341987" y="2849232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1 JO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BE1967B6-E3EF-8DEB-582B-AF3F6F14AB6A}"/>
              </a:ext>
            </a:extLst>
          </p:cNvPr>
          <p:cNvSpPr txBox="1"/>
          <p:nvPr/>
        </p:nvSpPr>
        <p:spPr>
          <a:xfrm>
            <a:off x="8087993" y="3749927"/>
            <a:ext cx="219464" cy="3653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19F3E72-F852-2D76-BCCB-21FC32D381E1}"/>
              </a:ext>
            </a:extLst>
          </p:cNvPr>
          <p:cNvSpPr txBox="1">
            <a:spLocks noChangeAspect="1"/>
          </p:cNvSpPr>
          <p:nvPr/>
        </p:nvSpPr>
        <p:spPr>
          <a:xfrm>
            <a:off x="8087993" y="2399844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7CD88AF8-F752-43F5-23F3-D74288C80D70}"/>
              </a:ext>
            </a:extLst>
          </p:cNvPr>
          <p:cNvSpPr txBox="1">
            <a:spLocks noChangeAspect="1"/>
          </p:cNvSpPr>
          <p:nvPr/>
        </p:nvSpPr>
        <p:spPr>
          <a:xfrm>
            <a:off x="8341987" y="3287089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2 JO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EBFB34B-7E1D-DED8-3089-D8B4721829BD}"/>
              </a:ext>
            </a:extLst>
          </p:cNvPr>
          <p:cNvSpPr txBox="1"/>
          <p:nvPr/>
        </p:nvSpPr>
        <p:spPr>
          <a:xfrm>
            <a:off x="8087993" y="3287729"/>
            <a:ext cx="219464" cy="3653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4 JO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81D92B22-74B8-E1E1-CBD5-A4BB032F8975}"/>
              </a:ext>
            </a:extLst>
          </p:cNvPr>
          <p:cNvSpPr txBox="1">
            <a:spLocks noChangeAspect="1"/>
          </p:cNvSpPr>
          <p:nvPr/>
        </p:nvSpPr>
        <p:spPr>
          <a:xfrm>
            <a:off x="8341987" y="2398527"/>
            <a:ext cx="219464" cy="36534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2 JO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52BF4562-4AB6-A822-6CE5-8BCF4BCCCCF0}"/>
              </a:ext>
            </a:extLst>
          </p:cNvPr>
          <p:cNvSpPr txBox="1"/>
          <p:nvPr/>
        </p:nvSpPr>
        <p:spPr>
          <a:xfrm>
            <a:off x="8340546" y="3749927"/>
            <a:ext cx="219464" cy="36534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5ED85ECA-6FF6-0FF2-C010-77220E06E78A}"/>
              </a:ext>
            </a:extLst>
          </p:cNvPr>
          <p:cNvSpPr txBox="1"/>
          <p:nvPr/>
        </p:nvSpPr>
        <p:spPr>
          <a:xfrm>
            <a:off x="8596381" y="3749927"/>
            <a:ext cx="219464" cy="3653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98E1A011-F6F3-5394-A5CB-D5585D038572}"/>
              </a:ext>
            </a:extLst>
          </p:cNvPr>
          <p:cNvSpPr txBox="1"/>
          <p:nvPr/>
        </p:nvSpPr>
        <p:spPr>
          <a:xfrm>
            <a:off x="8851880" y="3749927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AA0F9F36-7126-04D0-4E1C-68B68524640E}"/>
              </a:ext>
            </a:extLst>
          </p:cNvPr>
          <p:cNvSpPr txBox="1"/>
          <p:nvPr/>
        </p:nvSpPr>
        <p:spPr>
          <a:xfrm>
            <a:off x="8851880" y="3287729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2 JO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B7B5C0E2-8CCC-EAC0-7999-6BDFECFBFF28}"/>
              </a:ext>
            </a:extLst>
          </p:cNvPr>
          <p:cNvSpPr txBox="1"/>
          <p:nvPr/>
        </p:nvSpPr>
        <p:spPr>
          <a:xfrm>
            <a:off x="8861043" y="2851200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2E050956-4535-EFE2-C72A-07C80397F733}"/>
              </a:ext>
            </a:extLst>
          </p:cNvPr>
          <p:cNvSpPr txBox="1"/>
          <p:nvPr/>
        </p:nvSpPr>
        <p:spPr>
          <a:xfrm>
            <a:off x="8861043" y="2389002"/>
            <a:ext cx="219464" cy="36534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6FF89-CBE6-AE7A-3886-7AF108C64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EE0993-3B2E-0186-84B7-8848CC3D54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Coût et Rentabilité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C8A3CFA-79F4-B28D-FD4C-0C82B28440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Combien cela  nous coûte et combien nous estimons gagner</a:t>
            </a:r>
          </a:p>
        </p:txBody>
      </p:sp>
    </p:spTree>
    <p:extLst>
      <p:ext uri="{BB962C8B-B14F-4D97-AF65-F5344CB8AC3E}">
        <p14:creationId xmlns:p14="http://schemas.microsoft.com/office/powerpoint/2010/main" val="1322429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BF9E53-45E3-BAC7-8CFF-12DA655FC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9456"/>
            <a:ext cx="10515600" cy="1325563"/>
          </a:xfrm>
        </p:spPr>
        <p:txBody>
          <a:bodyPr/>
          <a:lstStyle/>
          <a:p>
            <a:r>
              <a:rPr lang="fr-FR" b="1" dirty="0"/>
              <a:t>Hypothèses business (Marketing)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FBDBE8-E281-3429-9E45-7F7E79B8F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5019"/>
            <a:ext cx="10360378" cy="2407708"/>
          </a:xfrm>
        </p:spPr>
        <p:txBody>
          <a:bodyPr/>
          <a:lstStyle/>
          <a:p>
            <a:r>
              <a:rPr lang="fr-FR" b="1" dirty="0"/>
              <a:t>+14 %</a:t>
            </a:r>
            <a:r>
              <a:rPr lang="fr-FR" dirty="0"/>
              <a:t> de CA Web attendu sur 24 mois</a:t>
            </a:r>
          </a:p>
          <a:p>
            <a:r>
              <a:rPr lang="fr-FR" b="1" dirty="0"/>
              <a:t>+3 %</a:t>
            </a:r>
            <a:r>
              <a:rPr lang="fr-FR" dirty="0"/>
              <a:t> de CA Web normal sur 24 mois</a:t>
            </a:r>
          </a:p>
          <a:p>
            <a:r>
              <a:rPr lang="fr-FR" b="1" dirty="0"/>
              <a:t>400 k</a:t>
            </a:r>
            <a:r>
              <a:rPr lang="fr-FR" dirty="0"/>
              <a:t> utilisateurs mobiles / an à terme</a:t>
            </a:r>
          </a:p>
          <a:p>
            <a:r>
              <a:rPr lang="fr-FR" b="1" dirty="0"/>
              <a:t>Quelques dizaines de milliers</a:t>
            </a:r>
            <a:r>
              <a:rPr lang="fr-FR" dirty="0"/>
              <a:t> d'utilisateurs particulièrement actifs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78196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F84464-828B-8A22-397F-5E7C4D47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Coûts Fixes et Récurrents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FC076397-F5F5-5AAE-7400-CD54462E4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923357"/>
              </p:ext>
            </p:extLst>
          </p:nvPr>
        </p:nvGraphicFramePr>
        <p:xfrm>
          <a:off x="1095375" y="1457166"/>
          <a:ext cx="10515600" cy="4154805"/>
        </p:xfrm>
        <a:graphic>
          <a:graphicData uri="http://schemas.openxmlformats.org/drawingml/2006/table">
            <a:tbl>
              <a:tblPr/>
              <a:tblGrid>
                <a:gridCol w="2221829">
                  <a:extLst>
                    <a:ext uri="{9D8B030D-6E8A-4147-A177-3AD203B41FA5}">
                      <a16:colId xmlns:a16="http://schemas.microsoft.com/office/drawing/2014/main" val="551282521"/>
                    </a:ext>
                  </a:extLst>
                </a:gridCol>
                <a:gridCol w="317404">
                  <a:extLst>
                    <a:ext uri="{9D8B030D-6E8A-4147-A177-3AD203B41FA5}">
                      <a16:colId xmlns:a16="http://schemas.microsoft.com/office/drawing/2014/main" val="469944247"/>
                    </a:ext>
                  </a:extLst>
                </a:gridCol>
                <a:gridCol w="1460059">
                  <a:extLst>
                    <a:ext uri="{9D8B030D-6E8A-4147-A177-3AD203B41FA5}">
                      <a16:colId xmlns:a16="http://schemas.microsoft.com/office/drawing/2014/main" val="97881119"/>
                    </a:ext>
                  </a:extLst>
                </a:gridCol>
                <a:gridCol w="1742549">
                  <a:extLst>
                    <a:ext uri="{9D8B030D-6E8A-4147-A177-3AD203B41FA5}">
                      <a16:colId xmlns:a16="http://schemas.microsoft.com/office/drawing/2014/main" val="811030093"/>
                    </a:ext>
                  </a:extLst>
                </a:gridCol>
                <a:gridCol w="203139">
                  <a:extLst>
                    <a:ext uri="{9D8B030D-6E8A-4147-A177-3AD203B41FA5}">
                      <a16:colId xmlns:a16="http://schemas.microsoft.com/office/drawing/2014/main" val="2465021958"/>
                    </a:ext>
                  </a:extLst>
                </a:gridCol>
                <a:gridCol w="761770">
                  <a:extLst>
                    <a:ext uri="{9D8B030D-6E8A-4147-A177-3AD203B41FA5}">
                      <a16:colId xmlns:a16="http://schemas.microsoft.com/office/drawing/2014/main" val="3619171299"/>
                    </a:ext>
                  </a:extLst>
                </a:gridCol>
                <a:gridCol w="761770">
                  <a:extLst>
                    <a:ext uri="{9D8B030D-6E8A-4147-A177-3AD203B41FA5}">
                      <a16:colId xmlns:a16="http://schemas.microsoft.com/office/drawing/2014/main" val="2918620613"/>
                    </a:ext>
                  </a:extLst>
                </a:gridCol>
                <a:gridCol w="761770">
                  <a:extLst>
                    <a:ext uri="{9D8B030D-6E8A-4147-A177-3AD203B41FA5}">
                      <a16:colId xmlns:a16="http://schemas.microsoft.com/office/drawing/2014/main" val="3971764418"/>
                    </a:ext>
                  </a:extLst>
                </a:gridCol>
                <a:gridCol w="761770">
                  <a:extLst>
                    <a:ext uri="{9D8B030D-6E8A-4147-A177-3AD203B41FA5}">
                      <a16:colId xmlns:a16="http://schemas.microsoft.com/office/drawing/2014/main" val="299708977"/>
                    </a:ext>
                  </a:extLst>
                </a:gridCol>
                <a:gridCol w="761770">
                  <a:extLst>
                    <a:ext uri="{9D8B030D-6E8A-4147-A177-3AD203B41FA5}">
                      <a16:colId xmlns:a16="http://schemas.microsoft.com/office/drawing/2014/main" val="3552394018"/>
                    </a:ext>
                  </a:extLst>
                </a:gridCol>
                <a:gridCol w="761770">
                  <a:extLst>
                    <a:ext uri="{9D8B030D-6E8A-4147-A177-3AD203B41FA5}">
                      <a16:colId xmlns:a16="http://schemas.microsoft.com/office/drawing/2014/main" val="305312797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 shot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 shot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Récurrent / Annuel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5501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Ressources Humaines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Taux/Jour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3351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9476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0442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Engineer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370 €/jour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4 440 €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5 920 €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2 590 €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4116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ML Ops Engineer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360 €/jour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2 520 €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5 040 €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3 600 €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0823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 Lead Data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400 €/jour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2 000 €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2 800 €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035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Scientist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350 €/jour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8 400 €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3 850 €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2 800 €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5370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2324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3008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 shot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 shot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Récurrent / Annuel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0191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Service Azure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Ressources Materiels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Taux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0132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6981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7076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Azure Blob Storage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Stockage images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0,02€ / Go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50Go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150Go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2000Go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432 €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1188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Azure Machine Learning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Modèles ML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0,45€ / h GPU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3361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Azure Machine Learning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Modèles ML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0,45€ / h GPU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4855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Azure Machine Learning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Modèles ML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0,45€ / h GPU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8516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Azure AI Search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Recherche vectorielle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0,25€ / 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730h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183 €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730h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2 190 €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0855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Azure Machine Learning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Modèles ML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0,45€ / h GPU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4522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Azure Container Apps / App Service / AKS (API)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API recommandation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0,00€ / vCPU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900 000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1 000 000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144 €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910066"/>
                  </a:ext>
                </a:extLst>
              </a:tr>
            </a:tbl>
          </a:graphicData>
        </a:graphic>
      </p:graphicFrame>
      <p:graphicFrame>
        <p:nvGraphicFramePr>
          <p:cNvPr id="11" name="Objet 10">
            <a:extLst>
              <a:ext uri="{FF2B5EF4-FFF2-40B4-BE49-F238E27FC236}">
                <a16:creationId xmlns:a16="http://schemas.microsoft.com/office/drawing/2014/main" id="{8E616374-3AFF-1D5C-D613-4057E08844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878797"/>
              </p:ext>
            </p:extLst>
          </p:nvPr>
        </p:nvGraphicFramePr>
        <p:xfrm>
          <a:off x="6677025" y="5975350"/>
          <a:ext cx="49339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934090" imgH="390661" progId="Excel.Sheet.12">
                  <p:embed/>
                </p:oleObj>
              </mc:Choice>
              <mc:Fallback>
                <p:oleObj name="Worksheet" r:id="rId3" imgW="4934090" imgH="39066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77025" y="5975350"/>
                        <a:ext cx="4933950" cy="3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84915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DFA587-FE8C-07F9-D4BB-F0F80BD3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Projection sur 24 mois</a:t>
            </a:r>
            <a:br>
              <a:rPr lang="fr-FR" dirty="0"/>
            </a:br>
            <a:r>
              <a:rPr lang="fr-FR" sz="3200" dirty="0"/>
              <a:t>Référence / Hypothèse</a:t>
            </a:r>
            <a:endParaRPr lang="fr-FR" dirty="0"/>
          </a:p>
        </p:txBody>
      </p:sp>
      <p:graphicFrame>
        <p:nvGraphicFramePr>
          <p:cNvPr id="18" name="Objet 17">
            <a:extLst>
              <a:ext uri="{FF2B5EF4-FFF2-40B4-BE49-F238E27FC236}">
                <a16:creationId xmlns:a16="http://schemas.microsoft.com/office/drawing/2014/main" id="{8A512025-DCCB-454C-75D1-081BDBDDB4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532894"/>
              </p:ext>
            </p:extLst>
          </p:nvPr>
        </p:nvGraphicFramePr>
        <p:xfrm>
          <a:off x="6286500" y="833438"/>
          <a:ext cx="5738813" cy="150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400435" imgH="1152389" progId="Excel.Sheet.12">
                  <p:embed/>
                </p:oleObj>
              </mc:Choice>
              <mc:Fallback>
                <p:oleObj name="Worksheet" r:id="rId3" imgW="4400435" imgH="115238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00" y="833438"/>
                        <a:ext cx="5738813" cy="1503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 18">
            <a:extLst>
              <a:ext uri="{FF2B5EF4-FFF2-40B4-BE49-F238E27FC236}">
                <a16:creationId xmlns:a16="http://schemas.microsoft.com/office/drawing/2014/main" id="{9D9F7380-3589-EB52-0105-4B90259FF3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717292"/>
              </p:ext>
            </p:extLst>
          </p:nvPr>
        </p:nvGraphicFramePr>
        <p:xfrm>
          <a:off x="478699" y="2702101"/>
          <a:ext cx="11018778" cy="3790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5343582" imgH="1838189" progId="Excel.Sheet.12">
                  <p:embed/>
                </p:oleObj>
              </mc:Choice>
              <mc:Fallback>
                <p:oleObj name="Worksheet" r:id="rId5" imgW="5343582" imgH="183818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8699" y="2702101"/>
                        <a:ext cx="11018778" cy="37907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208BABA-BFDD-AC83-3E61-0F5B3D9CAF64}"/>
              </a:ext>
            </a:extLst>
          </p:cNvPr>
          <p:cNvSpPr/>
          <p:nvPr/>
        </p:nvSpPr>
        <p:spPr>
          <a:xfrm>
            <a:off x="478699" y="4559653"/>
            <a:ext cx="11018778" cy="367947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74056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D7362B-E2D5-A79B-974E-F62AE5CB4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Projection sur 24 mois</a:t>
            </a:r>
            <a:endParaRPr lang="fr-FR" dirty="0"/>
          </a:p>
        </p:txBody>
      </p:sp>
      <p:graphicFrame>
        <p:nvGraphicFramePr>
          <p:cNvPr id="10" name="Graphique 9">
            <a:extLst>
              <a:ext uri="{FF2B5EF4-FFF2-40B4-BE49-F238E27FC236}">
                <a16:creationId xmlns:a16="http://schemas.microsoft.com/office/drawing/2014/main" id="{4EC8D331-3E1C-12F0-C895-2595AD961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6470314"/>
              </p:ext>
            </p:extLst>
          </p:nvPr>
        </p:nvGraphicFramePr>
        <p:xfrm>
          <a:off x="1610518" y="1500981"/>
          <a:ext cx="8970963" cy="4991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554DBE4-AA24-D274-56EB-AD14F76B93B8}"/>
              </a:ext>
            </a:extLst>
          </p:cNvPr>
          <p:cNvCxnSpPr/>
          <p:nvPr/>
        </p:nvCxnSpPr>
        <p:spPr>
          <a:xfrm flipV="1">
            <a:off x="4622800" y="2616200"/>
            <a:ext cx="0" cy="3327400"/>
          </a:xfrm>
          <a:prstGeom prst="line">
            <a:avLst/>
          </a:prstGeom>
          <a:ln w="44450"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038B077C-DDE9-9367-3AA7-6E734B895BF1}"/>
              </a:ext>
            </a:extLst>
          </p:cNvPr>
          <p:cNvSpPr txBox="1"/>
          <p:nvPr/>
        </p:nvSpPr>
        <p:spPr>
          <a:xfrm>
            <a:off x="3600450" y="1957169"/>
            <a:ext cx="201929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accent2"/>
                </a:solidFill>
              </a:rPr>
              <a:t>Seuil de rentabilité</a:t>
            </a:r>
          </a:p>
          <a:p>
            <a:pPr algn="ctr"/>
            <a:r>
              <a:rPr lang="fr-FR" dirty="0">
                <a:solidFill>
                  <a:schemeClr val="accent2"/>
                </a:solidFill>
              </a:rPr>
              <a:t>à 8 mois</a:t>
            </a:r>
          </a:p>
        </p:txBody>
      </p:sp>
    </p:spTree>
    <p:extLst>
      <p:ext uri="{BB962C8B-B14F-4D97-AF65-F5344CB8AC3E}">
        <p14:creationId xmlns:p14="http://schemas.microsoft.com/office/powerpoint/2010/main" val="23588298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erci Beaucoup&quot; - Images et vidéos libres de droits | Adobe Stock">
            <a:extLst>
              <a:ext uri="{FF2B5EF4-FFF2-40B4-BE49-F238E27FC236}">
                <a16:creationId xmlns:a16="http://schemas.microsoft.com/office/drawing/2014/main" id="{8561B74A-B030-FC8A-31EF-37B812135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013" y="1714500"/>
            <a:ext cx="5133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2275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4643</TotalTime>
  <Words>3050</Words>
  <Application>Microsoft Office PowerPoint</Application>
  <PresentationFormat>Grand écran</PresentationFormat>
  <Paragraphs>698</Paragraphs>
  <Slides>32</Slides>
  <Notes>29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40" baseType="lpstr">
      <vt:lpstr>Arial</vt:lpstr>
      <vt:lpstr>Arial Black</vt:lpstr>
      <vt:lpstr>Calibri</vt:lpstr>
      <vt:lpstr>Calibri Light</vt:lpstr>
      <vt:lpstr>Nunito</vt:lpstr>
      <vt:lpstr>Verdana</vt:lpstr>
      <vt:lpstr>Thème Office</vt:lpstr>
      <vt:lpstr>Feuille de calcul Microsoft Excel</vt:lpstr>
      <vt:lpstr>Cadrage Projet IA</vt:lpstr>
      <vt:lpstr>Contexte et Objectif</vt:lpstr>
      <vt:lpstr>Besoin métier</vt:lpstr>
      <vt:lpstr>PoC</vt:lpstr>
      <vt:lpstr>Fonctionnalité centrale</vt:lpstr>
      <vt:lpstr>Périmètre du PoC</vt:lpstr>
      <vt:lpstr>Besoin =&gt; Problème ML</vt:lpstr>
      <vt:lpstr>(A Consolider)</vt:lpstr>
      <vt:lpstr>Approche 1 : Recommandation par similarité</vt:lpstr>
      <vt:lpstr>Photo utilisateur ↓ Segmentation ↓ Vectorisation ↓ Recherche d'articles similaires ↓ Classement</vt:lpstr>
      <vt:lpstr>D'où vient le signal de similarité ?</vt:lpstr>
      <vt:lpstr>Exemple</vt:lpstr>
      <vt:lpstr>Approche 2 : Recommandation par compatibilité</vt:lpstr>
      <vt:lpstr>Photo utilisateur ↓ Segmentation ↓ Vectorisation ↓ Recherche par compatibilité ↓ Classement</vt:lpstr>
      <vt:lpstr>D'où vient le signal de compatibilité ?</vt:lpstr>
      <vt:lpstr>Exemple</vt:lpstr>
      <vt:lpstr>Données nécessaires</vt:lpstr>
      <vt:lpstr>Comparaison des deux approches</vt:lpstr>
      <vt:lpstr>System Design</vt:lpstr>
      <vt:lpstr>Présentation PowerPoint</vt:lpstr>
      <vt:lpstr>Critères de succès</vt:lpstr>
      <vt:lpstr>1. Évaluer chaque brique technique</vt:lpstr>
      <vt:lpstr>2. Évaluer la valeur ajoutée des caractéristiques</vt:lpstr>
      <vt:lpstr>Critères métier</vt:lpstr>
      <vt:lpstr>Planning et Ressources</vt:lpstr>
      <vt:lpstr>Timeline du projet Data Science/IA </vt:lpstr>
      <vt:lpstr>Coût et Rentabilité</vt:lpstr>
      <vt:lpstr>Hypothèses business (Marketing)</vt:lpstr>
      <vt:lpstr>Coûts Fixes et Récurrents</vt:lpstr>
      <vt:lpstr>Projection sur 24 mois Référence / Hypothèse</vt:lpstr>
      <vt:lpstr>Projection sur 24 mois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auguey</dc:creator>
  <cp:lastModifiedBy>thomas auguey</cp:lastModifiedBy>
  <cp:revision>311</cp:revision>
  <dcterms:created xsi:type="dcterms:W3CDTF">2026-09-21T07:42:57Z</dcterms:created>
  <dcterms:modified xsi:type="dcterms:W3CDTF">2026-10-08T16:53:24Z</dcterms:modified>
</cp:coreProperties>
</file>