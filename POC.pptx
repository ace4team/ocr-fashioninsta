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3"/>
  </p:notesMasterIdLst>
  <p:sldIdLst>
    <p:sldId id="256" r:id="rId2"/>
    <p:sldId id="257" r:id="rId3"/>
    <p:sldId id="258" r:id="rId4"/>
    <p:sldId id="259" r:id="rId5"/>
    <p:sldId id="272" r:id="rId6"/>
    <p:sldId id="269" r:id="rId7"/>
    <p:sldId id="268" r:id="rId8"/>
    <p:sldId id="262" r:id="rId9"/>
    <p:sldId id="273" r:id="rId10"/>
    <p:sldId id="274" r:id="rId11"/>
    <p:sldId id="263" r:id="rId12"/>
    <p:sldId id="275" r:id="rId13"/>
    <p:sldId id="290" r:id="rId14"/>
    <p:sldId id="286" r:id="rId15"/>
    <p:sldId id="287" r:id="rId16"/>
    <p:sldId id="289" r:id="rId17"/>
    <p:sldId id="288" r:id="rId18"/>
    <p:sldId id="276" r:id="rId19"/>
    <p:sldId id="277" r:id="rId20"/>
    <p:sldId id="278" r:id="rId21"/>
    <p:sldId id="291" r:id="rId22"/>
    <p:sldId id="280" r:id="rId23"/>
    <p:sldId id="264" r:id="rId24"/>
    <p:sldId id="281" r:id="rId25"/>
    <p:sldId id="265" r:id="rId26"/>
    <p:sldId id="282" r:id="rId27"/>
    <p:sldId id="283" r:id="rId28"/>
    <p:sldId id="266" r:id="rId29"/>
    <p:sldId id="284" r:id="rId30"/>
    <p:sldId id="285" r:id="rId31"/>
    <p:sldId id="267" r:id="rId3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19" autoAdjust="0"/>
    <p:restoredTop sz="76387" autoAdjust="0"/>
  </p:normalViewPr>
  <p:slideViewPr>
    <p:cSldViewPr snapToGrid="0">
      <p:cViewPr varScale="1">
        <p:scale>
          <a:sx n="86" d="100"/>
          <a:sy n="86" d="100"/>
        </p:scale>
        <p:origin x="42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736815-A20C-4B10-B29D-B64D64FDFE35}" type="datetimeFigureOut">
              <a:rPr lang="fr-FR" smtClean="0"/>
              <a:t>23/09/2026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BFDC3EE-E837-4216-B82C-A4E0B6F89CB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305394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Quel problème </a:t>
            </a:r>
            <a:r>
              <a:rPr lang="fr-FR" dirty="0" err="1"/>
              <a:t>FashionInsta</a:t>
            </a:r>
            <a:r>
              <a:rPr lang="fr-FR" dirty="0"/>
              <a:t> veut résoudre ?</a:t>
            </a:r>
          </a:p>
          <a:p>
            <a:r>
              <a:rPr lang="fr-FR" dirty="0"/>
              <a:t>obtenir des recommandations personnalisées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DC3EE-E837-4216-B82C-A4E0B6F89CB4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866296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générer et classer les articles les plus pertinents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DC3EE-E837-4216-B82C-A4E0B6F89CB4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518896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Le </a:t>
            </a:r>
            <a:r>
              <a:rPr lang="fr-FR" dirty="0" err="1"/>
              <a:t>PoC</a:t>
            </a:r>
            <a:r>
              <a:rPr lang="fr-FR" dirty="0"/>
              <a:t> valide la faisabilité de la brique de recommandation, pas celle de l'application complète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DC3EE-E837-4216-B82C-A4E0B6F89CB4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079880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0E77D8-0A1F-E8EC-2AF0-4BA7FE907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F901EB5B-9AE2-A23A-B353-CD16BC2679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D15C3880-567C-1C46-8E98-8959827EC7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Besoin métier</a:t>
            </a:r>
            <a:endParaRPr lang="fr-FR" dirty="0"/>
          </a:p>
          <a:p>
            <a:r>
              <a:rPr lang="fr-FR" dirty="0"/>
              <a:t>Proposer à chaque utilisateur une sélection d’articles correspondant à ses préférences et à ses comportements.</a:t>
            </a:r>
          </a:p>
          <a:p>
            <a:r>
              <a:rPr lang="fr-FR" b="1" dirty="0"/>
              <a:t>Problème ML/IA</a:t>
            </a:r>
            <a:endParaRPr lang="fr-FR" dirty="0"/>
          </a:p>
          <a:p>
            <a:r>
              <a:rPr lang="fr-FR" dirty="0"/>
              <a:t>Prédire la pertinence des articles pour un utilisateur donné, puis classer les articles afin de sélectionner les </a:t>
            </a:r>
            <a:r>
              <a:rPr lang="fr-FR" b="1" dirty="0"/>
              <a:t>Top N recommandations</a:t>
            </a:r>
            <a:r>
              <a:rPr lang="fr-FR" dirty="0"/>
              <a:t>.</a:t>
            </a:r>
          </a:p>
          <a:p>
            <a:r>
              <a:rPr lang="fr-FR" b="1" dirty="0"/>
              <a:t>Entrées du modèle</a:t>
            </a:r>
            <a:endParaRPr lang="fr-FR" dirty="0"/>
          </a:p>
          <a:p>
            <a:r>
              <a:rPr lang="fr-FR" dirty="0"/>
              <a:t>Profil et préférences de l’utilisateur</a:t>
            </a:r>
          </a:p>
          <a:p>
            <a:r>
              <a:rPr lang="fr-FR" dirty="0"/>
              <a:t>Galerie photos: avec ou sans pose de l’utilisateur</a:t>
            </a:r>
          </a:p>
          <a:p>
            <a:r>
              <a:rPr lang="fr-FR" dirty="0"/>
              <a:t>Caractéristiques des articles : catégorie, marque, prix, description, image…</a:t>
            </a:r>
          </a:p>
          <a:p>
            <a:r>
              <a:rPr lang="fr-FR" b="1" dirty="0"/>
              <a:t>Sortie attendue</a:t>
            </a:r>
            <a:endParaRPr lang="fr-FR" dirty="0"/>
          </a:p>
          <a:p>
            <a:r>
              <a:rPr lang="fr-FR" dirty="0"/>
              <a:t>Une liste d’articles </a:t>
            </a:r>
            <a:r>
              <a:rPr lang="fr-FR" b="1" dirty="0"/>
              <a:t>classés par pertinence pour chaque utilisateur</a:t>
            </a:r>
            <a:r>
              <a:rPr lang="fr-FR" dirty="0"/>
              <a:t>.</a:t>
            </a:r>
          </a:p>
          <a:p>
            <a:r>
              <a:rPr lang="fr-FR" b="1" dirty="0"/>
              <a:t>Type de problème</a:t>
            </a:r>
            <a:endParaRPr lang="fr-FR" dirty="0"/>
          </a:p>
          <a:p>
            <a:r>
              <a:rPr lang="fr-FR" dirty="0"/>
              <a:t>Système de recommandation personnalisé :</a:t>
            </a:r>
          </a:p>
          <a:p>
            <a:r>
              <a:rPr lang="fr-FR" dirty="0"/>
              <a:t>Vision à partir de photos / images articles;</a:t>
            </a:r>
          </a:p>
          <a:p>
            <a:r>
              <a:rPr lang="fr-FR" dirty="0"/>
              <a:t>prédiction d’une préférence ou d’un score de pertinence ;</a:t>
            </a:r>
          </a:p>
          <a:p>
            <a:r>
              <a:rPr lang="fr-FR" dirty="0"/>
              <a:t>classement des articles (</a:t>
            </a:r>
            <a:r>
              <a:rPr lang="fr-FR" i="1" dirty="0" err="1"/>
              <a:t>ranking</a:t>
            </a:r>
            <a:r>
              <a:rPr lang="fr-FR" dirty="0"/>
              <a:t>).</a:t>
            </a:r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E27DBF7-0B85-9E94-4FBF-E201C7A1C1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DC3EE-E837-4216-B82C-A4E0B6F89CB4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788933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AFBD88-2270-9374-0591-F839B3D66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961CEFC4-C020-C4A8-5B84-49E1B7BAC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62F8F500-00DD-5C9E-6863-D9B8E1A861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quelles données le moteur de recommandation a besoin, et ce que l'on possède réellement pour le </a:t>
            </a:r>
            <a:r>
              <a:rPr lang="fr-FR" dirty="0" err="1"/>
              <a:t>PoC</a:t>
            </a:r>
            <a:endParaRPr lang="fr-FR" dirty="0"/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Les données (disponibles) ne sont pas encore exploitables sans travail de consolidation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Les données non-disponibles doivent être issue d’un </a:t>
            </a:r>
            <a:r>
              <a:rPr lang="fr-FR" dirty="0" err="1"/>
              <a:t>dataset</a:t>
            </a:r>
            <a:r>
              <a:rPr lang="fr-FR" dirty="0"/>
              <a:t> public</a:t>
            </a:r>
          </a:p>
          <a:p>
            <a:endParaRPr lang="fr-FR" dirty="0"/>
          </a:p>
          <a:p>
            <a:r>
              <a:rPr lang="fr-FR" dirty="0"/>
              <a:t>Utilisateur: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Garde Robe (Photos de l’utilisateur avec des vêtements qu’il possède)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Préférences (Marques, Styles, Influenceuses, blogs, tendances préférés)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fr-FR" dirty="0" err="1"/>
              <a:t>FashionInsta</a:t>
            </a:r>
            <a:endParaRPr lang="fr-F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Catalogue (Images différents angles, description, prix, tags des styles de vêtement)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Tendances (libellé des styles vendus dans le catalogue)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fr-FR" dirty="0"/>
              <a:t>Recommandations: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Articles similaires à la garde robe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Articles en corrélation avec les préférences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Feedback utilisateur des recommandations (note de pertinence)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297B478-B5A6-9C10-0C40-9A950DB078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DC3EE-E837-4216-B82C-A4E0B6F89CB4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740902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6B3729-6665-5637-B248-0BABA90A24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9D3174D4-F164-4B98-3E57-0891BCC500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A86077AB-A737-984B-31C7-53BD41617B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L'objectif est de disposer d'un catalogue suffisamment riche pour tester la recommandation, mais pas de reproduire immédiatement tout </a:t>
            </a:r>
            <a:r>
              <a:rPr lang="fr-FR" dirty="0" err="1"/>
              <a:t>FashionInsta</a:t>
            </a:r>
            <a:r>
              <a:rPr lang="fr-FR" dirty="0"/>
              <a:t>.</a:t>
            </a:r>
          </a:p>
          <a:p>
            <a:endParaRPr lang="fr-FR" dirty="0"/>
          </a:p>
          <a:p>
            <a:r>
              <a:rPr lang="fr-FR" dirty="0"/>
              <a:t>A permet de couvrir une catégorie économiquement importante avec un catalogue relativement maîtrisable.</a:t>
            </a:r>
          </a:p>
          <a:p>
            <a:r>
              <a:rPr lang="fr-FR" dirty="0"/>
              <a:t>B représente un compromis entre importance économique et diversité du catalogue.</a:t>
            </a:r>
          </a:p>
          <a:p>
            <a:r>
              <a:rPr lang="fr-FR" dirty="0"/>
              <a:t>C permettrait de tester le modèle dans un catalogue beaucoup plus large.</a:t>
            </a:r>
          </a:p>
          <a:p>
            <a:endParaRPr lang="fr-FR" dirty="0"/>
          </a:p>
          <a:p>
            <a:r>
              <a:rPr lang="fr-FR" dirty="0"/>
              <a:t>L’objectif est de sélectionner un périmètre représentatif de l’activité, tout en limitant la complexité de l’expérimentation.</a:t>
            </a:r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00F743B-E47F-B19B-490A-210801EBF0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DC3EE-E837-4216-B82C-A4E0B6F89CB4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9635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On transforme les vêtements en représentations vectorielles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DC3EE-E837-4216-B82C-A4E0B6F89CB4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0755844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8DFD2C-AEB5-D8AE-8E58-09F4A6B626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81192155-5FD2-7581-5898-6B596DB72A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9A796B91-4196-E50A-0E28-D9C1BFF5FD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On peut utiliser par exemple un modèle de type </a:t>
            </a:r>
            <a:r>
              <a:rPr lang="fr-FR" b="1" dirty="0" err="1"/>
              <a:t>FashionCLIP</a:t>
            </a:r>
            <a:r>
              <a:rPr lang="fr-FR" dirty="0"/>
              <a:t> comme candidat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E5BA683-83C6-18BB-44A0-80B15C8183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DC3EE-E837-4216-B82C-A4E0B6F89CB4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0677861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Approche 2 — Recommandation IA multimodale</a:t>
            </a:r>
          </a:p>
          <a:p>
            <a:r>
              <a:rPr lang="fr-FR" b="1" dirty="0"/>
              <a:t>Principe</a:t>
            </a:r>
            <a:endParaRPr lang="fr-FR" dirty="0"/>
          </a:p>
          <a:p>
            <a:r>
              <a:rPr lang="fr-FR" dirty="0"/>
              <a:t>Exploiter plusieurs modalités décrivant les articles afin de construire une représentation de leur contenu et d’identifier ceux qui correspondent aux préférences de l’utilisateur.</a:t>
            </a:r>
          </a:p>
          <a:p>
            <a:r>
              <a:rPr lang="fr-FR" b="1" dirty="0"/>
              <a:t>Données utilisées</a:t>
            </a:r>
            <a:endParaRPr lang="fr-FR" dirty="0"/>
          </a:p>
          <a:p>
            <a:r>
              <a:rPr lang="fr-FR" b="1" dirty="0"/>
              <a:t>Texte</a:t>
            </a:r>
            <a:r>
              <a:rPr lang="fr-FR" dirty="0"/>
              <a:t> : description, catégorie, marque, caractéristiques…</a:t>
            </a:r>
          </a:p>
          <a:p>
            <a:r>
              <a:rPr lang="fr-FR" b="1" dirty="0"/>
              <a:t>Image</a:t>
            </a:r>
            <a:r>
              <a:rPr lang="fr-FR" dirty="0"/>
              <a:t> : photo de l’article</a:t>
            </a:r>
          </a:p>
          <a:p>
            <a:r>
              <a:rPr lang="fr-FR" b="1" dirty="0"/>
              <a:t>Utilisateur</a:t>
            </a:r>
            <a:r>
              <a:rPr lang="fr-FR" dirty="0"/>
              <a:t> : historique des interactions et articles appréciés</a:t>
            </a:r>
          </a:p>
          <a:p>
            <a:r>
              <a:rPr lang="fr-FR" b="1" dirty="0"/>
              <a:t>Approche envisagée</a:t>
            </a:r>
            <a:endParaRPr lang="fr-FR" dirty="0"/>
          </a:p>
          <a:p>
            <a:r>
              <a:rPr lang="fr-FR" dirty="0"/>
              <a:t>Utiliser un modèle d’IA pour transformer les contenus des articles en </a:t>
            </a:r>
            <a:r>
              <a:rPr lang="fr-FR" b="1" dirty="0"/>
              <a:t>représentations vectorielles (</a:t>
            </a:r>
            <a:r>
              <a:rPr lang="fr-FR" b="1" dirty="0" err="1"/>
              <a:t>embeddings</a:t>
            </a:r>
            <a:r>
              <a:rPr lang="fr-FR" b="1" dirty="0"/>
              <a:t>)</a:t>
            </a:r>
            <a:r>
              <a:rPr lang="fr-FR" dirty="0"/>
              <a:t>.</a:t>
            </a:r>
          </a:p>
          <a:p>
            <a:r>
              <a:rPr lang="fr-FR" dirty="0"/>
              <a:t>Les articles appréciés par l’utilisateur permettent ensuite d'identifier les caractéristiques qui lui correspondent et de rechercher les articles similaires ou pertinents.</a:t>
            </a:r>
          </a:p>
          <a:p>
            <a:r>
              <a:rPr lang="fr-FR" b="1" dirty="0"/>
              <a:t>Pipeline</a:t>
            </a:r>
            <a:endParaRPr lang="fr-FR" dirty="0"/>
          </a:p>
          <a:p>
            <a:r>
              <a:rPr lang="fr-FR" dirty="0"/>
              <a:t>Texte + Image des articles</a:t>
            </a:r>
            <a:br>
              <a:rPr lang="fr-FR" dirty="0"/>
            </a:br>
            <a:r>
              <a:rPr lang="fr-FR" dirty="0"/>
              <a:t>↓</a:t>
            </a:r>
            <a:br>
              <a:rPr lang="fr-FR" dirty="0"/>
            </a:br>
            <a:r>
              <a:rPr lang="fr-FR" dirty="0"/>
              <a:t>Modèle multimodal / </a:t>
            </a:r>
            <a:r>
              <a:rPr lang="fr-FR" dirty="0" err="1"/>
              <a:t>embeddings</a:t>
            </a:r>
            <a:br>
              <a:rPr lang="fr-FR" dirty="0"/>
            </a:br>
            <a:r>
              <a:rPr lang="fr-FR" dirty="0"/>
              <a:t>↓</a:t>
            </a:r>
            <a:br>
              <a:rPr lang="fr-FR" dirty="0"/>
            </a:br>
            <a:r>
              <a:rPr lang="fr-FR" dirty="0"/>
              <a:t>Représentation vectorielle des articles</a:t>
            </a:r>
            <a:br>
              <a:rPr lang="fr-FR" dirty="0"/>
            </a:br>
            <a:r>
              <a:rPr lang="fr-FR" dirty="0"/>
              <a:t>↓</a:t>
            </a:r>
            <a:br>
              <a:rPr lang="fr-FR" dirty="0"/>
            </a:br>
            <a:r>
              <a:rPr lang="fr-FR" dirty="0"/>
              <a:t>Profil des préférences utilisateur</a:t>
            </a:r>
            <a:br>
              <a:rPr lang="fr-FR" dirty="0"/>
            </a:br>
            <a:r>
              <a:rPr lang="fr-FR" dirty="0"/>
              <a:t>↓</a:t>
            </a:r>
            <a:br>
              <a:rPr lang="fr-FR" dirty="0"/>
            </a:br>
            <a:r>
              <a:rPr lang="fr-FR" dirty="0"/>
              <a:t>Calcul de similarité / classement</a:t>
            </a:r>
            <a:br>
              <a:rPr lang="fr-FR" dirty="0"/>
            </a:br>
            <a:r>
              <a:rPr lang="fr-FR" dirty="0"/>
              <a:t>↓</a:t>
            </a:r>
            <a:br>
              <a:rPr lang="fr-FR" dirty="0"/>
            </a:br>
            <a:r>
              <a:rPr lang="fr-FR" b="1" dirty="0"/>
              <a:t>Top N recommandations</a:t>
            </a:r>
            <a:endParaRPr lang="fr-FR" dirty="0"/>
          </a:p>
          <a:p>
            <a:r>
              <a:rPr lang="fr-FR" b="1" dirty="0"/>
              <a:t>Évaluation</a:t>
            </a:r>
            <a:endParaRPr lang="fr-FR" dirty="0"/>
          </a:p>
          <a:p>
            <a:r>
              <a:rPr lang="fr-FR" dirty="0"/>
              <a:t>Comparer la pertinence des recommandations avec :</a:t>
            </a:r>
          </a:p>
          <a:p>
            <a:r>
              <a:rPr lang="fr-FR" b="1" dirty="0" err="1"/>
              <a:t>Precision@K</a:t>
            </a:r>
            <a:endParaRPr lang="fr-FR" dirty="0"/>
          </a:p>
          <a:p>
            <a:r>
              <a:rPr lang="fr-FR" b="1" dirty="0" err="1"/>
              <a:t>Recall@K</a:t>
            </a:r>
            <a:endParaRPr lang="fr-FR" dirty="0"/>
          </a:p>
          <a:p>
            <a:r>
              <a:rPr lang="fr-FR" b="1" dirty="0"/>
              <a:t>NDCG@K</a:t>
            </a:r>
            <a:endParaRPr lang="fr-FR" dirty="0"/>
          </a:p>
          <a:p>
            <a:r>
              <a:rPr lang="fr-FR" dirty="0"/>
              <a:t>et comparer les résultats à l’approche ML de référence.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DC3EE-E837-4216-B82C-A4E0B6F89CB4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6429406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la compatibilité </a:t>
            </a:r>
            <a:r>
              <a:rPr lang="fr-FR" dirty="0"/>
              <a:t>est la propriété d’une </a:t>
            </a:r>
            <a:r>
              <a:rPr lang="fr-FR" b="1" dirty="0"/>
              <a:t>paire ou d’un ensemble de vêtements</a:t>
            </a:r>
            <a:r>
              <a:rPr lang="fr-FR" dirty="0"/>
              <a:t>.</a:t>
            </a:r>
          </a:p>
          <a:p>
            <a:endParaRPr lang="fr-FR" dirty="0"/>
          </a:p>
          <a:p>
            <a:r>
              <a:rPr lang="fr-FR" dirty="0"/>
              <a:t>Par exemple :</a:t>
            </a:r>
          </a:p>
          <a:p>
            <a:r>
              <a:rPr lang="fr-FR" dirty="0"/>
              <a:t>jean bleu + T-shirt blanc → compatible</a:t>
            </a:r>
          </a:p>
          <a:p>
            <a:r>
              <a:rPr lang="fr-FR" dirty="0"/>
              <a:t>jean bleu + chemise blanche → compatible</a:t>
            </a:r>
          </a:p>
          <a:p>
            <a:r>
              <a:rPr lang="fr-FR" dirty="0"/>
              <a:t>jean bleu + pantalon noir → pas vraiment une combinaison de tenue</a:t>
            </a:r>
          </a:p>
          <a:p>
            <a:r>
              <a:rPr lang="fr-FR" dirty="0"/>
              <a:t>robe + pantalon → généralement incompatible</a:t>
            </a:r>
          </a:p>
          <a:p>
            <a:r>
              <a:rPr lang="fr-FR" dirty="0"/>
              <a:t>blazer + chemise → compatible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Le ML apprend une fonction du type :</a:t>
            </a:r>
          </a:p>
          <a:p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compatibilité(vêtement A, vêtement B) → score</a:t>
            </a:r>
          </a:p>
          <a:p>
            <a:endParaRPr lang="fr-FR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endParaRPr lang="fr-FR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fr-FR" dirty="0"/>
              <a:t>On utilise les </a:t>
            </a:r>
            <a:r>
              <a:rPr lang="fr-FR" dirty="0" err="1"/>
              <a:t>embeddings</a:t>
            </a:r>
            <a:r>
              <a:rPr lang="fr-FR" dirty="0"/>
              <a:t> comme entrée d'un modèle supplémentaire :</a:t>
            </a:r>
            <a:endParaRPr lang="fr-FR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endParaRPr lang="fr-FR" dirty="0"/>
          </a:p>
          <a:p>
            <a:r>
              <a:rPr lang="fr-FR" b="1" dirty="0"/>
              <a:t>Avantages</a:t>
            </a:r>
          </a:p>
          <a:p>
            <a:r>
              <a:rPr lang="fr-FR" dirty="0"/>
              <a:t>plus proche de la notion de tenue ;</a:t>
            </a:r>
          </a:p>
          <a:p>
            <a:r>
              <a:rPr lang="fr-FR" dirty="0"/>
              <a:t>permet de recommander des catégories différentes ;</a:t>
            </a:r>
          </a:p>
          <a:p>
            <a:r>
              <a:rPr lang="fr-FR" dirty="0"/>
              <a:t>exploite les relations entre vêtements.</a:t>
            </a:r>
          </a:p>
          <a:p>
            <a:r>
              <a:rPr lang="fr-FR" b="1" dirty="0"/>
              <a:t>Limites</a:t>
            </a:r>
          </a:p>
          <a:p>
            <a:r>
              <a:rPr lang="fr-FR" dirty="0"/>
              <a:t>besoin de données d'</a:t>
            </a:r>
            <a:r>
              <a:rPr lang="fr-FR" dirty="0" err="1"/>
              <a:t>outfits</a:t>
            </a:r>
            <a:r>
              <a:rPr lang="fr-FR" dirty="0"/>
              <a:t> ;</a:t>
            </a:r>
          </a:p>
          <a:p>
            <a:r>
              <a:rPr lang="fr-FR" dirty="0"/>
              <a:t>notion de « compatible » difficile à définir ;</a:t>
            </a:r>
          </a:p>
          <a:p>
            <a:r>
              <a:rPr lang="fr-FR" dirty="0"/>
              <a:t>personnalisation plus complexe ;</a:t>
            </a:r>
          </a:p>
          <a:p>
            <a:r>
              <a:rPr lang="fr-FR" dirty="0"/>
              <a:t>risque d'écart entre les données publiques et </a:t>
            </a:r>
            <a:r>
              <a:rPr lang="fr-FR" dirty="0" err="1"/>
              <a:t>FashionInsta</a:t>
            </a:r>
            <a:r>
              <a:rPr lang="fr-FR" dirty="0"/>
              <a:t>.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DC3EE-E837-4216-B82C-A4E0B6F89CB4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9670613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DC3EE-E837-4216-B82C-A4E0B6F89CB4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1034029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8CFBB3-9C2C-4A7E-2C90-17B14DF6B8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DC914110-26A9-ECBD-A7B0-A95F9944E0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2282D64-6903-4875-6C31-86A5B3244D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On ne peut pas calculer un score de compatibilité sans exemples.</a:t>
            </a:r>
          </a:p>
          <a:p>
            <a:endParaRPr lang="fr-FR" dirty="0"/>
          </a:p>
          <a:p>
            <a:r>
              <a:rPr lang="fr-FR" dirty="0"/>
              <a:t>Il faut des données indiquant quelles associations sont considérées comme cohérentes.</a:t>
            </a:r>
          </a:p>
          <a:p>
            <a:endParaRPr lang="fr-FR" dirty="0"/>
          </a:p>
          <a:p>
            <a:r>
              <a:rPr lang="fr-FR" dirty="0"/>
              <a:t>on construit les paires négatives à partir de vêtements provenant d'autres </a:t>
            </a:r>
            <a:r>
              <a:rPr lang="fr-FR" dirty="0" err="1"/>
              <a:t>outfits</a:t>
            </a:r>
            <a:r>
              <a:rPr lang="fr-FR" dirty="0"/>
              <a:t>.</a:t>
            </a:r>
          </a:p>
          <a:p>
            <a:endParaRPr lang="fr-FR" dirty="0"/>
          </a:p>
          <a:p>
            <a:r>
              <a:rPr lang="fr-FR" dirty="0"/>
              <a:t>On obtient donc un problème supervisé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2193FD4-FAA2-198A-C44F-A00D320242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DC3EE-E837-4216-B82C-A4E0B6F89CB4}" type="slidenum">
              <a:rPr lang="fr-FR" smtClean="0"/>
              <a:t>14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1659374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Le modèle n'apprend donc pas simplement </a:t>
            </a:r>
            <a:r>
              <a:rPr lang="fr-FR" b="1" dirty="0"/>
              <a:t>« quelles couleurs vont ensemble »</a:t>
            </a:r>
            <a:r>
              <a:rPr lang="fr-FR" dirty="0"/>
              <a:t>.</a:t>
            </a:r>
          </a:p>
          <a:p>
            <a:r>
              <a:rPr lang="fr-FR" dirty="0"/>
              <a:t>Il peut apprendre des relations beaucoup plus complexes à partir des représentations des vêtements : couleur, motif, style, forme, catégorie, etc.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DC3EE-E837-4216-B82C-A4E0B6F89CB4}" type="slidenum">
              <a:rPr lang="fr-FR" smtClean="0"/>
              <a:t>15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5695548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8A2E1-C4E3-A6D7-5BF2-D762117E83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6922E3E-4C69-B56B-9F26-92150C8CD9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BA6122B6-2A22-B42C-39CF-C39D89E35C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11AE455-CD2B-0024-3C32-6DAFAA9A58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DC3EE-E837-4216-B82C-A4E0B6F89CB4}" type="slidenum">
              <a:rPr lang="fr-FR" smtClean="0"/>
              <a:t>16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5873438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Le modèle apprend quelles combinaisons de caractéristiques représentées dans les </a:t>
            </a:r>
            <a:r>
              <a:rPr lang="fr-FR" dirty="0" err="1"/>
              <a:t>embeddings</a:t>
            </a:r>
            <a:r>
              <a:rPr lang="fr-FR" dirty="0"/>
              <a:t> sont statistiquement associées à des vêtements portés ensemble dans les données d'entraînement.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DC3EE-E837-4216-B82C-A4E0B6F89CB4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2674350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Approche A — </a:t>
            </a:r>
            <a:r>
              <a:rPr lang="fr-FR" dirty="0" err="1"/>
              <a:t>dataset</a:t>
            </a:r>
            <a:r>
              <a:rPr lang="fr-FR" dirty="0"/>
              <a:t> fournissant déjà les vêtements individuellement</a:t>
            </a:r>
          </a:p>
          <a:p>
            <a:r>
              <a:rPr lang="fr-FR" dirty="0"/>
              <a:t>Approche B — l'image d'</a:t>
            </a:r>
            <a:r>
              <a:rPr lang="fr-FR" dirty="0" err="1"/>
              <a:t>outfit</a:t>
            </a:r>
            <a:r>
              <a:rPr lang="fr-FR" dirty="0"/>
              <a:t> est accompagnée des références des vêtements</a:t>
            </a:r>
          </a:p>
          <a:p>
            <a:r>
              <a:rPr lang="fr-FR" dirty="0"/>
              <a:t>Approche C — partir uniquement de l'image de l'</a:t>
            </a:r>
            <a:r>
              <a:rPr lang="fr-FR" dirty="0" err="1"/>
              <a:t>outfit</a:t>
            </a:r>
            <a:r>
              <a:rPr lang="fr-FR" dirty="0"/>
              <a:t> avec segmentation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DC3EE-E837-4216-B82C-A4E0B6F89CB4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3011212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Les deux approches peuvent être complémentaires plutôt que concurrentes.</a:t>
            </a:r>
          </a:p>
          <a:p>
            <a:r>
              <a:rPr lang="fr-FR" dirty="0"/>
              <a:t>La similarité peut servir à générer des candidats ou identifier l’article en question</a:t>
            </a:r>
          </a:p>
          <a:p>
            <a:r>
              <a:rPr lang="fr-FR" dirty="0"/>
              <a:t>La compatibilité sert à les classer.</a:t>
            </a:r>
          </a:p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DC3EE-E837-4216-B82C-A4E0B6F89CB4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8899757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b="1" dirty="0"/>
              <a:t>aligner le </a:t>
            </a:r>
            <a:r>
              <a:rPr lang="fr-FR" sz="1200" b="1" dirty="0" err="1"/>
              <a:t>dataset</a:t>
            </a:r>
            <a:r>
              <a:rPr lang="fr-FR" sz="1200" b="1" dirty="0"/>
              <a:t> avec le catalogue: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b="1" dirty="0"/>
              <a:t>normalisation des taxonomies = faire correspondre les méta données avec une table de correspondance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b="1" dirty="0">
                <a:solidFill>
                  <a:schemeClr val="bg1"/>
                </a:solidFill>
                <a:latin typeface="Courier New" panose="02070309020205020404" pitchFamily="49" charset="0"/>
              </a:rPr>
              <a:t>Modèle pré-entrainé ex: </a:t>
            </a:r>
            <a:r>
              <a:rPr lang="fr-FR" sz="1200" dirty="0" err="1">
                <a:solidFill>
                  <a:schemeClr val="bg1"/>
                </a:solidFill>
                <a:latin typeface="Courier New" panose="02070309020205020404" pitchFamily="49" charset="0"/>
              </a:rPr>
              <a:t>FashionCLIP</a:t>
            </a:r>
            <a:endParaRPr lang="fr-FR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sz="1200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DC3EE-E837-4216-B82C-A4E0B6F89CB4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621194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Aucun </a:t>
            </a:r>
            <a:r>
              <a:rPr lang="fr-FR" dirty="0" err="1"/>
              <a:t>dataset</a:t>
            </a:r>
            <a:r>
              <a:rPr lang="fr-FR" dirty="0"/>
              <a:t> identifié ne reproduit exactement le cas </a:t>
            </a:r>
            <a:r>
              <a:rPr lang="fr-FR" dirty="0" err="1"/>
              <a:t>FashionInsta</a:t>
            </a:r>
            <a:r>
              <a:rPr lang="fr-FR" dirty="0"/>
              <a:t>.</a:t>
            </a:r>
          </a:p>
          <a:p>
            <a:r>
              <a:rPr lang="fr-FR" dirty="0"/>
              <a:t>proposer de construire un </a:t>
            </a:r>
            <a:r>
              <a:rPr lang="fr-FR" b="1" dirty="0"/>
              <a:t>jeu expérimental hybride</a:t>
            </a:r>
            <a:r>
              <a:rPr lang="fr-FR" dirty="0"/>
              <a:t> à partir de plusieurs sources.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DC3EE-E837-4216-B82C-A4E0B6F89CB4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8444563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DC3EE-E837-4216-B82C-A4E0B6F89CB4}" type="slidenum">
              <a:rPr lang="fr-FR" smtClean="0"/>
              <a:t>23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3277596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prévoir une séparation :</a:t>
            </a:r>
          </a:p>
          <a:p>
            <a:endParaRPr lang="fr-FR" dirty="0"/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Train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Validation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Test</a:t>
            </a:r>
          </a:p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DC3EE-E837-4216-B82C-A4E0B6F89CB4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8334489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Critères de succès métier</a:t>
            </a:r>
          </a:p>
          <a:p>
            <a:r>
              <a:rPr lang="fr-FR" dirty="0"/>
              <a:t>Le </a:t>
            </a:r>
            <a:r>
              <a:rPr lang="fr-FR" dirty="0" err="1"/>
              <a:t>PoC</a:t>
            </a:r>
            <a:r>
              <a:rPr lang="fr-FR" dirty="0"/>
              <a:t> sera considéré comme concluant s’il permet de démontrer qu’une recommandation personnalisée peut apporter une valeur mesurable pour </a:t>
            </a:r>
            <a:r>
              <a:rPr lang="fr-FR" dirty="0" err="1"/>
              <a:t>FashionInsta</a:t>
            </a:r>
            <a:r>
              <a:rPr lang="fr-FR" dirty="0"/>
              <a:t>.</a:t>
            </a:r>
          </a:p>
          <a:p>
            <a:r>
              <a:rPr lang="fr-FR" b="1" dirty="0"/>
              <a:t>Pertinence</a:t>
            </a:r>
            <a:endParaRPr lang="fr-FR" dirty="0"/>
          </a:p>
          <a:p>
            <a:r>
              <a:rPr lang="fr-FR" dirty="0"/>
              <a:t>Les articles recommandés correspondent aux préférences et comportements des utilisateurs.</a:t>
            </a:r>
          </a:p>
          <a:p>
            <a:r>
              <a:rPr lang="fr-FR" dirty="0"/>
              <a:t>Les recommandations sont suffisamment pertinentes dans les premières positions du classement.</a:t>
            </a:r>
          </a:p>
          <a:p>
            <a:r>
              <a:rPr lang="fr-FR" b="1" dirty="0"/>
              <a:t>Personnalisation</a:t>
            </a:r>
            <a:endParaRPr lang="fr-FR" dirty="0"/>
          </a:p>
          <a:p>
            <a:r>
              <a:rPr lang="fr-FR" dirty="0"/>
              <a:t>Les recommandations diffèrent selon les profils et les historiques utilisateurs.</a:t>
            </a:r>
          </a:p>
          <a:p>
            <a:r>
              <a:rPr lang="fr-FR" dirty="0"/>
              <a:t>Le système est capable d’exploiter les préférences individuelles plutôt que de proposer uniquement les articles les plus populaires.</a:t>
            </a:r>
          </a:p>
          <a:p>
            <a:r>
              <a:rPr lang="fr-FR" b="1" dirty="0"/>
              <a:t>Couverture</a:t>
            </a:r>
            <a:endParaRPr lang="fr-FR" dirty="0"/>
          </a:p>
          <a:p>
            <a:r>
              <a:rPr lang="fr-FR" dirty="0"/>
              <a:t>Les recommandations ne se limitent pas à un nombre réduit d’articles ou de catégories.</a:t>
            </a:r>
          </a:p>
          <a:p>
            <a:r>
              <a:rPr lang="fr-FR" dirty="0"/>
              <a:t>Une part significative du catalogue peut être recommandée.</a:t>
            </a:r>
          </a:p>
          <a:p>
            <a:r>
              <a:rPr lang="fr-FR" b="1" dirty="0"/>
              <a:t>Faisabilité</a:t>
            </a:r>
            <a:endParaRPr lang="fr-FR" dirty="0"/>
          </a:p>
          <a:p>
            <a:r>
              <a:rPr lang="fr-FR" dirty="0"/>
              <a:t>Les données nécessaires sont disponibles ou accessibles.</a:t>
            </a:r>
          </a:p>
          <a:p>
            <a:r>
              <a:rPr lang="fr-FR" dirty="0"/>
              <a:t>L’approche peut être mise en œuvre avec une complexité et un coût compatibles avec les objectifs du projet.</a:t>
            </a:r>
          </a:p>
          <a:p>
            <a:r>
              <a:rPr lang="fr-FR" b="1" dirty="0"/>
              <a:t>Décision attendue du </a:t>
            </a:r>
            <a:r>
              <a:rPr lang="fr-FR" b="1" dirty="0" err="1"/>
              <a:t>PoC</a:t>
            </a:r>
            <a:endParaRPr lang="fr-FR" dirty="0"/>
          </a:p>
          <a:p>
            <a:r>
              <a:rPr lang="fr-FR" dirty="0"/>
              <a:t>Déterminer si une solution de recommandation personnalisée présente un niveau de pertinence et de faisabilité suffisant pour justifier le passage à un </a:t>
            </a:r>
            <a:r>
              <a:rPr lang="fr-FR" b="1" dirty="0"/>
              <a:t>MVP</a:t>
            </a:r>
            <a:r>
              <a:rPr lang="fr-FR" dirty="0"/>
              <a:t>.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DC3EE-E837-4216-B82C-A4E0B6F89CB4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5377452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déterminer avec le métier quel niveau de pertinence rend la fonctionnalité exploitable.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DC3EE-E837-4216-B82C-A4E0B6F89CB4}" type="slidenum">
              <a:rPr lang="fr-FR" smtClean="0"/>
              <a:t>27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5429731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Planning, ressources et risques</a:t>
            </a:r>
          </a:p>
          <a:p>
            <a:r>
              <a:rPr lang="fr-FR" b="1" dirty="0"/>
              <a:t>Planning indicatif — 4 à 6 semaines</a:t>
            </a:r>
          </a:p>
          <a:p>
            <a:r>
              <a:rPr lang="fr-FR" dirty="0" err="1"/>
              <a:t>PhaseDuréeLivrablesCadrage</a:t>
            </a:r>
            <a:r>
              <a:rPr lang="fr-FR" dirty="0"/>
              <a:t> et sélection des données3–5 </a:t>
            </a:r>
            <a:r>
              <a:rPr lang="fr-FR" dirty="0" err="1"/>
              <a:t>joursPérimètre</a:t>
            </a:r>
            <a:r>
              <a:rPr lang="fr-FR" dirty="0"/>
              <a:t>, données et critères de </a:t>
            </a:r>
            <a:r>
              <a:rPr lang="fr-FR" dirty="0" err="1"/>
              <a:t>succèsRecherche</a:t>
            </a:r>
            <a:r>
              <a:rPr lang="fr-FR" dirty="0"/>
              <a:t> et préparation des datasets3–5 </a:t>
            </a:r>
            <a:r>
              <a:rPr lang="fr-FR" dirty="0" err="1"/>
              <a:t>joursDataset</a:t>
            </a:r>
            <a:r>
              <a:rPr lang="fr-FR" dirty="0"/>
              <a:t> exploitable pour le </a:t>
            </a:r>
            <a:r>
              <a:rPr lang="fr-FR" dirty="0" err="1"/>
              <a:t>PoCBaseline</a:t>
            </a:r>
            <a:r>
              <a:rPr lang="fr-FR" dirty="0"/>
              <a:t> et approche ML1 </a:t>
            </a:r>
            <a:r>
              <a:rPr lang="fr-FR" dirty="0" err="1"/>
              <a:t>semainePremière</a:t>
            </a:r>
            <a:r>
              <a:rPr lang="fr-FR" dirty="0"/>
              <a:t> recommandation de référence + modèle </a:t>
            </a:r>
            <a:r>
              <a:rPr lang="fr-FR" dirty="0" err="1"/>
              <a:t>MLApproche</a:t>
            </a:r>
            <a:r>
              <a:rPr lang="fr-FR" dirty="0"/>
              <a:t> IA multimodale1 </a:t>
            </a:r>
            <a:r>
              <a:rPr lang="fr-FR" dirty="0" err="1"/>
              <a:t>semainePrototype</a:t>
            </a:r>
            <a:r>
              <a:rPr lang="fr-FR" dirty="0"/>
              <a:t> de recommandation </a:t>
            </a:r>
            <a:r>
              <a:rPr lang="fr-FR" dirty="0" err="1"/>
              <a:t>multimodaleÉvaluation</a:t>
            </a:r>
            <a:r>
              <a:rPr lang="fr-FR" dirty="0"/>
              <a:t> et comparaison3–5 </a:t>
            </a:r>
            <a:r>
              <a:rPr lang="fr-FR" dirty="0" err="1"/>
              <a:t>joursRésultats</a:t>
            </a:r>
            <a:r>
              <a:rPr lang="fr-FR" dirty="0"/>
              <a:t>, métriques et </a:t>
            </a:r>
            <a:r>
              <a:rPr lang="fr-FR" dirty="0" err="1"/>
              <a:t>analyseSynthèse</a:t>
            </a:r>
            <a:r>
              <a:rPr lang="fr-FR" dirty="0"/>
              <a:t> et recommandations2–3 </a:t>
            </a:r>
            <a:r>
              <a:rPr lang="fr-FR" dirty="0" err="1"/>
              <a:t>joursBilan</a:t>
            </a:r>
            <a:r>
              <a:rPr lang="fr-FR" dirty="0"/>
              <a:t> du </a:t>
            </a:r>
            <a:r>
              <a:rPr lang="fr-FR" dirty="0" err="1"/>
              <a:t>PoC</a:t>
            </a:r>
            <a:r>
              <a:rPr lang="fr-FR" dirty="0"/>
              <a:t> et décision sur la suite</a:t>
            </a:r>
          </a:p>
          <a:p>
            <a:r>
              <a:rPr lang="fr-FR" b="1" dirty="0"/>
              <a:t>Ressources nécessaires</a:t>
            </a:r>
          </a:p>
          <a:p>
            <a:r>
              <a:rPr lang="fr-FR" b="1" dirty="0"/>
              <a:t>Profil Data / ML</a:t>
            </a:r>
            <a:endParaRPr lang="fr-FR" dirty="0"/>
          </a:p>
          <a:p>
            <a:r>
              <a:rPr lang="fr-FR" dirty="0"/>
              <a:t>préparation et analyse des données ;</a:t>
            </a:r>
          </a:p>
          <a:p>
            <a:r>
              <a:rPr lang="fr-FR" dirty="0"/>
              <a:t>expérimentation des modèles ;</a:t>
            </a:r>
          </a:p>
          <a:p>
            <a:r>
              <a:rPr lang="fr-FR" dirty="0"/>
              <a:t>évaluation des performances.</a:t>
            </a:r>
          </a:p>
          <a:p>
            <a:r>
              <a:rPr lang="fr-FR" b="1" dirty="0"/>
              <a:t>Profil métier / Product </a:t>
            </a:r>
            <a:r>
              <a:rPr lang="fr-FR" b="1" dirty="0" err="1"/>
              <a:t>Owner</a:t>
            </a:r>
            <a:endParaRPr lang="fr-FR" dirty="0"/>
          </a:p>
          <a:p>
            <a:r>
              <a:rPr lang="fr-FR" dirty="0"/>
              <a:t>validation du périmètre ;</a:t>
            </a:r>
          </a:p>
          <a:p>
            <a:r>
              <a:rPr lang="fr-FR" dirty="0"/>
              <a:t>définition des critères de succès ;</a:t>
            </a:r>
          </a:p>
          <a:p>
            <a:r>
              <a:rPr lang="fr-FR" dirty="0"/>
              <a:t>interprétation de la pertinence des recommandations.</a:t>
            </a:r>
          </a:p>
          <a:p>
            <a:r>
              <a:rPr lang="fr-FR" b="1" dirty="0"/>
              <a:t>Profil technique</a:t>
            </a:r>
            <a:endParaRPr lang="fr-FR" dirty="0"/>
          </a:p>
          <a:p>
            <a:r>
              <a:rPr lang="fr-FR" dirty="0"/>
              <a:t>évaluation des contraintes d'intégration ;</a:t>
            </a:r>
          </a:p>
          <a:p>
            <a:r>
              <a:rPr lang="fr-FR" dirty="0"/>
              <a:t>estimation des coûts et de la faisabilité technique.</a:t>
            </a:r>
          </a:p>
          <a:p>
            <a:r>
              <a:rPr lang="fr-FR" dirty="0"/>
              <a:t>Une même personne peut couvrir plusieurs rôles dans le cadre du </a:t>
            </a:r>
            <a:r>
              <a:rPr lang="fr-FR" dirty="0" err="1"/>
              <a:t>PoC</a:t>
            </a:r>
            <a:r>
              <a:rPr lang="fr-FR" dirty="0"/>
              <a:t>.</a:t>
            </a:r>
          </a:p>
          <a:p>
            <a:r>
              <a:rPr lang="fr-FR" b="1" dirty="0"/>
              <a:t>Principaux risques</a:t>
            </a:r>
          </a:p>
          <a:p>
            <a:r>
              <a:rPr lang="fr-FR" dirty="0" err="1"/>
              <a:t>RisqueImpactRéponseDonnées</a:t>
            </a:r>
            <a:r>
              <a:rPr lang="fr-FR" dirty="0"/>
              <a:t> publiques peu </a:t>
            </a:r>
            <a:r>
              <a:rPr lang="fr-FR" dirty="0" err="1"/>
              <a:t>représentativesÉlevéÉvaluer</a:t>
            </a:r>
            <a:r>
              <a:rPr lang="fr-FR" dirty="0"/>
              <a:t> leur proximité avec le besoin </a:t>
            </a:r>
            <a:r>
              <a:rPr lang="fr-FR" dirty="0" err="1"/>
              <a:t>métierPeu</a:t>
            </a:r>
            <a:r>
              <a:rPr lang="fr-FR" dirty="0"/>
              <a:t> d'interactions </a:t>
            </a:r>
            <a:r>
              <a:rPr lang="fr-FR" dirty="0" err="1"/>
              <a:t>utilisateurÉlevéTester</a:t>
            </a:r>
            <a:r>
              <a:rPr lang="fr-FR" dirty="0"/>
              <a:t> plusieurs jeux de données / </a:t>
            </a:r>
            <a:r>
              <a:rPr lang="fr-FR" dirty="0" err="1"/>
              <a:t>approchesDémarrage</a:t>
            </a:r>
            <a:r>
              <a:rPr lang="fr-FR" dirty="0"/>
              <a:t> à </a:t>
            </a:r>
            <a:r>
              <a:rPr lang="fr-FR" dirty="0" err="1"/>
              <a:t>froidMoyen</a:t>
            </a:r>
            <a:r>
              <a:rPr lang="fr-FR" dirty="0"/>
              <a:t>/</a:t>
            </a:r>
            <a:r>
              <a:rPr lang="fr-FR" dirty="0" err="1"/>
              <a:t>élevéTester</a:t>
            </a:r>
            <a:r>
              <a:rPr lang="fr-FR" dirty="0"/>
              <a:t> le comportement sur nouveaux utilisateurs/</a:t>
            </a:r>
            <a:r>
              <a:rPr lang="fr-FR" dirty="0" err="1"/>
              <a:t>articlesImages</a:t>
            </a:r>
            <a:r>
              <a:rPr lang="fr-FR" dirty="0"/>
              <a:t> peu </a:t>
            </a:r>
            <a:r>
              <a:rPr lang="fr-FR" dirty="0" err="1"/>
              <a:t>exploitablesMoyenComparer</a:t>
            </a:r>
            <a:r>
              <a:rPr lang="fr-FR" dirty="0"/>
              <a:t> texte seul vs texte + </a:t>
            </a:r>
            <a:r>
              <a:rPr lang="fr-FR" dirty="0" err="1"/>
              <a:t>imageComplexité</a:t>
            </a:r>
            <a:r>
              <a:rPr lang="fr-FR" dirty="0"/>
              <a:t> ou coût de l'approche </a:t>
            </a:r>
            <a:r>
              <a:rPr lang="fr-FR" dirty="0" err="1"/>
              <a:t>multimodaleMoyenMesurer</a:t>
            </a:r>
            <a:r>
              <a:rPr lang="fr-FR" dirty="0"/>
              <a:t> les ressources </a:t>
            </a:r>
            <a:r>
              <a:rPr lang="fr-FR" dirty="0" err="1"/>
              <a:t>nécessairesRésultats</a:t>
            </a:r>
            <a:r>
              <a:rPr lang="fr-FR" dirty="0"/>
              <a:t> ML difficiles à traduire en valeur </a:t>
            </a:r>
            <a:r>
              <a:rPr lang="fr-FR" dirty="0" err="1"/>
              <a:t>métierÉlevéDéfinir</a:t>
            </a:r>
            <a:r>
              <a:rPr lang="fr-FR" dirty="0"/>
              <a:t> les critères de succès avant l'expérimentation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DC3EE-E837-4216-B82C-A4E0B6F89CB4}" type="slidenum">
              <a:rPr lang="fr-FR" smtClean="0"/>
              <a:t>28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7688026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Résultat attendu et décision à l’issue du </a:t>
            </a:r>
            <a:r>
              <a:rPr lang="fr-FR" b="1" dirty="0" err="1"/>
              <a:t>PoC</a:t>
            </a:r>
            <a:endParaRPr lang="fr-FR" b="1" dirty="0"/>
          </a:p>
          <a:p>
            <a:r>
              <a:rPr lang="fr-FR" b="1" dirty="0"/>
              <a:t>Résultats attendus</a:t>
            </a:r>
            <a:endParaRPr lang="fr-FR" dirty="0"/>
          </a:p>
          <a:p>
            <a:r>
              <a:rPr lang="fr-FR" dirty="0"/>
              <a:t>Une première démonstration de recommandation personnalisée sur un périmètre limité.</a:t>
            </a:r>
          </a:p>
          <a:p>
            <a:r>
              <a:rPr lang="fr-FR" dirty="0"/>
              <a:t>Une comparaison objective des deux approches expérimentées.</a:t>
            </a:r>
          </a:p>
          <a:p>
            <a:r>
              <a:rPr lang="fr-FR" dirty="0"/>
              <a:t>Une mesure de la pertinence des recommandations à l’aide de métriques adaptées.</a:t>
            </a:r>
          </a:p>
          <a:p>
            <a:r>
              <a:rPr lang="fr-FR" dirty="0"/>
              <a:t>Une identification des données nécessaires à la poursuite du projet.</a:t>
            </a:r>
          </a:p>
          <a:p>
            <a:r>
              <a:rPr lang="fr-FR" dirty="0"/>
              <a:t>Une première estimation des contraintes de coût, de complexité et d’intégration.</a:t>
            </a:r>
          </a:p>
          <a:p>
            <a:r>
              <a:rPr lang="fr-FR" b="1" dirty="0"/>
              <a:t>Décision à l’issue du </a:t>
            </a:r>
            <a:r>
              <a:rPr lang="fr-FR" b="1" dirty="0" err="1"/>
              <a:t>PoC</a:t>
            </a:r>
            <a:endParaRPr lang="fr-FR" dirty="0"/>
          </a:p>
          <a:p>
            <a:r>
              <a:rPr lang="fr-FR" dirty="0"/>
              <a:t>Les résultats permettront de déterminer :</a:t>
            </a:r>
          </a:p>
          <a:p>
            <a:r>
              <a:rPr lang="fr-FR" b="1" dirty="0"/>
              <a:t>1. Si la recommandation personnalisée est techniquement faisable</a:t>
            </a:r>
            <a:endParaRPr lang="fr-FR" dirty="0"/>
          </a:p>
          <a:p>
            <a:r>
              <a:rPr lang="fr-FR" dirty="0"/>
              <a:t>qualité des recommandations suffisante ;</a:t>
            </a:r>
          </a:p>
          <a:p>
            <a:r>
              <a:rPr lang="fr-FR" dirty="0"/>
              <a:t>données exploitables ;</a:t>
            </a:r>
          </a:p>
          <a:p>
            <a:r>
              <a:rPr lang="fr-FR" dirty="0"/>
              <a:t>performances compatibles avec le besoin.</a:t>
            </a:r>
          </a:p>
          <a:p>
            <a:r>
              <a:rPr lang="fr-FR" b="1" dirty="0"/>
              <a:t>2. Quelle approche mérite d’être approfondie</a:t>
            </a:r>
            <a:endParaRPr lang="fr-FR" dirty="0"/>
          </a:p>
          <a:p>
            <a:r>
              <a:rPr lang="fr-FR" dirty="0"/>
              <a:t>approche ML basée sur les interactions ;</a:t>
            </a:r>
          </a:p>
          <a:p>
            <a:r>
              <a:rPr lang="fr-FR" dirty="0"/>
              <a:t>approche IA multimodale basée sur le contenu ;</a:t>
            </a:r>
          </a:p>
          <a:p>
            <a:r>
              <a:rPr lang="fr-FR" dirty="0"/>
              <a:t>ou combinaison des deux approches.</a:t>
            </a:r>
          </a:p>
          <a:p>
            <a:r>
              <a:rPr lang="fr-FR" b="1" dirty="0"/>
              <a:t>3. S’il est pertinent de passer à un MVP</a:t>
            </a:r>
            <a:endParaRPr lang="fr-FR" dirty="0"/>
          </a:p>
          <a:p>
            <a:r>
              <a:rPr lang="fr-FR" dirty="0"/>
              <a:t>Si les résultats sont suffisamment concluants :</a:t>
            </a:r>
            <a:br>
              <a:rPr lang="fr-FR" dirty="0"/>
            </a:br>
            <a:r>
              <a:rPr lang="fr-FR" dirty="0"/>
              <a:t>→ définition du périmètre du MVP</a:t>
            </a:r>
            <a:br>
              <a:rPr lang="fr-FR" dirty="0"/>
            </a:br>
            <a:r>
              <a:rPr lang="fr-FR" dirty="0"/>
              <a:t>→ constitution des données nécessaires</a:t>
            </a:r>
            <a:br>
              <a:rPr lang="fr-FR" dirty="0"/>
            </a:br>
            <a:r>
              <a:rPr lang="fr-FR" dirty="0"/>
              <a:t>→ choix de l’architecture et de l’approche retenue</a:t>
            </a:r>
            <a:br>
              <a:rPr lang="fr-FR" dirty="0"/>
            </a:br>
            <a:r>
              <a:rPr lang="fr-FR" dirty="0"/>
              <a:t>→ expérimentation sur un périmètre utilisateur plus représentatif.</a:t>
            </a:r>
          </a:p>
          <a:p>
            <a:r>
              <a:rPr lang="fr-FR" dirty="0"/>
              <a:t>Si les résultats ne sont pas suffisants :</a:t>
            </a:r>
            <a:br>
              <a:rPr lang="fr-FR" dirty="0"/>
            </a:br>
            <a:r>
              <a:rPr lang="fr-FR" dirty="0"/>
              <a:t>→ identification des limites</a:t>
            </a:r>
            <a:br>
              <a:rPr lang="fr-FR" dirty="0"/>
            </a:br>
            <a:r>
              <a:rPr lang="fr-FR" dirty="0"/>
              <a:t>→ ajustement des données ou de l’approche</a:t>
            </a:r>
            <a:br>
              <a:rPr lang="fr-FR" dirty="0"/>
            </a:br>
            <a:r>
              <a:rPr lang="fr-FR" dirty="0"/>
              <a:t>→ ou réévaluation de la pertinence du projet.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DC3EE-E837-4216-B82C-A4E0B6F89CB4}" type="slidenum">
              <a:rPr lang="fr-FR" smtClean="0"/>
              <a:t>31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583516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7DD21BB-1CE0-7901-61C2-3B24602F78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8FD5469-6BA4-AEC3-A5B7-904EBCD325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76950A4-FD24-F065-8B74-E08809913A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D4EF5E-5CA6-42F0-B583-013C857A1C28}" type="datetimeFigureOut">
              <a:rPr lang="fr-FR" smtClean="0"/>
              <a:t>23/09/2026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1A8E2FC-709B-0B0C-C029-EBF71BD706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C22FCD2-5031-5192-6F55-08DC40C06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77D61-3380-444D-8D84-B08D7B835B8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668461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62D063F-8D80-4D91-22E2-D3DEBF066A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5231B1F-F03E-7638-E4A4-4125EF0AF4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959CBFB-7FCF-D142-FAD6-7826CF3FE8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D4EF5E-5CA6-42F0-B583-013C857A1C28}" type="datetimeFigureOut">
              <a:rPr lang="fr-FR" smtClean="0"/>
              <a:t>23/09/2026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754CE63-EB05-D633-249F-5A775A1145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EAE44CA-E21D-5601-228B-BF77BD1E69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77D61-3380-444D-8D84-B08D7B835B8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26143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BF48CDE-C309-59C4-4895-0A4BBFF9F8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80C6CFE-E1FD-D0F4-6F08-5B9A363376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624640F-D135-A307-6D41-393B432B84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D4EF5E-5CA6-42F0-B583-013C857A1C28}" type="datetimeFigureOut">
              <a:rPr lang="fr-FR" smtClean="0"/>
              <a:t>23/09/2026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1984362-0410-3E83-E073-F7F8009A14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95F0DB1-2B9E-7E60-5988-AEF189FF65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77D61-3380-444D-8D84-B08D7B835B8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630438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43FC0A3-466C-4402-CC05-2C760C56A6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F82F9EE-E6E9-63EA-CCB5-E1390FB6466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B4FB9B13-53D0-3EDC-C6AC-052A16943F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D8CC1C4-4FDC-953F-0161-CA3C4FA712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D4EF5E-5CA6-42F0-B583-013C857A1C28}" type="datetimeFigureOut">
              <a:rPr lang="fr-FR" smtClean="0"/>
              <a:t>23/09/2026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8EB0905-5001-CF99-4B0C-4886C62D3F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15FE4F4-019B-60F5-CD1D-BA4689D0C0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77D61-3380-444D-8D84-B08D7B835B8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37354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E5D6C3A-C82D-4D1D-2005-62EAE28A08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7216FAF-EC17-1EDD-2BEF-A5ED41265B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7A0FD0E4-0D98-904D-CAB3-B048FDD35B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53080324-FC3B-5BA8-64C8-7DF5FA3EF43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913B409B-857E-1C2A-E03E-B0FFE187DF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D8982A2E-A67E-3B0B-A6F3-DE09068370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D4EF5E-5CA6-42F0-B583-013C857A1C28}" type="datetimeFigureOut">
              <a:rPr lang="fr-FR" smtClean="0"/>
              <a:t>23/09/2026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C33CFF35-20A1-0B0F-2D60-0744DB5D56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B4A7FD97-F161-6EE1-74EE-652DA1FE04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77D61-3380-444D-8D84-B08D7B835B8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428026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3CDBB13-8CA2-FA7B-C3C8-EEB3DB6057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550E2318-6E16-F401-B279-2202461F95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D4EF5E-5CA6-42F0-B583-013C857A1C28}" type="datetimeFigureOut">
              <a:rPr lang="fr-FR" smtClean="0"/>
              <a:t>23/09/2026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85834A39-D4BC-0C8F-50E8-46B3F88C33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330EE6B-C09A-94C7-6B0F-7E4EC22135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77D61-3380-444D-8D84-B08D7B835B8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621267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CF4F0933-72DA-E507-0159-F34CCA9114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D4EF5E-5CA6-42F0-B583-013C857A1C28}" type="datetimeFigureOut">
              <a:rPr lang="fr-FR" smtClean="0"/>
              <a:t>23/09/2026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1B07705-56D7-EC36-E832-FCEEA99BB3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9A17672-C458-F1AF-C153-E98EA38048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77D61-3380-444D-8D84-B08D7B835B8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947330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2B0213D-5179-8CEB-DBB0-4B8A16480A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79A7073-C342-4670-0A3D-C1A7489024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DAB8202E-D7E3-1708-CD37-2631CF80F3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12D6FC1-9165-CFDB-916F-7517EED9B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D4EF5E-5CA6-42F0-B583-013C857A1C28}" type="datetimeFigureOut">
              <a:rPr lang="fr-FR" smtClean="0"/>
              <a:t>23/09/2026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1DB14E1F-C985-1235-1E21-3BC8A2AB5C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1AFCD46-3388-4030-3AB6-2567CA3E40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77D61-3380-444D-8D84-B08D7B835B8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767314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597292C-130C-97BF-1F27-E960A7E70F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1A8B82CE-728F-4C07-214A-B649716ACA8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9B6D5A2F-69C8-4EB0-4EE9-429E6AD6A0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DE789A3-0747-DC6A-E48F-A508E1C915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D4EF5E-5CA6-42F0-B583-013C857A1C28}" type="datetimeFigureOut">
              <a:rPr lang="fr-FR" smtClean="0"/>
              <a:t>23/09/2026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4923689-F78B-B593-D149-2FEC613488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B242A2B-08DB-4614-F5EC-340D91AA10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77D61-3380-444D-8D84-B08D7B835B8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815414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29AA423-CEDB-9333-2D70-1477C63B35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2D7517C-4A32-C725-A9A4-35038922CF1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6579B0D-EC4D-E8EE-125F-B9782A5522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D4EF5E-5CA6-42F0-B583-013C857A1C28}" type="datetimeFigureOut">
              <a:rPr lang="fr-FR" smtClean="0"/>
              <a:t>23/09/2026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0F14A52-F46D-C764-67DB-5EF3A880B3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3E0F349-990C-42DE-2C83-8A9F5BD66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77D61-3380-444D-8D84-B08D7B835B8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981829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C20F6AD7-2C3E-337C-C915-248B46EDD54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18491BC-9B74-18A8-CE89-91CFBC7B02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169A1F4-F529-4E90-AAC4-7E83A61302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D4EF5E-5CA6-42F0-B583-013C857A1C28}" type="datetimeFigureOut">
              <a:rPr lang="fr-FR" smtClean="0"/>
              <a:t>23/09/2026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8C5E071-7399-1927-27A7-870D6B7C5A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3A2405C-10FF-4A73-0165-EBEA4658F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77D61-3380-444D-8D84-B08D7B835B8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353218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A4001160-7BC7-DA17-AE3A-7E976507FB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299B181-B603-F483-F517-AAE033C3B4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1B8419E-9B0D-2480-6D28-3A2431ACDC5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AD4EF5E-5CA6-42F0-B583-013C857A1C28}" type="datetimeFigureOut">
              <a:rPr lang="fr-FR" smtClean="0"/>
              <a:t>23/09/2026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75911B9-1B6C-D2A5-A9C9-F6A3260782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E5886C3-2DD9-73CC-F407-F7101F9809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577D61-3380-444D-8D84-B08D7B835B8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591873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emf"/><Relationship Id="rId5" Type="http://schemas.openxmlformats.org/officeDocument/2006/relationships/oleObject" Target="../embeddings/oleObject1.bin"/><Relationship Id="rId4" Type="http://schemas.openxmlformats.org/officeDocument/2006/relationships/image" Target="../media/image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FF47304-A677-F55B-B5DE-7B02625294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002272"/>
          </a:xfrm>
        </p:spPr>
        <p:txBody>
          <a:bodyPr/>
          <a:lstStyle/>
          <a:p>
            <a:r>
              <a:rPr lang="fr-FR" dirty="0"/>
              <a:t>Contexte et objectif du </a:t>
            </a:r>
            <a:r>
              <a:rPr lang="fr-FR" dirty="0" err="1"/>
              <a:t>PoC</a:t>
            </a:r>
            <a:endParaRPr lang="fr-FR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57530C9-4457-F5E1-E0A9-3614B28FE1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510118"/>
            <a:ext cx="9144000" cy="3818964"/>
          </a:xfrm>
        </p:spPr>
        <p:txBody>
          <a:bodyPr>
            <a:normAutofit/>
          </a:bodyPr>
          <a:lstStyle/>
          <a:p>
            <a:r>
              <a:rPr lang="fr-FR" b="1" dirty="0"/>
              <a:t>Besoin métier</a:t>
            </a:r>
          </a:p>
          <a:p>
            <a:r>
              <a:rPr lang="fr-FR" dirty="0"/>
              <a:t>Proposer aux utilisateurs de </a:t>
            </a:r>
            <a:r>
              <a:rPr lang="fr-FR" dirty="0" err="1"/>
              <a:t>FashionInsta</a:t>
            </a:r>
            <a:r>
              <a:rPr lang="fr-FR" dirty="0"/>
              <a:t> des recommandations d’articles personnalisées, adaptées à leur profil et à leurs préférences, au sein d’une application mobile.</a:t>
            </a:r>
          </a:p>
          <a:p>
            <a:endParaRPr lang="fr-FR" dirty="0"/>
          </a:p>
          <a:p>
            <a:r>
              <a:rPr lang="fr-FR" b="1" dirty="0"/>
              <a:t>Objectif de ce POC</a:t>
            </a:r>
          </a:p>
          <a:p>
            <a:r>
              <a:rPr lang="fr-FR" dirty="0"/>
              <a:t>Valider la faisabilité technique d’une solution IA/ML pour la recommandation personnalisée, à travers un périmètre volontairement restreint permettant une expérimentation rapide.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8546288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3213A-4121-8045-8B96-F206B6FD0C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8EA7BA9-DF68-23C7-47A3-65E3B1A91A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85482"/>
            <a:ext cx="9144000" cy="1387755"/>
          </a:xfrm>
        </p:spPr>
        <p:txBody>
          <a:bodyPr/>
          <a:lstStyle/>
          <a:p>
            <a:r>
              <a:rPr lang="fr-FR" dirty="0"/>
              <a:t>Besoin métier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96D39539-8546-959C-BAF4-41CED07143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138007"/>
            <a:ext cx="9144000" cy="3792071"/>
          </a:xfrm>
        </p:spPr>
        <p:txBody>
          <a:bodyPr>
            <a:normAutofit fontScale="92500" lnSpcReduction="10000"/>
          </a:bodyPr>
          <a:lstStyle/>
          <a:p>
            <a:r>
              <a:rPr lang="fr-FR" b="1" dirty="0"/>
              <a:t>Constat</a:t>
            </a:r>
            <a:endParaRPr lang="fr-FR" dirty="0"/>
          </a:p>
          <a:p>
            <a:r>
              <a:rPr lang="fr-FR" dirty="0"/>
              <a:t>Les utilisateurs disposent d'un volume important de contenus/produits parmi lesquels il est difficile d'identifier rapidement ceux qui correspondent à leurs attentes.</a:t>
            </a:r>
          </a:p>
          <a:p>
            <a:r>
              <a:rPr lang="fr-FR" b="1" dirty="0"/>
              <a:t>Besoin</a:t>
            </a:r>
            <a:endParaRPr lang="fr-FR" dirty="0"/>
          </a:p>
          <a:p>
            <a:r>
              <a:rPr lang="fr-FR" dirty="0"/>
              <a:t>Mettre en place un outil capable de proposer automatiquement à chaque utilisateur des recommandations personnalisées à partir de son profil et de son comportement.</a:t>
            </a:r>
          </a:p>
          <a:p>
            <a:r>
              <a:rPr lang="fr-FR" b="1" dirty="0"/>
              <a:t>Objectif métier</a:t>
            </a:r>
            <a:endParaRPr lang="fr-FR" dirty="0"/>
          </a:p>
          <a:p>
            <a:r>
              <a:rPr lang="fr-FR" dirty="0"/>
              <a:t>Améliorer la pertinence des contenus proposés et faciliter la découverte de contenus susceptibles d'intéresser l'utilisateur.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9159993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D3390E-DB1D-BD20-E2C7-BCACE1031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7F06571-9862-3925-3138-EA086E36E6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49624"/>
            <a:ext cx="9144000" cy="1809096"/>
          </a:xfrm>
        </p:spPr>
        <p:txBody>
          <a:bodyPr/>
          <a:lstStyle/>
          <a:p>
            <a:r>
              <a:rPr lang="fr-FR" dirty="0"/>
              <a:t>Fonctionnalité centrale ciblée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2FC90CBF-97C8-2953-EDBB-78FAD08180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530782"/>
            <a:ext cx="9144000" cy="3388658"/>
          </a:xfrm>
        </p:spPr>
        <p:txBody>
          <a:bodyPr>
            <a:normAutofit fontScale="92500" lnSpcReduction="20000"/>
          </a:bodyPr>
          <a:lstStyle/>
          <a:p>
            <a:r>
              <a:rPr lang="fr-FR" b="1" dirty="0"/>
              <a:t>Générer une liste d’articles personnalisée pour chaque utilisateur.</a:t>
            </a:r>
            <a:endParaRPr lang="fr-FR" dirty="0"/>
          </a:p>
          <a:p>
            <a:r>
              <a:rPr lang="fr-FR" dirty="0"/>
              <a:t>À partir des informations disponibles sur l’utilisateur et des caractéristiques des articles, le système doit :</a:t>
            </a:r>
          </a:p>
          <a:p>
            <a:r>
              <a:rPr lang="fr-FR" dirty="0"/>
              <a:t>identifier les articles susceptibles de correspondre à ses préférences ;</a:t>
            </a:r>
          </a:p>
          <a:p>
            <a:r>
              <a:rPr lang="fr-FR" dirty="0"/>
              <a:t>classer les articles par niveau de pertinence ;</a:t>
            </a:r>
          </a:p>
          <a:p>
            <a:r>
              <a:rPr lang="fr-FR" dirty="0"/>
              <a:t>proposer les articles les plus pertinents à l’utilisateur.</a:t>
            </a:r>
          </a:p>
          <a:p>
            <a:r>
              <a:rPr lang="fr-FR" b="1" dirty="0"/>
              <a:t>Entrées</a:t>
            </a:r>
            <a:br>
              <a:rPr lang="fr-FR" dirty="0"/>
            </a:br>
            <a:r>
              <a:rPr lang="fr-FR" dirty="0"/>
              <a:t>Profil utilisateur + garde robe + caractéristiques des articles</a:t>
            </a:r>
          </a:p>
          <a:p>
            <a:r>
              <a:rPr lang="fr-FR" b="1" dirty="0"/>
              <a:t>Sortie</a:t>
            </a:r>
            <a:br>
              <a:rPr lang="fr-FR" dirty="0"/>
            </a:br>
            <a:r>
              <a:rPr lang="fr-FR" dirty="0"/>
              <a:t>Une liste d’articles recommandés, classés par pertinence.</a:t>
            </a:r>
          </a:p>
        </p:txBody>
      </p:sp>
    </p:spTree>
    <p:extLst>
      <p:ext uri="{BB962C8B-B14F-4D97-AF65-F5344CB8AC3E}">
        <p14:creationId xmlns:p14="http://schemas.microsoft.com/office/powerpoint/2010/main" val="13577741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9F7802-B14C-BA96-AACD-F5B3FF0DF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EAE7D39-4309-1DD2-9CDA-58AF9AE9FA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51399"/>
            <a:ext cx="9144000" cy="1109849"/>
          </a:xfrm>
        </p:spPr>
        <p:txBody>
          <a:bodyPr/>
          <a:lstStyle/>
          <a:p>
            <a:r>
              <a:rPr lang="fr-FR" dirty="0"/>
              <a:t>Périmètre du </a:t>
            </a:r>
            <a:r>
              <a:rPr lang="fr-FR" dirty="0" err="1"/>
              <a:t>PoC</a:t>
            </a:r>
            <a:endParaRPr lang="fr-FR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4BF51F8F-852A-CA2E-F3A4-6A5D75E95D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03412" y="1703296"/>
            <a:ext cx="5692588" cy="4912656"/>
          </a:xfrm>
        </p:spPr>
        <p:txBody>
          <a:bodyPr>
            <a:normAutofit/>
          </a:bodyPr>
          <a:lstStyle/>
          <a:p>
            <a:r>
              <a:rPr lang="fr-FR" b="1" dirty="0" err="1"/>
              <a:t>PoC</a:t>
            </a:r>
            <a:endParaRPr lang="fr-FR" b="1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dirty="0"/>
              <a:t>Identifier les données nécessaires à la recommandation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dirty="0"/>
              <a:t>Expérimenter plusieurs approches IA/ML de recommandation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dirty="0"/>
              <a:t>Évaluer la pertinence des recommandations à l'aide de métriques métier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dirty="0"/>
              <a:t>Comparer les approches et identifier les conditions nécessaires à une future industrialisation</a:t>
            </a:r>
          </a:p>
        </p:txBody>
      </p:sp>
      <p:sp>
        <p:nvSpPr>
          <p:cNvPr id="4" name="Sous-titre 2">
            <a:extLst>
              <a:ext uri="{FF2B5EF4-FFF2-40B4-BE49-F238E27FC236}">
                <a16:creationId xmlns:a16="http://schemas.microsoft.com/office/drawing/2014/main" id="{26705A7B-EE01-A4C4-780E-6E8B6CA11603}"/>
              </a:ext>
            </a:extLst>
          </p:cNvPr>
          <p:cNvSpPr txBox="1">
            <a:spLocks/>
          </p:cNvSpPr>
          <p:nvPr/>
        </p:nvSpPr>
        <p:spPr>
          <a:xfrm>
            <a:off x="6096000" y="1703295"/>
            <a:ext cx="5889812" cy="491265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b="1" dirty="0"/>
              <a:t>Hors </a:t>
            </a:r>
            <a:r>
              <a:rPr lang="fr-FR" b="1" dirty="0" err="1"/>
              <a:t>PoC</a:t>
            </a:r>
            <a:endParaRPr lang="fr-FR" b="1" dirty="0"/>
          </a:p>
          <a:p>
            <a:pPr marL="342900" indent="-342900" algn="r">
              <a:buFont typeface="Arial" panose="020B0604020202020204" pitchFamily="34" charset="0"/>
              <a:buChar char="•"/>
            </a:pPr>
            <a:r>
              <a:rPr lang="fr-FR" dirty="0"/>
              <a:t>Développement de l'application mobile</a:t>
            </a:r>
          </a:p>
          <a:p>
            <a:pPr marL="342900" indent="-342900" algn="r">
              <a:buFont typeface="Arial" panose="020B0604020202020204" pitchFamily="34" charset="0"/>
              <a:buChar char="•"/>
            </a:pPr>
            <a:r>
              <a:rPr lang="fr-FR" dirty="0"/>
              <a:t>Conception de l'interface utilisateur</a:t>
            </a:r>
          </a:p>
          <a:p>
            <a:pPr marL="342900" indent="-342900" algn="r">
              <a:buFont typeface="Arial" panose="020B0604020202020204" pitchFamily="34" charset="0"/>
              <a:buChar char="•"/>
            </a:pPr>
            <a:r>
              <a:rPr lang="fr-FR" dirty="0"/>
              <a:t>Gestion des comptes et de l'authentification</a:t>
            </a:r>
          </a:p>
          <a:p>
            <a:pPr marL="342900" indent="-342900" algn="r">
              <a:buFont typeface="Arial" panose="020B0604020202020204" pitchFamily="34" charset="0"/>
              <a:buChar char="•"/>
            </a:pPr>
            <a:r>
              <a:rPr lang="fr-FR" dirty="0"/>
              <a:t>Développement de l'ensemble des fonctionnalités métier</a:t>
            </a:r>
          </a:p>
          <a:p>
            <a:pPr marL="342900" indent="-342900" algn="r">
              <a:buFont typeface="Arial" panose="020B0604020202020204" pitchFamily="34" charset="0"/>
              <a:buChar char="•"/>
            </a:pPr>
            <a:r>
              <a:rPr lang="fr-FR" dirty="0"/>
              <a:t>Mise en production et industrialisation de la solution</a:t>
            </a:r>
          </a:p>
          <a:p>
            <a:pPr marL="342900" indent="-342900" algn="r">
              <a:buFont typeface="Arial" panose="020B0604020202020204" pitchFamily="34" charset="0"/>
              <a:buChar char="•"/>
            </a:pPr>
            <a:r>
              <a:rPr lang="fr-FR" dirty="0"/>
              <a:t>Constitution d'une base de données utilisateurs réels</a:t>
            </a:r>
          </a:p>
          <a:p>
            <a:pPr marL="342900" indent="-342900" algn="r">
              <a:buFont typeface="Arial" panose="020B0604020202020204" pitchFamily="34" charset="0"/>
              <a:buChar char="•"/>
            </a:pPr>
            <a:r>
              <a:rPr lang="fr-FR" dirty="0"/>
              <a:t>Personnalisation des photos (couleurs, tailles, etc…)</a:t>
            </a:r>
          </a:p>
          <a:p>
            <a:pPr marL="342900" indent="-342900" algn="r">
              <a:buFont typeface="Arial" panose="020B0604020202020204" pitchFamily="34" charset="0"/>
              <a:buChar char="•"/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89846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8A1C1C-A256-7D75-3215-6413C849E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Flèche : bas 29">
            <a:extLst>
              <a:ext uri="{FF2B5EF4-FFF2-40B4-BE49-F238E27FC236}">
                <a16:creationId xmlns:a16="http://schemas.microsoft.com/office/drawing/2014/main" id="{2C72839E-0856-BFD9-57E1-47C17B1B3EEE}"/>
              </a:ext>
            </a:extLst>
          </p:cNvPr>
          <p:cNvSpPr/>
          <p:nvPr/>
        </p:nvSpPr>
        <p:spPr>
          <a:xfrm rot="16200000">
            <a:off x="371320" y="3386009"/>
            <a:ext cx="1084881" cy="775206"/>
          </a:xfrm>
          <a:prstGeom prst="downArrow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6" name="Groupe 5">
            <a:extLst>
              <a:ext uri="{FF2B5EF4-FFF2-40B4-BE49-F238E27FC236}">
                <a16:creationId xmlns:a16="http://schemas.microsoft.com/office/drawing/2014/main" id="{E17E9EE5-2841-12C1-70DD-20DDAE98D52C}"/>
              </a:ext>
            </a:extLst>
          </p:cNvPr>
          <p:cNvGrpSpPr/>
          <p:nvPr/>
        </p:nvGrpSpPr>
        <p:grpSpPr>
          <a:xfrm>
            <a:off x="1805006" y="5246955"/>
            <a:ext cx="4437036" cy="1143000"/>
            <a:chOff x="108488" y="2654511"/>
            <a:chExt cx="4230392" cy="2060359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3F2BACC-DAAC-62EC-C509-F2342D8A032E}"/>
                </a:ext>
              </a:extLst>
            </p:cNvPr>
            <p:cNvSpPr/>
            <p:nvPr/>
          </p:nvSpPr>
          <p:spPr>
            <a:xfrm>
              <a:off x="108488" y="2654511"/>
              <a:ext cx="4230392" cy="2060359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fr-FR" sz="2800" dirty="0"/>
                <a:t>Contexte</a:t>
              </a:r>
            </a:p>
          </p:txBody>
        </p:sp>
        <p:sp>
          <p:nvSpPr>
            <p:cNvPr id="8" name="Rectangle : coins arrondis 7">
              <a:extLst>
                <a:ext uri="{FF2B5EF4-FFF2-40B4-BE49-F238E27FC236}">
                  <a16:creationId xmlns:a16="http://schemas.microsoft.com/office/drawing/2014/main" id="{A9B9C14A-ECFB-6B95-C353-D4ED933974F3}"/>
                </a:ext>
              </a:extLst>
            </p:cNvPr>
            <p:cNvSpPr/>
            <p:nvPr/>
          </p:nvSpPr>
          <p:spPr>
            <a:xfrm>
              <a:off x="385519" y="3681702"/>
              <a:ext cx="3596900" cy="518337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400" dirty="0"/>
                <a:t>Tendances actuelles</a:t>
              </a:r>
            </a:p>
          </p:txBody>
        </p:sp>
      </p:grpSp>
      <p:grpSp>
        <p:nvGrpSpPr>
          <p:cNvPr id="18" name="Groupe 17">
            <a:extLst>
              <a:ext uri="{FF2B5EF4-FFF2-40B4-BE49-F238E27FC236}">
                <a16:creationId xmlns:a16="http://schemas.microsoft.com/office/drawing/2014/main" id="{FCD10F60-7074-5A2A-DB58-606E4094D822}"/>
              </a:ext>
            </a:extLst>
          </p:cNvPr>
          <p:cNvGrpSpPr/>
          <p:nvPr/>
        </p:nvGrpSpPr>
        <p:grpSpPr>
          <a:xfrm>
            <a:off x="1805006" y="2970692"/>
            <a:ext cx="4437036" cy="2065856"/>
            <a:chOff x="6096000" y="2620069"/>
            <a:chExt cx="4230392" cy="3893801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15951EA5-CEB5-50C9-1741-CD3F707E1ED1}"/>
                </a:ext>
              </a:extLst>
            </p:cNvPr>
            <p:cNvSpPr/>
            <p:nvPr/>
          </p:nvSpPr>
          <p:spPr>
            <a:xfrm>
              <a:off x="6096000" y="2620069"/>
              <a:ext cx="4230392" cy="389380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fr-FR" sz="2800" dirty="0"/>
                <a:t>Catalogue</a:t>
              </a:r>
            </a:p>
          </p:txBody>
        </p:sp>
        <p:sp>
          <p:nvSpPr>
            <p:cNvPr id="14" name="Rectangle : coins arrondis 13">
              <a:extLst>
                <a:ext uri="{FF2B5EF4-FFF2-40B4-BE49-F238E27FC236}">
                  <a16:creationId xmlns:a16="http://schemas.microsoft.com/office/drawing/2014/main" id="{02950634-5787-7FDE-B6AF-6BCF0F7F5F8E}"/>
                </a:ext>
              </a:extLst>
            </p:cNvPr>
            <p:cNvSpPr/>
            <p:nvPr/>
          </p:nvSpPr>
          <p:spPr>
            <a:xfrm>
              <a:off x="6373031" y="3647261"/>
              <a:ext cx="3596900" cy="518337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400" dirty="0"/>
                <a:t>Image des articles</a:t>
              </a:r>
            </a:p>
          </p:txBody>
        </p:sp>
        <p:sp>
          <p:nvSpPr>
            <p:cNvPr id="15" name="Rectangle : coins arrondis 14">
              <a:extLst>
                <a:ext uri="{FF2B5EF4-FFF2-40B4-BE49-F238E27FC236}">
                  <a16:creationId xmlns:a16="http://schemas.microsoft.com/office/drawing/2014/main" id="{9FE3D03B-C8B5-B6F3-541C-B4B84510DF76}"/>
                </a:ext>
              </a:extLst>
            </p:cNvPr>
            <p:cNvSpPr/>
            <p:nvPr/>
          </p:nvSpPr>
          <p:spPr>
            <a:xfrm>
              <a:off x="6357359" y="4310242"/>
              <a:ext cx="3612572" cy="518337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400" dirty="0"/>
                <a:t>Description</a:t>
              </a:r>
            </a:p>
          </p:txBody>
        </p:sp>
        <p:sp>
          <p:nvSpPr>
            <p:cNvPr id="16" name="Rectangle : coins arrondis 15">
              <a:extLst>
                <a:ext uri="{FF2B5EF4-FFF2-40B4-BE49-F238E27FC236}">
                  <a16:creationId xmlns:a16="http://schemas.microsoft.com/office/drawing/2014/main" id="{0A235298-7C93-11F1-D4CC-B8E936313423}"/>
                </a:ext>
              </a:extLst>
            </p:cNvPr>
            <p:cNvSpPr/>
            <p:nvPr/>
          </p:nvSpPr>
          <p:spPr>
            <a:xfrm>
              <a:off x="6357359" y="4973223"/>
              <a:ext cx="3612572" cy="518337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400" dirty="0"/>
                <a:t>Catégorie</a:t>
              </a:r>
            </a:p>
          </p:txBody>
        </p:sp>
        <p:sp>
          <p:nvSpPr>
            <p:cNvPr id="17" name="Rectangle : coins arrondis 16">
              <a:extLst>
                <a:ext uri="{FF2B5EF4-FFF2-40B4-BE49-F238E27FC236}">
                  <a16:creationId xmlns:a16="http://schemas.microsoft.com/office/drawing/2014/main" id="{5D73B4CB-E46A-C666-3C68-D93AA1351DF1}"/>
                </a:ext>
              </a:extLst>
            </p:cNvPr>
            <p:cNvSpPr/>
            <p:nvPr/>
          </p:nvSpPr>
          <p:spPr>
            <a:xfrm>
              <a:off x="6357359" y="5636204"/>
              <a:ext cx="3612572" cy="518337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400" dirty="0"/>
                <a:t>Tags, Prix, autres </a:t>
              </a:r>
              <a:r>
                <a:rPr lang="fr-FR" sz="1400" dirty="0" err="1"/>
                <a:t>méta-données</a:t>
              </a:r>
              <a:r>
                <a:rPr lang="fr-FR" sz="1400" dirty="0"/>
                <a:t>…</a:t>
              </a:r>
            </a:p>
          </p:txBody>
        </p:sp>
      </p:grpSp>
      <p:grpSp>
        <p:nvGrpSpPr>
          <p:cNvPr id="19" name="Groupe 18">
            <a:extLst>
              <a:ext uri="{FF2B5EF4-FFF2-40B4-BE49-F238E27FC236}">
                <a16:creationId xmlns:a16="http://schemas.microsoft.com/office/drawing/2014/main" id="{FE66C0FA-381B-C130-E341-29EDEB007FC4}"/>
              </a:ext>
            </a:extLst>
          </p:cNvPr>
          <p:cNvGrpSpPr/>
          <p:nvPr/>
        </p:nvGrpSpPr>
        <p:grpSpPr>
          <a:xfrm>
            <a:off x="1805006" y="1358844"/>
            <a:ext cx="4437036" cy="1401442"/>
            <a:chOff x="108488" y="2654511"/>
            <a:chExt cx="4230392" cy="2526224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FE9B42E2-2A66-3857-2754-5B469DC59830}"/>
                </a:ext>
              </a:extLst>
            </p:cNvPr>
            <p:cNvSpPr/>
            <p:nvPr/>
          </p:nvSpPr>
          <p:spPr>
            <a:xfrm>
              <a:off x="108488" y="2654511"/>
              <a:ext cx="4230392" cy="2526224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fr-FR" sz="2800" dirty="0"/>
                <a:t>Utilisateur</a:t>
              </a:r>
            </a:p>
          </p:txBody>
        </p:sp>
        <p:sp>
          <p:nvSpPr>
            <p:cNvPr id="21" name="Rectangle : coins arrondis 20">
              <a:extLst>
                <a:ext uri="{FF2B5EF4-FFF2-40B4-BE49-F238E27FC236}">
                  <a16:creationId xmlns:a16="http://schemas.microsoft.com/office/drawing/2014/main" id="{DA352765-8502-4448-3E5C-AFADA04E820E}"/>
                </a:ext>
              </a:extLst>
            </p:cNvPr>
            <p:cNvSpPr/>
            <p:nvPr/>
          </p:nvSpPr>
          <p:spPr>
            <a:xfrm>
              <a:off x="385519" y="3681702"/>
              <a:ext cx="3596900" cy="518337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400" dirty="0"/>
                <a:t>Photos de la garde-robe</a:t>
              </a:r>
            </a:p>
          </p:txBody>
        </p:sp>
        <p:sp>
          <p:nvSpPr>
            <p:cNvPr id="22" name="Rectangle : coins arrondis 21">
              <a:extLst>
                <a:ext uri="{FF2B5EF4-FFF2-40B4-BE49-F238E27FC236}">
                  <a16:creationId xmlns:a16="http://schemas.microsoft.com/office/drawing/2014/main" id="{9C27605C-7C24-7B83-638F-7DAEAEF8A583}"/>
                </a:ext>
              </a:extLst>
            </p:cNvPr>
            <p:cNvSpPr/>
            <p:nvPr/>
          </p:nvSpPr>
          <p:spPr>
            <a:xfrm>
              <a:off x="369847" y="4344683"/>
              <a:ext cx="3612572" cy="518337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400" dirty="0"/>
                <a:t>Préférences de styles</a:t>
              </a:r>
            </a:p>
          </p:txBody>
        </p:sp>
      </p:grpSp>
      <p:sp>
        <p:nvSpPr>
          <p:cNvPr id="26" name="ZoneTexte 25">
            <a:extLst>
              <a:ext uri="{FF2B5EF4-FFF2-40B4-BE49-F238E27FC236}">
                <a16:creationId xmlns:a16="http://schemas.microsoft.com/office/drawing/2014/main" id="{E977AB6B-6DB7-1715-C8E5-E6CA4680729B}"/>
              </a:ext>
            </a:extLst>
          </p:cNvPr>
          <p:cNvSpPr txBox="1"/>
          <p:nvPr/>
        </p:nvSpPr>
        <p:spPr>
          <a:xfrm>
            <a:off x="8207548" y="1575939"/>
            <a:ext cx="345999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800" dirty="0"/>
              <a:t>Utilisateur</a:t>
            </a:r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4D917CC3-506D-CD79-CF1F-2A11DFFD8D2C}"/>
              </a:ext>
            </a:extLst>
          </p:cNvPr>
          <p:cNvSpPr txBox="1"/>
          <p:nvPr/>
        </p:nvSpPr>
        <p:spPr>
          <a:xfrm>
            <a:off x="112208" y="2666019"/>
            <a:ext cx="160310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800" dirty="0"/>
              <a:t>Entrée</a:t>
            </a:r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24A8F8F7-0A43-980F-1AED-124FFA5FBE43}"/>
              </a:ext>
            </a:extLst>
          </p:cNvPr>
          <p:cNvSpPr txBox="1"/>
          <p:nvPr/>
        </p:nvSpPr>
        <p:spPr>
          <a:xfrm>
            <a:off x="6511402" y="2666019"/>
            <a:ext cx="118755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800" dirty="0"/>
              <a:t>Sortie</a:t>
            </a:r>
          </a:p>
        </p:txBody>
      </p:sp>
      <p:sp>
        <p:nvSpPr>
          <p:cNvPr id="31" name="Flèche : bas 30">
            <a:extLst>
              <a:ext uri="{FF2B5EF4-FFF2-40B4-BE49-F238E27FC236}">
                <a16:creationId xmlns:a16="http://schemas.microsoft.com/office/drawing/2014/main" id="{C9D4985A-148B-3A5F-29E3-E50107B96D02}"/>
              </a:ext>
            </a:extLst>
          </p:cNvPr>
          <p:cNvSpPr/>
          <p:nvPr/>
        </p:nvSpPr>
        <p:spPr>
          <a:xfrm rot="16200000">
            <a:off x="6610237" y="3386008"/>
            <a:ext cx="1084881" cy="775206"/>
          </a:xfrm>
          <a:prstGeom prst="downArrow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2" name="Flèche : bas 31">
            <a:extLst>
              <a:ext uri="{FF2B5EF4-FFF2-40B4-BE49-F238E27FC236}">
                <a16:creationId xmlns:a16="http://schemas.microsoft.com/office/drawing/2014/main" id="{6BA68E9F-BB70-DC3F-1202-59D0F1EB3F2C}"/>
              </a:ext>
            </a:extLst>
          </p:cNvPr>
          <p:cNvSpPr/>
          <p:nvPr/>
        </p:nvSpPr>
        <p:spPr>
          <a:xfrm>
            <a:off x="9395105" y="2216237"/>
            <a:ext cx="1084881" cy="77520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3" name="Rectangle : coins arrondis 32">
            <a:extLst>
              <a:ext uri="{FF2B5EF4-FFF2-40B4-BE49-F238E27FC236}">
                <a16:creationId xmlns:a16="http://schemas.microsoft.com/office/drawing/2014/main" id="{7145CBA2-210F-EFAB-5572-1DDCA1807267}"/>
              </a:ext>
            </a:extLst>
          </p:cNvPr>
          <p:cNvSpPr/>
          <p:nvPr/>
        </p:nvSpPr>
        <p:spPr>
          <a:xfrm>
            <a:off x="8051245" y="3269436"/>
            <a:ext cx="3772600" cy="47975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000" dirty="0"/>
              <a:t>Article 1 : score 0,92</a:t>
            </a:r>
          </a:p>
        </p:txBody>
      </p:sp>
      <p:sp>
        <p:nvSpPr>
          <p:cNvPr id="34" name="Rectangle : coins arrondis 33">
            <a:extLst>
              <a:ext uri="{FF2B5EF4-FFF2-40B4-BE49-F238E27FC236}">
                <a16:creationId xmlns:a16="http://schemas.microsoft.com/office/drawing/2014/main" id="{DEAE40DD-5DFE-128A-7413-C50B51FF561B}"/>
              </a:ext>
            </a:extLst>
          </p:cNvPr>
          <p:cNvSpPr/>
          <p:nvPr/>
        </p:nvSpPr>
        <p:spPr>
          <a:xfrm>
            <a:off x="8051245" y="3985039"/>
            <a:ext cx="3772600" cy="47975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000" dirty="0"/>
              <a:t>Article 1 : score 0,87</a:t>
            </a:r>
          </a:p>
        </p:txBody>
      </p:sp>
      <p:sp>
        <p:nvSpPr>
          <p:cNvPr id="35" name="Rectangle : coins arrondis 34">
            <a:extLst>
              <a:ext uri="{FF2B5EF4-FFF2-40B4-BE49-F238E27FC236}">
                <a16:creationId xmlns:a16="http://schemas.microsoft.com/office/drawing/2014/main" id="{CFB9F1C3-0502-D364-FE16-76D32EFD1A89}"/>
              </a:ext>
            </a:extLst>
          </p:cNvPr>
          <p:cNvSpPr/>
          <p:nvPr/>
        </p:nvSpPr>
        <p:spPr>
          <a:xfrm>
            <a:off x="8051245" y="4637982"/>
            <a:ext cx="3772600" cy="47975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000" dirty="0"/>
              <a:t>Article 1 : score 0,84</a:t>
            </a:r>
          </a:p>
        </p:txBody>
      </p:sp>
      <p:sp>
        <p:nvSpPr>
          <p:cNvPr id="36" name="Rectangle : coins arrondis 35">
            <a:extLst>
              <a:ext uri="{FF2B5EF4-FFF2-40B4-BE49-F238E27FC236}">
                <a16:creationId xmlns:a16="http://schemas.microsoft.com/office/drawing/2014/main" id="{87638537-358B-2D8E-05EE-CBB8541BC866}"/>
              </a:ext>
            </a:extLst>
          </p:cNvPr>
          <p:cNvSpPr/>
          <p:nvPr/>
        </p:nvSpPr>
        <p:spPr>
          <a:xfrm>
            <a:off x="8051245" y="5363804"/>
            <a:ext cx="3772600" cy="47975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000" dirty="0"/>
              <a:t>…</a:t>
            </a:r>
          </a:p>
        </p:txBody>
      </p:sp>
      <p:sp>
        <p:nvSpPr>
          <p:cNvPr id="37" name="Titre 1">
            <a:extLst>
              <a:ext uri="{FF2B5EF4-FFF2-40B4-BE49-F238E27FC236}">
                <a16:creationId xmlns:a16="http://schemas.microsoft.com/office/drawing/2014/main" id="{7792A136-856B-9204-7235-A977C19EF0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00521"/>
            <a:ext cx="12192000" cy="1012257"/>
          </a:xfrm>
        </p:spPr>
        <p:txBody>
          <a:bodyPr anchor="ctr">
            <a:normAutofit/>
          </a:bodyPr>
          <a:lstStyle/>
          <a:p>
            <a:r>
              <a:rPr lang="fr-FR" sz="5400" dirty="0"/>
              <a:t>Traduction du besoin en problème ML/IA</a:t>
            </a:r>
          </a:p>
        </p:txBody>
      </p:sp>
    </p:spTree>
    <p:extLst>
      <p:ext uri="{BB962C8B-B14F-4D97-AF65-F5344CB8AC3E}">
        <p14:creationId xmlns:p14="http://schemas.microsoft.com/office/powerpoint/2010/main" val="25781027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898BD6-2285-7CAF-9691-B5F25D2A0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766AF9B-CE90-ED05-2A95-53E9C5E647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24265" y="1112777"/>
            <a:ext cx="4448014" cy="935752"/>
          </a:xfrm>
        </p:spPr>
        <p:txBody>
          <a:bodyPr>
            <a:normAutofit fontScale="90000"/>
          </a:bodyPr>
          <a:lstStyle/>
          <a:p>
            <a:r>
              <a:rPr lang="fr-FR" dirty="0"/>
              <a:t>(A Consolider)</a:t>
            </a:r>
          </a:p>
        </p:txBody>
      </p: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53EE2062-1392-76BA-1461-44187966E9E8}"/>
              </a:ext>
            </a:extLst>
          </p:cNvPr>
          <p:cNvGrpSpPr/>
          <p:nvPr/>
        </p:nvGrpSpPr>
        <p:grpSpPr>
          <a:xfrm>
            <a:off x="868550" y="2275949"/>
            <a:ext cx="4448014" cy="3950068"/>
            <a:chOff x="108488" y="2094271"/>
            <a:chExt cx="4448014" cy="3950068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B5BEE4C-021C-B8AF-2AD8-C06AF32E1DDB}"/>
                </a:ext>
              </a:extLst>
            </p:cNvPr>
            <p:cNvSpPr/>
            <p:nvPr/>
          </p:nvSpPr>
          <p:spPr>
            <a:xfrm>
              <a:off x="108488" y="2094271"/>
              <a:ext cx="4448014" cy="3950068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fr-FR" sz="3600" dirty="0"/>
                <a:t>Utilisateur</a:t>
              </a:r>
            </a:p>
          </p:txBody>
        </p:sp>
        <p:sp>
          <p:nvSpPr>
            <p:cNvPr id="7" name="Rectangle : coins arrondis 6">
              <a:extLst>
                <a:ext uri="{FF2B5EF4-FFF2-40B4-BE49-F238E27FC236}">
                  <a16:creationId xmlns:a16="http://schemas.microsoft.com/office/drawing/2014/main" id="{D9FA7C74-0893-28C1-B2AF-D59E57EFA8AC}"/>
                </a:ext>
              </a:extLst>
            </p:cNvPr>
            <p:cNvSpPr/>
            <p:nvPr/>
          </p:nvSpPr>
          <p:spPr>
            <a:xfrm>
              <a:off x="385519" y="2913680"/>
              <a:ext cx="1724185" cy="128635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Garde Robe</a:t>
              </a:r>
            </a:p>
          </p:txBody>
        </p:sp>
        <p:sp>
          <p:nvSpPr>
            <p:cNvPr id="8" name="Rectangle : coins arrondis 7">
              <a:extLst>
                <a:ext uri="{FF2B5EF4-FFF2-40B4-BE49-F238E27FC236}">
                  <a16:creationId xmlns:a16="http://schemas.microsoft.com/office/drawing/2014/main" id="{4C09E376-F447-052B-AADF-B3620C38FBD9}"/>
                </a:ext>
              </a:extLst>
            </p:cNvPr>
            <p:cNvSpPr/>
            <p:nvPr/>
          </p:nvSpPr>
          <p:spPr>
            <a:xfrm>
              <a:off x="2425483" y="2913680"/>
              <a:ext cx="1786178" cy="128635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Préférences</a:t>
              </a:r>
            </a:p>
          </p:txBody>
        </p:sp>
        <p:sp>
          <p:nvSpPr>
            <p:cNvPr id="10" name="ZoneTexte 9">
              <a:extLst>
                <a:ext uri="{FF2B5EF4-FFF2-40B4-BE49-F238E27FC236}">
                  <a16:creationId xmlns:a16="http://schemas.microsoft.com/office/drawing/2014/main" id="{9FF1D9B4-44DD-2394-35C5-CAA7693D0F6F}"/>
                </a:ext>
              </a:extLst>
            </p:cNvPr>
            <p:cNvSpPr txBox="1"/>
            <p:nvPr/>
          </p:nvSpPr>
          <p:spPr>
            <a:xfrm>
              <a:off x="385519" y="4419285"/>
              <a:ext cx="1786179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dirty="0"/>
                <a:t>Photos de l’utilisateur avec des vêtements qu’il possède</a:t>
              </a:r>
            </a:p>
          </p:txBody>
        </p:sp>
        <p:sp>
          <p:nvSpPr>
            <p:cNvPr id="11" name="ZoneTexte 10">
              <a:extLst>
                <a:ext uri="{FF2B5EF4-FFF2-40B4-BE49-F238E27FC236}">
                  <a16:creationId xmlns:a16="http://schemas.microsoft.com/office/drawing/2014/main" id="{65352CC7-948D-6E08-545D-09E3F53FBCF1}"/>
                </a:ext>
              </a:extLst>
            </p:cNvPr>
            <p:cNvSpPr txBox="1"/>
            <p:nvPr/>
          </p:nvSpPr>
          <p:spPr>
            <a:xfrm>
              <a:off x="2369302" y="4419284"/>
              <a:ext cx="1786179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dirty="0"/>
                <a:t>Marques, Styles, Influenceuses, blogs, tendances préférées</a:t>
              </a:r>
            </a:p>
          </p:txBody>
        </p:sp>
      </p:grp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38CC611F-7075-EA39-8F27-69CB8F090144}"/>
              </a:ext>
            </a:extLst>
          </p:cNvPr>
          <p:cNvGrpSpPr/>
          <p:nvPr/>
        </p:nvGrpSpPr>
        <p:grpSpPr>
          <a:xfrm>
            <a:off x="6724264" y="2275949"/>
            <a:ext cx="4448014" cy="3950068"/>
            <a:chOff x="108488" y="2094271"/>
            <a:chExt cx="4448014" cy="3950068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3C0D53A3-0A99-D03E-7F16-F589E56DB98A}"/>
                </a:ext>
              </a:extLst>
            </p:cNvPr>
            <p:cNvSpPr/>
            <p:nvPr/>
          </p:nvSpPr>
          <p:spPr>
            <a:xfrm>
              <a:off x="108488" y="2094271"/>
              <a:ext cx="4448014" cy="3950068"/>
            </a:xfrm>
            <a:prstGeom prst="rect">
              <a:avLst/>
            </a:prstGeom>
            <a:solidFill>
              <a:schemeClr val="accent2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fr-FR" sz="3600" dirty="0"/>
                <a:t>Fashion Insta</a:t>
              </a:r>
            </a:p>
          </p:txBody>
        </p:sp>
        <p:sp>
          <p:nvSpPr>
            <p:cNvPr id="16" name="Rectangle : coins arrondis 15">
              <a:extLst>
                <a:ext uri="{FF2B5EF4-FFF2-40B4-BE49-F238E27FC236}">
                  <a16:creationId xmlns:a16="http://schemas.microsoft.com/office/drawing/2014/main" id="{32278593-82DA-12AF-85B2-F16157E28CA5}"/>
                </a:ext>
              </a:extLst>
            </p:cNvPr>
            <p:cNvSpPr/>
            <p:nvPr/>
          </p:nvSpPr>
          <p:spPr>
            <a:xfrm>
              <a:off x="432013" y="2913680"/>
              <a:ext cx="1724185" cy="1286359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Catalogue</a:t>
              </a:r>
            </a:p>
          </p:txBody>
        </p:sp>
        <p:sp>
          <p:nvSpPr>
            <p:cNvPr id="17" name="Rectangle : coins arrondis 16">
              <a:extLst>
                <a:ext uri="{FF2B5EF4-FFF2-40B4-BE49-F238E27FC236}">
                  <a16:creationId xmlns:a16="http://schemas.microsoft.com/office/drawing/2014/main" id="{8F4BB81F-EDAD-FB26-F27F-819A0CF7D8C5}"/>
                </a:ext>
              </a:extLst>
            </p:cNvPr>
            <p:cNvSpPr/>
            <p:nvPr/>
          </p:nvSpPr>
          <p:spPr>
            <a:xfrm>
              <a:off x="2471977" y="2913680"/>
              <a:ext cx="1786178" cy="1286359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Tendances</a:t>
              </a:r>
            </a:p>
          </p:txBody>
        </p:sp>
        <p:sp>
          <p:nvSpPr>
            <p:cNvPr id="18" name="ZoneTexte 17">
              <a:extLst>
                <a:ext uri="{FF2B5EF4-FFF2-40B4-BE49-F238E27FC236}">
                  <a16:creationId xmlns:a16="http://schemas.microsoft.com/office/drawing/2014/main" id="{F0F38440-B3A8-E528-8D55-EF67713EDF54}"/>
                </a:ext>
              </a:extLst>
            </p:cNvPr>
            <p:cNvSpPr txBox="1"/>
            <p:nvPr/>
          </p:nvSpPr>
          <p:spPr>
            <a:xfrm>
              <a:off x="432013" y="4419285"/>
              <a:ext cx="1786179" cy="147732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dirty="0"/>
                <a:t>Images différents angles, description, prix, tags des styles de vêtement</a:t>
              </a:r>
            </a:p>
          </p:txBody>
        </p:sp>
        <p:sp>
          <p:nvSpPr>
            <p:cNvPr id="19" name="ZoneTexte 18">
              <a:extLst>
                <a:ext uri="{FF2B5EF4-FFF2-40B4-BE49-F238E27FC236}">
                  <a16:creationId xmlns:a16="http://schemas.microsoft.com/office/drawing/2014/main" id="{6D011F79-7AC5-08FD-021E-44A41CE184B8}"/>
                </a:ext>
              </a:extLst>
            </p:cNvPr>
            <p:cNvSpPr txBox="1"/>
            <p:nvPr/>
          </p:nvSpPr>
          <p:spPr>
            <a:xfrm>
              <a:off x="2415796" y="4419284"/>
              <a:ext cx="1786179" cy="92333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dirty="0"/>
                <a:t>Libellé des styles vendus dans le catalogue</a:t>
              </a:r>
            </a:p>
          </p:txBody>
        </p:sp>
      </p:grpSp>
      <p:sp>
        <p:nvSpPr>
          <p:cNvPr id="24" name="Titre 1">
            <a:extLst>
              <a:ext uri="{FF2B5EF4-FFF2-40B4-BE49-F238E27FC236}">
                <a16:creationId xmlns:a16="http://schemas.microsoft.com/office/drawing/2014/main" id="{9F2935A6-D500-BDB8-0ACC-292A44B1C76F}"/>
              </a:ext>
            </a:extLst>
          </p:cNvPr>
          <p:cNvSpPr txBox="1">
            <a:spLocks/>
          </p:cNvSpPr>
          <p:nvPr/>
        </p:nvSpPr>
        <p:spPr>
          <a:xfrm>
            <a:off x="868550" y="1112777"/>
            <a:ext cx="4448014" cy="933447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dirty="0"/>
              <a:t>A Construire</a:t>
            </a:r>
          </a:p>
        </p:txBody>
      </p:sp>
      <p:sp>
        <p:nvSpPr>
          <p:cNvPr id="3" name="Titre 1">
            <a:extLst>
              <a:ext uri="{FF2B5EF4-FFF2-40B4-BE49-F238E27FC236}">
                <a16:creationId xmlns:a16="http://schemas.microsoft.com/office/drawing/2014/main" id="{806FEBD2-696A-E5D1-3FBF-7DB1A5784A9E}"/>
              </a:ext>
            </a:extLst>
          </p:cNvPr>
          <p:cNvSpPr txBox="1">
            <a:spLocks/>
          </p:cNvSpPr>
          <p:nvPr/>
        </p:nvSpPr>
        <p:spPr>
          <a:xfrm>
            <a:off x="0" y="100521"/>
            <a:ext cx="12192000" cy="101225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5400" dirty="0"/>
              <a:t>Données disponibles</a:t>
            </a:r>
          </a:p>
        </p:txBody>
      </p:sp>
    </p:spTree>
    <p:extLst>
      <p:ext uri="{BB962C8B-B14F-4D97-AF65-F5344CB8AC3E}">
        <p14:creationId xmlns:p14="http://schemas.microsoft.com/office/powerpoint/2010/main" val="31541111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98353F-0C62-5EE9-E8FD-11AA0F72F0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e 28">
            <a:extLst>
              <a:ext uri="{FF2B5EF4-FFF2-40B4-BE49-F238E27FC236}">
                <a16:creationId xmlns:a16="http://schemas.microsoft.com/office/drawing/2014/main" id="{4AEFB941-9873-6512-ED95-D5F1FCE80961}"/>
              </a:ext>
            </a:extLst>
          </p:cNvPr>
          <p:cNvGrpSpPr/>
          <p:nvPr/>
        </p:nvGrpSpPr>
        <p:grpSpPr>
          <a:xfrm>
            <a:off x="1464516" y="1236866"/>
            <a:ext cx="10147382" cy="5323753"/>
            <a:chOff x="1562838" y="1433511"/>
            <a:chExt cx="10147382" cy="5323753"/>
          </a:xfrm>
        </p:grpSpPr>
        <p:pic>
          <p:nvPicPr>
            <p:cNvPr id="12" name="Image 11">
              <a:extLst>
                <a:ext uri="{FF2B5EF4-FFF2-40B4-BE49-F238E27FC236}">
                  <a16:creationId xmlns:a16="http://schemas.microsoft.com/office/drawing/2014/main" id="{F59DEDB4-7E62-BCDF-C6BD-EB18A701416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340616" y="1433511"/>
              <a:ext cx="7687748" cy="1619476"/>
            </a:xfrm>
            <a:prstGeom prst="rect">
              <a:avLst/>
            </a:prstGeom>
          </p:spPr>
        </p:pic>
        <p:pic>
          <p:nvPicPr>
            <p:cNvPr id="16" name="Image 15">
              <a:extLst>
                <a:ext uri="{FF2B5EF4-FFF2-40B4-BE49-F238E27FC236}">
                  <a16:creationId xmlns:a16="http://schemas.microsoft.com/office/drawing/2014/main" id="{7B7A4844-8AF8-FF09-1368-1F49146CC66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780837" y="3316210"/>
              <a:ext cx="6563641" cy="514422"/>
            </a:xfrm>
            <a:prstGeom prst="rect">
              <a:avLst/>
            </a:prstGeom>
          </p:spPr>
        </p:pic>
        <p:sp>
          <p:nvSpPr>
            <p:cNvPr id="17" name="ZoneTexte 16">
              <a:extLst>
                <a:ext uri="{FF2B5EF4-FFF2-40B4-BE49-F238E27FC236}">
                  <a16:creationId xmlns:a16="http://schemas.microsoft.com/office/drawing/2014/main" id="{3299F656-17F3-49FB-16AE-D181D0444498}"/>
                </a:ext>
              </a:extLst>
            </p:cNvPr>
            <p:cNvSpPr txBox="1"/>
            <p:nvPr/>
          </p:nvSpPr>
          <p:spPr>
            <a:xfrm>
              <a:off x="1562839" y="2786947"/>
              <a:ext cx="777777" cy="13234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8000" dirty="0"/>
                <a:t>A</a:t>
              </a:r>
            </a:p>
          </p:txBody>
        </p:sp>
        <p:sp>
          <p:nvSpPr>
            <p:cNvPr id="18" name="ZoneTexte 17">
              <a:extLst>
                <a:ext uri="{FF2B5EF4-FFF2-40B4-BE49-F238E27FC236}">
                  <a16:creationId xmlns:a16="http://schemas.microsoft.com/office/drawing/2014/main" id="{3822EFF6-36B5-99B1-88D1-2869BB67B250}"/>
                </a:ext>
              </a:extLst>
            </p:cNvPr>
            <p:cNvSpPr txBox="1"/>
            <p:nvPr/>
          </p:nvSpPr>
          <p:spPr>
            <a:xfrm>
              <a:off x="1562838" y="4110386"/>
              <a:ext cx="742511" cy="13234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8000" dirty="0"/>
                <a:t>B</a:t>
              </a:r>
            </a:p>
          </p:txBody>
        </p:sp>
        <p:sp>
          <p:nvSpPr>
            <p:cNvPr id="19" name="ZoneTexte 18">
              <a:extLst>
                <a:ext uri="{FF2B5EF4-FFF2-40B4-BE49-F238E27FC236}">
                  <a16:creationId xmlns:a16="http://schemas.microsoft.com/office/drawing/2014/main" id="{472D02C5-94A0-4538-9506-ABFA1ECFBC85}"/>
                </a:ext>
              </a:extLst>
            </p:cNvPr>
            <p:cNvSpPr txBox="1"/>
            <p:nvPr/>
          </p:nvSpPr>
          <p:spPr>
            <a:xfrm>
              <a:off x="1562838" y="5433825"/>
              <a:ext cx="731290" cy="13234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8000" dirty="0"/>
                <a:t>C</a:t>
              </a:r>
            </a:p>
          </p:txBody>
        </p:sp>
        <p:pic>
          <p:nvPicPr>
            <p:cNvPr id="23" name="Image 22">
              <a:extLst>
                <a:ext uri="{FF2B5EF4-FFF2-40B4-BE49-F238E27FC236}">
                  <a16:creationId xmlns:a16="http://schemas.microsoft.com/office/drawing/2014/main" id="{5E838A26-D150-B4AF-1F26-09A1D5D8710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629519" y="4391052"/>
              <a:ext cx="6706536" cy="762106"/>
            </a:xfrm>
            <a:prstGeom prst="rect">
              <a:avLst/>
            </a:prstGeom>
          </p:spPr>
        </p:pic>
        <p:pic>
          <p:nvPicPr>
            <p:cNvPr id="25" name="Image 24">
              <a:extLst>
                <a:ext uri="{FF2B5EF4-FFF2-40B4-BE49-F238E27FC236}">
                  <a16:creationId xmlns:a16="http://schemas.microsoft.com/office/drawing/2014/main" id="{185736D2-10CB-C2CA-E851-E62970EA0A3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852284" y="5747955"/>
              <a:ext cx="6420746" cy="581106"/>
            </a:xfrm>
            <a:prstGeom prst="rect">
              <a:avLst/>
            </a:prstGeom>
          </p:spPr>
        </p:pic>
        <p:sp>
          <p:nvSpPr>
            <p:cNvPr id="26" name="ZoneTexte 25">
              <a:extLst>
                <a:ext uri="{FF2B5EF4-FFF2-40B4-BE49-F238E27FC236}">
                  <a16:creationId xmlns:a16="http://schemas.microsoft.com/office/drawing/2014/main" id="{82A6F886-BC87-FB22-5B06-6FE99E1B4753}"/>
                </a:ext>
              </a:extLst>
            </p:cNvPr>
            <p:cNvSpPr txBox="1"/>
            <p:nvPr/>
          </p:nvSpPr>
          <p:spPr>
            <a:xfrm>
              <a:off x="9586452" y="5756990"/>
              <a:ext cx="2123768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600" i="1" dirty="0">
                  <a:solidFill>
                    <a:schemeClr val="accent1">
                      <a:lumMod val="75000"/>
                    </a:schemeClr>
                  </a:solidFill>
                </a:rPr>
                <a:t>[En fonction du coût Temps/Investissement]</a:t>
              </a:r>
            </a:p>
          </p:txBody>
        </p:sp>
      </p:grpSp>
      <p:sp>
        <p:nvSpPr>
          <p:cNvPr id="28" name="ZoneTexte 27">
            <a:extLst>
              <a:ext uri="{FF2B5EF4-FFF2-40B4-BE49-F238E27FC236}">
                <a16:creationId xmlns:a16="http://schemas.microsoft.com/office/drawing/2014/main" id="{3741F6B8-F8A1-EE21-B5D7-DB68F996996A}"/>
              </a:ext>
            </a:extLst>
          </p:cNvPr>
          <p:cNvSpPr txBox="1"/>
          <p:nvPr/>
        </p:nvSpPr>
        <p:spPr>
          <a:xfrm>
            <a:off x="245806" y="194782"/>
            <a:ext cx="116315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3200" dirty="0"/>
              <a:t>Limiter les catégories (Valeur / Représentativité)</a:t>
            </a:r>
          </a:p>
        </p:txBody>
      </p:sp>
    </p:spTree>
    <p:extLst>
      <p:ext uri="{BB962C8B-B14F-4D97-AF65-F5344CB8AC3E}">
        <p14:creationId xmlns:p14="http://schemas.microsoft.com/office/powerpoint/2010/main" val="14438297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08AA4D-4343-7D95-054D-2500643DEE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95AB0A6-EF46-6EED-82DF-18772A69073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Approche 1 :</a:t>
            </a:r>
            <a:br>
              <a:rPr lang="fr-FR" dirty="0"/>
            </a:br>
            <a:r>
              <a:rPr lang="fr-FR" dirty="0"/>
              <a:t>Recommandation par similarité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5ABA053-FA6D-68E8-436D-3AB27B8BB6E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dirty="0"/>
              <a:t>A quel autre vêtement se vêtement ressemble ?</a:t>
            </a:r>
          </a:p>
        </p:txBody>
      </p:sp>
    </p:spTree>
    <p:extLst>
      <p:ext uri="{BB962C8B-B14F-4D97-AF65-F5344CB8AC3E}">
        <p14:creationId xmlns:p14="http://schemas.microsoft.com/office/powerpoint/2010/main" val="6447319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C7FA34-4FE7-40E6-3B66-06C11477E1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69439C8-F357-E8C3-5A17-CCC627FDF7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69017" y="294468"/>
            <a:ext cx="9144000" cy="6377150"/>
          </a:xfrm>
        </p:spPr>
        <p:txBody>
          <a:bodyPr anchor="ctr">
            <a:noAutofit/>
          </a:bodyPr>
          <a:lstStyle/>
          <a:p>
            <a:r>
              <a:rPr lang="fr-FR" sz="3600" dirty="0"/>
              <a:t>Photo vêtement</a:t>
            </a:r>
            <a:br>
              <a:rPr lang="fr-FR" sz="3600" dirty="0"/>
            </a:br>
            <a:r>
              <a:rPr lang="fr-FR" sz="3600" dirty="0"/>
              <a:t>       ↓</a:t>
            </a:r>
            <a:br>
              <a:rPr lang="fr-FR" sz="3600" dirty="0"/>
            </a:br>
            <a:r>
              <a:rPr lang="fr-FR" sz="3600" dirty="0"/>
              <a:t>Modèle vision / vision-langage</a:t>
            </a:r>
            <a:br>
              <a:rPr lang="fr-FR" sz="3600" dirty="0"/>
            </a:br>
            <a:r>
              <a:rPr lang="fr-FR" sz="3600" dirty="0"/>
              <a:t>       ↓</a:t>
            </a:r>
            <a:br>
              <a:rPr lang="fr-FR" sz="3600" dirty="0"/>
            </a:br>
            <a:r>
              <a:rPr lang="fr-FR" sz="3600" dirty="0" err="1"/>
              <a:t>Embedding</a:t>
            </a:r>
            <a:br>
              <a:rPr lang="fr-FR" sz="3600" dirty="0"/>
            </a:br>
            <a:r>
              <a:rPr lang="fr-FR" sz="3600" dirty="0"/>
              <a:t>       ↓</a:t>
            </a:r>
            <a:br>
              <a:rPr lang="fr-FR" sz="3600" dirty="0"/>
            </a:br>
            <a:r>
              <a:rPr lang="fr-FR" sz="3600" dirty="0"/>
              <a:t>Recherche d'articles proches</a:t>
            </a:r>
            <a:br>
              <a:rPr lang="fr-FR" sz="3600" dirty="0"/>
            </a:br>
            <a:r>
              <a:rPr lang="fr-FR" sz="3600" dirty="0"/>
              <a:t>       ↓</a:t>
            </a:r>
            <a:br>
              <a:rPr lang="fr-FR" sz="3600" dirty="0"/>
            </a:br>
            <a:r>
              <a:rPr lang="fr-FR" sz="3600" dirty="0"/>
              <a:t>Classement</a:t>
            </a:r>
          </a:p>
        </p:txBody>
      </p:sp>
    </p:spTree>
    <p:extLst>
      <p:ext uri="{BB962C8B-B14F-4D97-AF65-F5344CB8AC3E}">
        <p14:creationId xmlns:p14="http://schemas.microsoft.com/office/powerpoint/2010/main" val="15484371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AC5E50E-37DD-04D9-F88F-BA02B8CE4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Exemple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90C8CC1-6600-255B-4C35-CD76738817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fr-FR" dirty="0"/>
              <a:t>L'utilisateur possède :</a:t>
            </a:r>
          </a:p>
          <a:p>
            <a:r>
              <a:rPr lang="fr-FR" dirty="0"/>
              <a:t>Jean bleu</a:t>
            </a:r>
          </a:p>
          <a:p>
            <a:r>
              <a:rPr lang="fr-FR" dirty="0"/>
              <a:t>Veste noire</a:t>
            </a:r>
          </a:p>
          <a:p>
            <a:r>
              <a:rPr lang="fr-FR" dirty="0"/>
              <a:t>T-shirt blanc</a:t>
            </a:r>
          </a:p>
          <a:p>
            <a:pPr marL="0" indent="0">
              <a:buNone/>
            </a:pPr>
            <a:r>
              <a:rPr lang="fr-FR" dirty="0"/>
              <a:t>Le système recherche dans le catalogue des articles dont la représentation est proche de celles de la garde-robe et/ou du profil utilisateur.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918804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B3F50C-01FA-05DF-6D11-27A618702D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FAFA4F8-FF70-8338-DDC7-A47D5921F4C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it-IT" dirty="0"/>
              <a:t>Approche 2 :</a:t>
            </a:r>
            <a:br>
              <a:rPr lang="it-IT" dirty="0"/>
            </a:br>
            <a:r>
              <a:rPr lang="fr-FR" dirty="0"/>
              <a:t>Recommandation par compatibilité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EF3B5EA-D2B9-7907-4A5F-12E86B2C5D0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dirty="0"/>
              <a:t>Avec quels autres vêtements ce vêtement peut-il être associé ?</a:t>
            </a:r>
          </a:p>
        </p:txBody>
      </p:sp>
    </p:spTree>
    <p:extLst>
      <p:ext uri="{BB962C8B-B14F-4D97-AF65-F5344CB8AC3E}">
        <p14:creationId xmlns:p14="http://schemas.microsoft.com/office/powerpoint/2010/main" val="18236369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C024E6B6-6902-C44E-C50E-9459AA04A4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442180" y="243145"/>
            <a:ext cx="4895908" cy="6371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7077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6A85645-4576-54FF-398B-E276AD50A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D'où vient le signal de compatibilité ?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821EC345-0419-8F16-C604-49472C5B11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047947"/>
            <a:ext cx="2676453" cy="1586046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79225A7E-DFD4-9870-1EC4-2AF708805834}"/>
              </a:ext>
            </a:extLst>
          </p:cNvPr>
          <p:cNvSpPr txBox="1"/>
          <p:nvPr/>
        </p:nvSpPr>
        <p:spPr>
          <a:xfrm>
            <a:off x="4869448" y="2480433"/>
            <a:ext cx="60985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créer des paires positives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FE1A3D7F-F8BE-F597-8CBD-97B85CB878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9448" y="3047947"/>
            <a:ext cx="6662287" cy="1751837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AD968097-F206-6E30-4434-3A07406B1C30}"/>
              </a:ext>
            </a:extLst>
          </p:cNvPr>
          <p:cNvSpPr txBox="1"/>
          <p:nvPr/>
        </p:nvSpPr>
        <p:spPr>
          <a:xfrm>
            <a:off x="724547" y="2480433"/>
            <a:ext cx="322752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À partir d'un </a:t>
            </a:r>
            <a:r>
              <a:rPr lang="fr-FR" b="1" dirty="0" err="1"/>
              <a:t>dataset</a:t>
            </a:r>
            <a:r>
              <a:rPr lang="fr-FR" b="1" dirty="0"/>
              <a:t> d'</a:t>
            </a:r>
            <a:r>
              <a:rPr lang="fr-FR" b="1" dirty="0" err="1"/>
              <a:t>outfits</a:t>
            </a:r>
            <a:r>
              <a:rPr lang="fr-FR" b="1" dirty="0"/>
              <a:t> :</a:t>
            </a:r>
          </a:p>
        </p:txBody>
      </p:sp>
    </p:spTree>
    <p:extLst>
      <p:ext uri="{BB962C8B-B14F-4D97-AF65-F5344CB8AC3E}">
        <p14:creationId xmlns:p14="http://schemas.microsoft.com/office/powerpoint/2010/main" val="39537212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7EAB0A-06DB-0DDA-4F2F-A7457EF4FC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1">
            <a:extLst>
              <a:ext uri="{FF2B5EF4-FFF2-40B4-BE49-F238E27FC236}">
                <a16:creationId xmlns:a16="http://schemas.microsoft.com/office/drawing/2014/main" id="{285DC324-7A6A-8053-4672-8A05ACB54F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fr-FR" dirty="0"/>
              <a:t>D'où vient le signal de compatibilité ?</a:t>
            </a:r>
          </a:p>
        </p:txBody>
      </p:sp>
      <p:graphicFrame>
        <p:nvGraphicFramePr>
          <p:cNvPr id="6" name="Tableau 5">
            <a:extLst>
              <a:ext uri="{FF2B5EF4-FFF2-40B4-BE49-F238E27FC236}">
                <a16:creationId xmlns:a16="http://schemas.microsoft.com/office/drawing/2014/main" id="{AF5B0648-CD21-DCAC-FDC0-0BDC831172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7447523"/>
              </p:ext>
            </p:extLst>
          </p:nvPr>
        </p:nvGraphicFramePr>
        <p:xfrm>
          <a:off x="1940513" y="2284731"/>
          <a:ext cx="6027873" cy="1463040"/>
        </p:xfrm>
        <a:graphic>
          <a:graphicData uri="http://schemas.openxmlformats.org/drawingml/2006/table">
            <a:tbl>
              <a:tblPr/>
              <a:tblGrid>
                <a:gridCol w="2009291">
                  <a:extLst>
                    <a:ext uri="{9D8B030D-6E8A-4147-A177-3AD203B41FA5}">
                      <a16:colId xmlns:a16="http://schemas.microsoft.com/office/drawing/2014/main" val="2969228565"/>
                    </a:ext>
                  </a:extLst>
                </a:gridCol>
                <a:gridCol w="2009291">
                  <a:extLst>
                    <a:ext uri="{9D8B030D-6E8A-4147-A177-3AD203B41FA5}">
                      <a16:colId xmlns:a16="http://schemas.microsoft.com/office/drawing/2014/main" val="3677953315"/>
                    </a:ext>
                  </a:extLst>
                </a:gridCol>
                <a:gridCol w="2009291">
                  <a:extLst>
                    <a:ext uri="{9D8B030D-6E8A-4147-A177-3AD203B41FA5}">
                      <a16:colId xmlns:a16="http://schemas.microsoft.com/office/drawing/2014/main" val="20942206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Outfit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Vêtement 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Vêtement 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34331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O1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jean bleu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T-shirt blanc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69219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O2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pantalon noir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chemise blanche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30398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O3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jupe noire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pull beige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1621533"/>
                  </a:ext>
                </a:extLst>
              </a:tr>
            </a:tbl>
          </a:graphicData>
        </a:graphic>
      </p:graphicFrame>
      <p:sp>
        <p:nvSpPr>
          <p:cNvPr id="8" name="ZoneTexte 7">
            <a:extLst>
              <a:ext uri="{FF2B5EF4-FFF2-40B4-BE49-F238E27FC236}">
                <a16:creationId xmlns:a16="http://schemas.microsoft.com/office/drawing/2014/main" id="{F8E05188-0A34-E35B-4265-B63248389F23}"/>
              </a:ext>
            </a:extLst>
          </p:cNvPr>
          <p:cNvSpPr txBox="1"/>
          <p:nvPr/>
        </p:nvSpPr>
        <p:spPr>
          <a:xfrm>
            <a:off x="1396139" y="1690688"/>
            <a:ext cx="762387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b="1" dirty="0" err="1"/>
              <a:t>Dataset</a:t>
            </a:r>
            <a:r>
              <a:rPr lang="fr-FR" sz="2400" b="1" dirty="0"/>
              <a:t> d'</a:t>
            </a:r>
            <a:r>
              <a:rPr lang="fr-FR" sz="2400" b="1" dirty="0" err="1"/>
              <a:t>outfits</a:t>
            </a:r>
            <a:r>
              <a:rPr lang="fr-FR" sz="2400" b="1" dirty="0"/>
              <a:t> (positifs / compatible)</a:t>
            </a:r>
          </a:p>
        </p:txBody>
      </p:sp>
      <p:graphicFrame>
        <p:nvGraphicFramePr>
          <p:cNvPr id="9" name="Tableau 8">
            <a:extLst>
              <a:ext uri="{FF2B5EF4-FFF2-40B4-BE49-F238E27FC236}">
                <a16:creationId xmlns:a16="http://schemas.microsoft.com/office/drawing/2014/main" id="{06F6195A-D566-FA56-AB08-570501A660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4291127"/>
              </p:ext>
            </p:extLst>
          </p:nvPr>
        </p:nvGraphicFramePr>
        <p:xfrm>
          <a:off x="1940513" y="4671101"/>
          <a:ext cx="6027873" cy="1463040"/>
        </p:xfrm>
        <a:graphic>
          <a:graphicData uri="http://schemas.openxmlformats.org/drawingml/2006/table">
            <a:tbl>
              <a:tblPr/>
              <a:tblGrid>
                <a:gridCol w="2009291">
                  <a:extLst>
                    <a:ext uri="{9D8B030D-6E8A-4147-A177-3AD203B41FA5}">
                      <a16:colId xmlns:a16="http://schemas.microsoft.com/office/drawing/2014/main" val="2969228565"/>
                    </a:ext>
                  </a:extLst>
                </a:gridCol>
                <a:gridCol w="2009291">
                  <a:extLst>
                    <a:ext uri="{9D8B030D-6E8A-4147-A177-3AD203B41FA5}">
                      <a16:colId xmlns:a16="http://schemas.microsoft.com/office/drawing/2014/main" val="3677953315"/>
                    </a:ext>
                  </a:extLst>
                </a:gridCol>
                <a:gridCol w="2009291">
                  <a:extLst>
                    <a:ext uri="{9D8B030D-6E8A-4147-A177-3AD203B41FA5}">
                      <a16:colId xmlns:a16="http://schemas.microsoft.com/office/drawing/2014/main" val="20942206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Outfit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Vêtement 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Vêtement 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34331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O1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jean bleu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robe rouge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69219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O2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pantalon noir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maillot de bain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30398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O3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jupe noire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manteau de cuire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1621533"/>
                  </a:ext>
                </a:extLst>
              </a:tr>
            </a:tbl>
          </a:graphicData>
        </a:graphic>
      </p:graphicFrame>
      <p:sp>
        <p:nvSpPr>
          <p:cNvPr id="10" name="ZoneTexte 9">
            <a:extLst>
              <a:ext uri="{FF2B5EF4-FFF2-40B4-BE49-F238E27FC236}">
                <a16:creationId xmlns:a16="http://schemas.microsoft.com/office/drawing/2014/main" id="{B7A5482E-A56A-39D9-5174-B22FFF95982D}"/>
              </a:ext>
            </a:extLst>
          </p:cNvPr>
          <p:cNvSpPr txBox="1"/>
          <p:nvPr/>
        </p:nvSpPr>
        <p:spPr>
          <a:xfrm>
            <a:off x="1396140" y="4077058"/>
            <a:ext cx="593455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b="1" dirty="0" err="1"/>
              <a:t>Dataset</a:t>
            </a:r>
            <a:r>
              <a:rPr lang="fr-FR" sz="2400" b="1" dirty="0"/>
              <a:t> construit (négatifs / manquantes)</a:t>
            </a:r>
          </a:p>
        </p:txBody>
      </p:sp>
      <p:sp>
        <p:nvSpPr>
          <p:cNvPr id="11" name="Flèche : courbe vers la gauche 10">
            <a:extLst>
              <a:ext uri="{FF2B5EF4-FFF2-40B4-BE49-F238E27FC236}">
                <a16:creationId xmlns:a16="http://schemas.microsoft.com/office/drawing/2014/main" id="{C2AFD99C-9F26-AEEC-91B9-F7C784C7020A}"/>
              </a:ext>
            </a:extLst>
          </p:cNvPr>
          <p:cNvSpPr/>
          <p:nvPr/>
        </p:nvSpPr>
        <p:spPr>
          <a:xfrm>
            <a:off x="9966060" y="2888476"/>
            <a:ext cx="1084882" cy="2822338"/>
          </a:xfrm>
          <a:prstGeom prst="curved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35BD98B7-387F-6EA0-E693-A488668163B1}"/>
              </a:ext>
            </a:extLst>
          </p:cNvPr>
          <p:cNvSpPr txBox="1"/>
          <p:nvPr/>
        </p:nvSpPr>
        <p:spPr>
          <a:xfrm>
            <a:off x="8708754" y="2284731"/>
            <a:ext cx="900193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8800" b="1" dirty="0"/>
              <a:t>1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93187B84-5F58-3343-2C7C-7D32AEDAFC0E}"/>
              </a:ext>
            </a:extLst>
          </p:cNvPr>
          <p:cNvSpPr txBox="1"/>
          <p:nvPr/>
        </p:nvSpPr>
        <p:spPr>
          <a:xfrm>
            <a:off x="8708753" y="4679346"/>
            <a:ext cx="900193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8800" b="1" dirty="0"/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41079692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1C68215-C275-E746-D66D-EC98CEC65B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Ce que le modèle apprend</a:t>
            </a:r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DCCC3F41-F317-A065-AE4D-D1CE1772F103}"/>
              </a:ext>
            </a:extLst>
          </p:cNvPr>
          <p:cNvGrpSpPr/>
          <p:nvPr/>
        </p:nvGrpSpPr>
        <p:grpSpPr>
          <a:xfrm>
            <a:off x="990600" y="2029490"/>
            <a:ext cx="4739326" cy="4460852"/>
            <a:chOff x="838200" y="2001665"/>
            <a:chExt cx="4739326" cy="4460852"/>
          </a:xfrm>
        </p:grpSpPr>
        <p:pic>
          <p:nvPicPr>
            <p:cNvPr id="21" name="Image 20">
              <a:extLst>
                <a:ext uri="{FF2B5EF4-FFF2-40B4-BE49-F238E27FC236}">
                  <a16:creationId xmlns:a16="http://schemas.microsoft.com/office/drawing/2014/main" id="{506F3689-C67F-BE37-46C5-BCE2C4D57FB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38200" y="2001665"/>
              <a:ext cx="2181529" cy="2438740"/>
            </a:xfrm>
            <a:prstGeom prst="rect">
              <a:avLst/>
            </a:prstGeom>
          </p:spPr>
        </p:pic>
        <p:sp>
          <p:nvSpPr>
            <p:cNvPr id="22" name="ZoneTexte 21">
              <a:extLst>
                <a:ext uri="{FF2B5EF4-FFF2-40B4-BE49-F238E27FC236}">
                  <a16:creationId xmlns:a16="http://schemas.microsoft.com/office/drawing/2014/main" id="{CDEEA4EB-9754-245B-B37D-764E5303D54D}"/>
                </a:ext>
              </a:extLst>
            </p:cNvPr>
            <p:cNvSpPr txBox="1"/>
            <p:nvPr/>
          </p:nvSpPr>
          <p:spPr>
            <a:xfrm>
              <a:off x="1136613" y="4543520"/>
              <a:ext cx="1584701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dirty="0" err="1"/>
                <a:t>Embedding</a:t>
              </a:r>
              <a:r>
                <a:rPr lang="fr-FR" dirty="0"/>
                <a:t> 1</a:t>
              </a:r>
            </a:p>
          </p:txBody>
        </p:sp>
        <p:sp>
          <p:nvSpPr>
            <p:cNvPr id="23" name="ZoneTexte 22">
              <a:extLst>
                <a:ext uri="{FF2B5EF4-FFF2-40B4-BE49-F238E27FC236}">
                  <a16:creationId xmlns:a16="http://schemas.microsoft.com/office/drawing/2014/main" id="{997A7F91-3333-DF5D-2E6C-42EB318CB8BD}"/>
                </a:ext>
              </a:extLst>
            </p:cNvPr>
            <p:cNvSpPr txBox="1"/>
            <p:nvPr/>
          </p:nvSpPr>
          <p:spPr>
            <a:xfrm>
              <a:off x="3992825" y="4543520"/>
              <a:ext cx="1584701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dirty="0" err="1"/>
                <a:t>Embedding</a:t>
              </a:r>
              <a:r>
                <a:rPr lang="fr-FR" dirty="0"/>
                <a:t> 2</a:t>
              </a:r>
            </a:p>
          </p:txBody>
        </p:sp>
        <p:sp>
          <p:nvSpPr>
            <p:cNvPr id="24" name="ZoneTexte 23">
              <a:extLst>
                <a:ext uri="{FF2B5EF4-FFF2-40B4-BE49-F238E27FC236}">
                  <a16:creationId xmlns:a16="http://schemas.microsoft.com/office/drawing/2014/main" id="{E02622B4-9FE7-2D18-C48C-8E76618BB197}"/>
                </a:ext>
              </a:extLst>
            </p:cNvPr>
            <p:cNvSpPr txBox="1"/>
            <p:nvPr/>
          </p:nvSpPr>
          <p:spPr>
            <a:xfrm>
              <a:off x="3108128" y="2497760"/>
              <a:ext cx="900193" cy="144655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8800" b="1" dirty="0"/>
                <a:t>+</a:t>
              </a:r>
            </a:p>
          </p:txBody>
        </p:sp>
        <p:sp>
          <p:nvSpPr>
            <p:cNvPr id="25" name="ZoneTexte 24">
              <a:extLst>
                <a:ext uri="{FF2B5EF4-FFF2-40B4-BE49-F238E27FC236}">
                  <a16:creationId xmlns:a16="http://schemas.microsoft.com/office/drawing/2014/main" id="{C2B40044-3492-1DD1-95A2-7A10B7E9BF08}"/>
                </a:ext>
              </a:extLst>
            </p:cNvPr>
            <p:cNvSpPr txBox="1"/>
            <p:nvPr/>
          </p:nvSpPr>
          <p:spPr>
            <a:xfrm>
              <a:off x="1599701" y="5015967"/>
              <a:ext cx="3054670" cy="144655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8800" b="1" dirty="0"/>
                <a:t>= 0,91</a:t>
              </a:r>
            </a:p>
          </p:txBody>
        </p:sp>
        <p:pic>
          <p:nvPicPr>
            <p:cNvPr id="26" name="Image 25">
              <a:extLst>
                <a:ext uri="{FF2B5EF4-FFF2-40B4-BE49-F238E27FC236}">
                  <a16:creationId xmlns:a16="http://schemas.microsoft.com/office/drawing/2014/main" id="{6EB3172E-BB4F-ED62-6FE5-A8FDD971128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121258" y="2001665"/>
              <a:ext cx="1066227" cy="2418134"/>
            </a:xfrm>
            <a:prstGeom prst="rect">
              <a:avLst/>
            </a:prstGeom>
          </p:spPr>
        </p:pic>
      </p:grpSp>
      <p:grpSp>
        <p:nvGrpSpPr>
          <p:cNvPr id="30" name="Groupe 29">
            <a:extLst>
              <a:ext uri="{FF2B5EF4-FFF2-40B4-BE49-F238E27FC236}">
                <a16:creationId xmlns:a16="http://schemas.microsoft.com/office/drawing/2014/main" id="{22EB9826-6343-1499-1205-039E85C87B8A}"/>
              </a:ext>
            </a:extLst>
          </p:cNvPr>
          <p:cNvGrpSpPr/>
          <p:nvPr/>
        </p:nvGrpSpPr>
        <p:grpSpPr>
          <a:xfrm>
            <a:off x="6614474" y="2028184"/>
            <a:ext cx="4739326" cy="4464691"/>
            <a:chOff x="6614474" y="2028184"/>
            <a:chExt cx="4739326" cy="4464691"/>
          </a:xfrm>
        </p:grpSpPr>
        <p:grpSp>
          <p:nvGrpSpPr>
            <p:cNvPr id="17" name="Groupe 16">
              <a:extLst>
                <a:ext uri="{FF2B5EF4-FFF2-40B4-BE49-F238E27FC236}">
                  <a16:creationId xmlns:a16="http://schemas.microsoft.com/office/drawing/2014/main" id="{CF7294C3-532D-313C-8424-486679CB26F4}"/>
                </a:ext>
              </a:extLst>
            </p:cNvPr>
            <p:cNvGrpSpPr/>
            <p:nvPr/>
          </p:nvGrpSpPr>
          <p:grpSpPr>
            <a:xfrm>
              <a:off x="6614474" y="2032023"/>
              <a:ext cx="4739326" cy="4460852"/>
              <a:chOff x="838200" y="2001665"/>
              <a:chExt cx="4739326" cy="4460852"/>
            </a:xfrm>
          </p:grpSpPr>
          <p:pic>
            <p:nvPicPr>
              <p:cNvPr id="7" name="Image 6">
                <a:extLst>
                  <a:ext uri="{FF2B5EF4-FFF2-40B4-BE49-F238E27FC236}">
                    <a16:creationId xmlns:a16="http://schemas.microsoft.com/office/drawing/2014/main" id="{D48F2FD5-3F2C-4EE7-82BD-828178B87C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38200" y="2001665"/>
                <a:ext cx="2181529" cy="2438740"/>
              </a:xfrm>
              <a:prstGeom prst="rect">
                <a:avLst/>
              </a:prstGeom>
            </p:spPr>
          </p:pic>
          <p:sp>
            <p:nvSpPr>
              <p:cNvPr id="10" name="ZoneTexte 9">
                <a:extLst>
                  <a:ext uri="{FF2B5EF4-FFF2-40B4-BE49-F238E27FC236}">
                    <a16:creationId xmlns:a16="http://schemas.microsoft.com/office/drawing/2014/main" id="{30D77E4B-8D79-5FC7-464C-044C8BA01AA7}"/>
                  </a:ext>
                </a:extLst>
              </p:cNvPr>
              <p:cNvSpPr txBox="1"/>
              <p:nvPr/>
            </p:nvSpPr>
            <p:spPr>
              <a:xfrm>
                <a:off x="1136613" y="4543520"/>
                <a:ext cx="158470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dirty="0" err="1"/>
                  <a:t>Embedding</a:t>
                </a:r>
                <a:r>
                  <a:rPr lang="fr-FR" dirty="0"/>
                  <a:t> 1</a:t>
                </a:r>
              </a:p>
            </p:txBody>
          </p:sp>
          <p:sp>
            <p:nvSpPr>
              <p:cNvPr id="11" name="ZoneTexte 10">
                <a:extLst>
                  <a:ext uri="{FF2B5EF4-FFF2-40B4-BE49-F238E27FC236}">
                    <a16:creationId xmlns:a16="http://schemas.microsoft.com/office/drawing/2014/main" id="{AC471F0B-FE25-E7EB-7ED0-F2256DC80C95}"/>
                  </a:ext>
                </a:extLst>
              </p:cNvPr>
              <p:cNvSpPr txBox="1"/>
              <p:nvPr/>
            </p:nvSpPr>
            <p:spPr>
              <a:xfrm>
                <a:off x="3992825" y="4543520"/>
                <a:ext cx="158470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dirty="0" err="1"/>
                  <a:t>Embedding</a:t>
                </a:r>
                <a:r>
                  <a:rPr lang="fr-FR" dirty="0"/>
                  <a:t> 2</a:t>
                </a:r>
              </a:p>
            </p:txBody>
          </p:sp>
          <p:sp>
            <p:nvSpPr>
              <p:cNvPr id="13" name="ZoneTexte 12">
                <a:extLst>
                  <a:ext uri="{FF2B5EF4-FFF2-40B4-BE49-F238E27FC236}">
                    <a16:creationId xmlns:a16="http://schemas.microsoft.com/office/drawing/2014/main" id="{E9EBEECF-65D4-B75C-BF0D-71728510627D}"/>
                  </a:ext>
                </a:extLst>
              </p:cNvPr>
              <p:cNvSpPr txBox="1"/>
              <p:nvPr/>
            </p:nvSpPr>
            <p:spPr>
              <a:xfrm>
                <a:off x="3108128" y="2497760"/>
                <a:ext cx="900193" cy="14465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fr-FR" sz="8800" b="1" dirty="0"/>
                  <a:t>+</a:t>
                </a:r>
              </a:p>
            </p:txBody>
          </p:sp>
          <p:sp>
            <p:nvSpPr>
              <p:cNvPr id="14" name="ZoneTexte 13">
                <a:extLst>
                  <a:ext uri="{FF2B5EF4-FFF2-40B4-BE49-F238E27FC236}">
                    <a16:creationId xmlns:a16="http://schemas.microsoft.com/office/drawing/2014/main" id="{96367F6E-6A8F-BC75-49AA-D75F9796CFB2}"/>
                  </a:ext>
                </a:extLst>
              </p:cNvPr>
              <p:cNvSpPr txBox="1"/>
              <p:nvPr/>
            </p:nvSpPr>
            <p:spPr>
              <a:xfrm>
                <a:off x="1599701" y="5015967"/>
                <a:ext cx="3054670" cy="14465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fr-FR" sz="8800" b="1" dirty="0"/>
                  <a:t>= 0,54</a:t>
                </a:r>
              </a:p>
            </p:txBody>
          </p:sp>
        </p:grpSp>
        <p:graphicFrame>
          <p:nvGraphicFramePr>
            <p:cNvPr id="29" name="Objet 28">
              <a:extLst>
                <a:ext uri="{FF2B5EF4-FFF2-40B4-BE49-F238E27FC236}">
                  <a16:creationId xmlns:a16="http://schemas.microsoft.com/office/drawing/2014/main" id="{1A9954F9-9DE8-53B2-AAD8-6A652D870D8D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82007244"/>
                </p:ext>
              </p:extLst>
            </p:nvPr>
          </p:nvGraphicFramePr>
          <p:xfrm>
            <a:off x="9960797" y="2028184"/>
            <a:ext cx="942190" cy="254316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r:id="rId5" imgW="992384" imgH="2677988" progId="">
                    <p:embed/>
                  </p:oleObj>
                </mc:Choice>
                <mc:Fallback>
                  <p:oleObj r:id="rId5" imgW="992384" imgH="2677988" progId="">
                    <p:embed/>
                    <p:pic>
                      <p:nvPicPr>
                        <p:cNvPr id="28" name="Objet 27">
                          <a:extLst>
                            <a:ext uri="{FF2B5EF4-FFF2-40B4-BE49-F238E27FC236}">
                              <a16:creationId xmlns:a16="http://schemas.microsoft.com/office/drawing/2014/main" id="{1A9954F9-9DE8-53B2-AAD8-6A652D870D8D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6"/>
                        <a:stretch>
                          <a:fillRect/>
                        </a:stretch>
                      </p:blipFill>
                      <p:spPr>
                        <a:xfrm>
                          <a:off x="9960797" y="2028184"/>
                          <a:ext cx="942190" cy="2543162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2491790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CA8F2-4565-45B5-52A3-E7D424DAF4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5DCDC51-D903-50FB-0CA5-06B4CA375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utiliser ces scores pour rechercher les meilleurs compléments à la garde-robe</a:t>
            </a:r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683242FC-7565-1E92-8CC2-F35D271FFE17}"/>
              </a:ext>
            </a:extLst>
          </p:cNvPr>
          <p:cNvGrpSpPr/>
          <p:nvPr/>
        </p:nvGrpSpPr>
        <p:grpSpPr>
          <a:xfrm>
            <a:off x="1070674" y="2912895"/>
            <a:ext cx="2868478" cy="2362903"/>
            <a:chOff x="838200" y="2001665"/>
            <a:chExt cx="4739326" cy="3746245"/>
          </a:xfrm>
        </p:grpSpPr>
        <p:pic>
          <p:nvPicPr>
            <p:cNvPr id="21" name="Image 20">
              <a:extLst>
                <a:ext uri="{FF2B5EF4-FFF2-40B4-BE49-F238E27FC236}">
                  <a16:creationId xmlns:a16="http://schemas.microsoft.com/office/drawing/2014/main" id="{EAE0B616-5CF3-E827-893E-08C93017F31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38200" y="2001665"/>
              <a:ext cx="2181529" cy="2438740"/>
            </a:xfrm>
            <a:prstGeom prst="rect">
              <a:avLst/>
            </a:prstGeom>
          </p:spPr>
        </p:pic>
        <p:sp>
          <p:nvSpPr>
            <p:cNvPr id="22" name="ZoneTexte 21">
              <a:extLst>
                <a:ext uri="{FF2B5EF4-FFF2-40B4-BE49-F238E27FC236}">
                  <a16:creationId xmlns:a16="http://schemas.microsoft.com/office/drawing/2014/main" id="{97B5AE23-EB73-FC32-48CC-0F2887090847}"/>
                </a:ext>
              </a:extLst>
            </p:cNvPr>
            <p:cNvSpPr txBox="1"/>
            <p:nvPr/>
          </p:nvSpPr>
          <p:spPr>
            <a:xfrm>
              <a:off x="1136613" y="4543520"/>
              <a:ext cx="1584701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100" dirty="0" err="1"/>
                <a:t>Embedding</a:t>
              </a:r>
              <a:r>
                <a:rPr lang="fr-FR" sz="1100" dirty="0"/>
                <a:t> 1</a:t>
              </a:r>
            </a:p>
          </p:txBody>
        </p:sp>
        <p:sp>
          <p:nvSpPr>
            <p:cNvPr id="23" name="ZoneTexte 22">
              <a:extLst>
                <a:ext uri="{FF2B5EF4-FFF2-40B4-BE49-F238E27FC236}">
                  <a16:creationId xmlns:a16="http://schemas.microsoft.com/office/drawing/2014/main" id="{4399111C-62DE-2CC3-9CA9-19FCAC983771}"/>
                </a:ext>
              </a:extLst>
            </p:cNvPr>
            <p:cNvSpPr txBox="1"/>
            <p:nvPr/>
          </p:nvSpPr>
          <p:spPr>
            <a:xfrm>
              <a:off x="3992825" y="4543520"/>
              <a:ext cx="1584701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100" dirty="0" err="1"/>
                <a:t>Embedding</a:t>
              </a:r>
              <a:r>
                <a:rPr lang="fr-FR" sz="1100" dirty="0"/>
                <a:t> 2</a:t>
              </a:r>
            </a:p>
          </p:txBody>
        </p:sp>
        <p:sp>
          <p:nvSpPr>
            <p:cNvPr id="24" name="ZoneTexte 23">
              <a:extLst>
                <a:ext uri="{FF2B5EF4-FFF2-40B4-BE49-F238E27FC236}">
                  <a16:creationId xmlns:a16="http://schemas.microsoft.com/office/drawing/2014/main" id="{E15C5F9C-B7BA-BB3D-E158-D96E4FD20E6C}"/>
                </a:ext>
              </a:extLst>
            </p:cNvPr>
            <p:cNvSpPr txBox="1"/>
            <p:nvPr/>
          </p:nvSpPr>
          <p:spPr>
            <a:xfrm>
              <a:off x="3108128" y="2497760"/>
              <a:ext cx="900193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6000" b="1" dirty="0"/>
                <a:t>+</a:t>
              </a:r>
            </a:p>
          </p:txBody>
        </p:sp>
        <p:sp>
          <p:nvSpPr>
            <p:cNvPr id="25" name="ZoneTexte 24">
              <a:extLst>
                <a:ext uri="{FF2B5EF4-FFF2-40B4-BE49-F238E27FC236}">
                  <a16:creationId xmlns:a16="http://schemas.microsoft.com/office/drawing/2014/main" id="{8652BB88-DCAC-31CC-30C5-C4837D48299F}"/>
                </a:ext>
              </a:extLst>
            </p:cNvPr>
            <p:cNvSpPr txBox="1"/>
            <p:nvPr/>
          </p:nvSpPr>
          <p:spPr>
            <a:xfrm>
              <a:off x="1599702" y="5015967"/>
              <a:ext cx="3054671" cy="731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2400" b="1" dirty="0"/>
                <a:t>= 0,91</a:t>
              </a:r>
            </a:p>
          </p:txBody>
        </p:sp>
        <p:pic>
          <p:nvPicPr>
            <p:cNvPr id="26" name="Image 25">
              <a:extLst>
                <a:ext uri="{FF2B5EF4-FFF2-40B4-BE49-F238E27FC236}">
                  <a16:creationId xmlns:a16="http://schemas.microsoft.com/office/drawing/2014/main" id="{7D6C244C-31DF-393A-4087-560E8AD3C80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121258" y="2001665"/>
              <a:ext cx="1066227" cy="2418134"/>
            </a:xfrm>
            <a:prstGeom prst="rect">
              <a:avLst/>
            </a:prstGeom>
          </p:spPr>
        </p:pic>
      </p:grpSp>
      <p:grpSp>
        <p:nvGrpSpPr>
          <p:cNvPr id="3" name="Groupe 2">
            <a:extLst>
              <a:ext uri="{FF2B5EF4-FFF2-40B4-BE49-F238E27FC236}">
                <a16:creationId xmlns:a16="http://schemas.microsoft.com/office/drawing/2014/main" id="{64F20F8E-E2F6-EA27-F55A-AAD1F78D1DC6}"/>
              </a:ext>
            </a:extLst>
          </p:cNvPr>
          <p:cNvGrpSpPr/>
          <p:nvPr/>
        </p:nvGrpSpPr>
        <p:grpSpPr>
          <a:xfrm>
            <a:off x="4850863" y="2912895"/>
            <a:ext cx="2868478" cy="2362903"/>
            <a:chOff x="838200" y="2001665"/>
            <a:chExt cx="4739326" cy="3746245"/>
          </a:xfrm>
        </p:grpSpPr>
        <p:pic>
          <p:nvPicPr>
            <p:cNvPr id="4" name="Image 3">
              <a:extLst>
                <a:ext uri="{FF2B5EF4-FFF2-40B4-BE49-F238E27FC236}">
                  <a16:creationId xmlns:a16="http://schemas.microsoft.com/office/drawing/2014/main" id="{58405D62-9728-C131-4EDA-4EC32F3E71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38200" y="2001665"/>
              <a:ext cx="2181529" cy="2438740"/>
            </a:xfrm>
            <a:prstGeom prst="rect">
              <a:avLst/>
            </a:prstGeom>
          </p:spPr>
        </p:pic>
        <p:sp>
          <p:nvSpPr>
            <p:cNvPr id="5" name="ZoneTexte 4">
              <a:extLst>
                <a:ext uri="{FF2B5EF4-FFF2-40B4-BE49-F238E27FC236}">
                  <a16:creationId xmlns:a16="http://schemas.microsoft.com/office/drawing/2014/main" id="{0CC23336-521E-92BE-4274-A2D9BDD29432}"/>
                </a:ext>
              </a:extLst>
            </p:cNvPr>
            <p:cNvSpPr txBox="1"/>
            <p:nvPr/>
          </p:nvSpPr>
          <p:spPr>
            <a:xfrm>
              <a:off x="1136613" y="4543520"/>
              <a:ext cx="1584701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100" dirty="0" err="1"/>
                <a:t>Embedding</a:t>
              </a:r>
              <a:r>
                <a:rPr lang="fr-FR" sz="1100" dirty="0"/>
                <a:t> 1</a:t>
              </a:r>
            </a:p>
          </p:txBody>
        </p: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1AD841C2-1C58-87FE-8A72-204AE13D3485}"/>
                </a:ext>
              </a:extLst>
            </p:cNvPr>
            <p:cNvSpPr txBox="1"/>
            <p:nvPr/>
          </p:nvSpPr>
          <p:spPr>
            <a:xfrm>
              <a:off x="3992825" y="4543520"/>
              <a:ext cx="1584701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100" dirty="0" err="1"/>
                <a:t>Embedding</a:t>
              </a:r>
              <a:r>
                <a:rPr lang="fr-FR" sz="1100" dirty="0"/>
                <a:t> 2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D9687C89-7722-3665-2392-4BB0B359B6D3}"/>
                </a:ext>
              </a:extLst>
            </p:cNvPr>
            <p:cNvSpPr txBox="1"/>
            <p:nvPr/>
          </p:nvSpPr>
          <p:spPr>
            <a:xfrm>
              <a:off x="3108128" y="2497760"/>
              <a:ext cx="900193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6000" b="1" dirty="0"/>
                <a:t>+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41260C29-67A4-99FA-EF53-6406B25399AB}"/>
                </a:ext>
              </a:extLst>
            </p:cNvPr>
            <p:cNvSpPr txBox="1"/>
            <p:nvPr/>
          </p:nvSpPr>
          <p:spPr>
            <a:xfrm>
              <a:off x="1599702" y="5015967"/>
              <a:ext cx="3054671" cy="731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2400" b="1" dirty="0"/>
                <a:t>= 0,78</a:t>
              </a:r>
            </a:p>
          </p:txBody>
        </p:sp>
      </p:grp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D11FB109-1743-C50C-E50B-A8F48A602471}"/>
              </a:ext>
            </a:extLst>
          </p:cNvPr>
          <p:cNvGrpSpPr/>
          <p:nvPr/>
        </p:nvGrpSpPr>
        <p:grpSpPr>
          <a:xfrm>
            <a:off x="8665936" y="2912895"/>
            <a:ext cx="2687863" cy="2362903"/>
            <a:chOff x="1136613" y="2001665"/>
            <a:chExt cx="4440913" cy="3746245"/>
          </a:xfrm>
        </p:grpSpPr>
        <p:sp>
          <p:nvSpPr>
            <p:cNvPr id="18" name="ZoneTexte 17">
              <a:extLst>
                <a:ext uri="{FF2B5EF4-FFF2-40B4-BE49-F238E27FC236}">
                  <a16:creationId xmlns:a16="http://schemas.microsoft.com/office/drawing/2014/main" id="{F7B7BB13-521E-D4CF-4B01-0CCB2A6FED62}"/>
                </a:ext>
              </a:extLst>
            </p:cNvPr>
            <p:cNvSpPr txBox="1"/>
            <p:nvPr/>
          </p:nvSpPr>
          <p:spPr>
            <a:xfrm>
              <a:off x="1136613" y="4543520"/>
              <a:ext cx="1584701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100" dirty="0" err="1"/>
                <a:t>Embedding</a:t>
              </a:r>
              <a:r>
                <a:rPr lang="fr-FR" sz="1100" dirty="0"/>
                <a:t> 1</a:t>
              </a:r>
            </a:p>
          </p:txBody>
        </p:sp>
        <p:sp>
          <p:nvSpPr>
            <p:cNvPr id="19" name="ZoneTexte 18">
              <a:extLst>
                <a:ext uri="{FF2B5EF4-FFF2-40B4-BE49-F238E27FC236}">
                  <a16:creationId xmlns:a16="http://schemas.microsoft.com/office/drawing/2014/main" id="{551C5BAE-A026-149F-E17E-99C6B7FC20A5}"/>
                </a:ext>
              </a:extLst>
            </p:cNvPr>
            <p:cNvSpPr txBox="1"/>
            <p:nvPr/>
          </p:nvSpPr>
          <p:spPr>
            <a:xfrm>
              <a:off x="3992825" y="4543520"/>
              <a:ext cx="1584701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100" dirty="0" err="1"/>
                <a:t>Embedding</a:t>
              </a:r>
              <a:r>
                <a:rPr lang="fr-FR" sz="1100" dirty="0"/>
                <a:t> 2</a:t>
              </a:r>
            </a:p>
          </p:txBody>
        </p:sp>
        <p:sp>
          <p:nvSpPr>
            <p:cNvPr id="27" name="ZoneTexte 26">
              <a:extLst>
                <a:ext uri="{FF2B5EF4-FFF2-40B4-BE49-F238E27FC236}">
                  <a16:creationId xmlns:a16="http://schemas.microsoft.com/office/drawing/2014/main" id="{514414CB-6056-CC8E-173D-BC3D1581AA35}"/>
                </a:ext>
              </a:extLst>
            </p:cNvPr>
            <p:cNvSpPr txBox="1"/>
            <p:nvPr/>
          </p:nvSpPr>
          <p:spPr>
            <a:xfrm>
              <a:off x="3108128" y="2497760"/>
              <a:ext cx="900193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6000" b="1" dirty="0"/>
                <a:t>+</a:t>
              </a:r>
            </a:p>
          </p:txBody>
        </p:sp>
        <p:sp>
          <p:nvSpPr>
            <p:cNvPr id="28" name="ZoneTexte 27">
              <a:extLst>
                <a:ext uri="{FF2B5EF4-FFF2-40B4-BE49-F238E27FC236}">
                  <a16:creationId xmlns:a16="http://schemas.microsoft.com/office/drawing/2014/main" id="{B5A784A4-DCB6-DC8A-696B-1664A7921B95}"/>
                </a:ext>
              </a:extLst>
            </p:cNvPr>
            <p:cNvSpPr txBox="1"/>
            <p:nvPr/>
          </p:nvSpPr>
          <p:spPr>
            <a:xfrm>
              <a:off x="1599702" y="5015967"/>
              <a:ext cx="3054671" cy="731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2400" b="1" dirty="0"/>
                <a:t>= 0,86</a:t>
              </a:r>
            </a:p>
          </p:txBody>
        </p:sp>
        <p:pic>
          <p:nvPicPr>
            <p:cNvPr id="31" name="Image 30">
              <a:extLst>
                <a:ext uri="{FF2B5EF4-FFF2-40B4-BE49-F238E27FC236}">
                  <a16:creationId xmlns:a16="http://schemas.microsoft.com/office/drawing/2014/main" id="{9C9FDED8-593D-5334-4B44-9DB79C79B02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121258" y="2001665"/>
              <a:ext cx="1066227" cy="2418134"/>
            </a:xfrm>
            <a:prstGeom prst="rect">
              <a:avLst/>
            </a:prstGeom>
          </p:spPr>
        </p:pic>
      </p:grpSp>
      <p:pic>
        <p:nvPicPr>
          <p:cNvPr id="33" name="Image 32">
            <a:extLst>
              <a:ext uri="{FF2B5EF4-FFF2-40B4-BE49-F238E27FC236}">
                <a16:creationId xmlns:a16="http://schemas.microsoft.com/office/drawing/2014/main" id="{CAC3D5EF-892B-85A1-9537-8BE613396B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6668" y="3546110"/>
            <a:ext cx="1143220" cy="570402"/>
          </a:xfrm>
          <a:prstGeom prst="rect">
            <a:avLst/>
          </a:prstGeom>
        </p:spPr>
      </p:pic>
      <p:pic>
        <p:nvPicPr>
          <p:cNvPr id="34" name="Image 33">
            <a:extLst>
              <a:ext uri="{FF2B5EF4-FFF2-40B4-BE49-F238E27FC236}">
                <a16:creationId xmlns:a16="http://schemas.microsoft.com/office/drawing/2014/main" id="{912CB452-9B54-7DD9-C5EB-A838CCB8D6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3896" y="3484673"/>
            <a:ext cx="1143220" cy="570402"/>
          </a:xfrm>
          <a:prstGeom prst="rect">
            <a:avLst/>
          </a:prstGeom>
        </p:spPr>
      </p:pic>
      <p:sp>
        <p:nvSpPr>
          <p:cNvPr id="36" name="ZoneTexte 35">
            <a:extLst>
              <a:ext uri="{FF2B5EF4-FFF2-40B4-BE49-F238E27FC236}">
                <a16:creationId xmlns:a16="http://schemas.microsoft.com/office/drawing/2014/main" id="{7A9AD6AE-6A7E-AA3F-2210-D7F8416C81EA}"/>
              </a:ext>
            </a:extLst>
          </p:cNvPr>
          <p:cNvSpPr txBox="1"/>
          <p:nvPr/>
        </p:nvSpPr>
        <p:spPr>
          <a:xfrm>
            <a:off x="3031635" y="1736555"/>
            <a:ext cx="60985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buNone/>
            </a:pPr>
            <a:r>
              <a:rPr lang="fr-FR" dirty="0">
                <a:latin typeface="Courier New" panose="02070309020205020404" pitchFamily="49" charset="0"/>
              </a:rPr>
              <a:t>Modèle de compatibilité</a:t>
            </a:r>
          </a:p>
        </p:txBody>
      </p:sp>
      <p:sp>
        <p:nvSpPr>
          <p:cNvPr id="40" name="ZoneTexte 39">
            <a:extLst>
              <a:ext uri="{FF2B5EF4-FFF2-40B4-BE49-F238E27FC236}">
                <a16:creationId xmlns:a16="http://schemas.microsoft.com/office/drawing/2014/main" id="{436A3C01-44DA-5B53-5F4D-E8549B18EC15}"/>
              </a:ext>
            </a:extLst>
          </p:cNvPr>
          <p:cNvSpPr txBox="1"/>
          <p:nvPr/>
        </p:nvSpPr>
        <p:spPr>
          <a:xfrm>
            <a:off x="3031635" y="6143592"/>
            <a:ext cx="60985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dirty="0">
                <a:latin typeface="Courier New" panose="02070309020205020404" pitchFamily="49" charset="0"/>
              </a:rPr>
              <a:t> Score de tenue</a:t>
            </a:r>
            <a:endParaRPr lang="fr-FR" dirty="0"/>
          </a:p>
        </p:txBody>
      </p:sp>
      <p:grpSp>
        <p:nvGrpSpPr>
          <p:cNvPr id="45" name="Groupe 44">
            <a:extLst>
              <a:ext uri="{FF2B5EF4-FFF2-40B4-BE49-F238E27FC236}">
                <a16:creationId xmlns:a16="http://schemas.microsoft.com/office/drawing/2014/main" id="{F132F79A-2956-D42B-381D-1E348B0FE92E}"/>
              </a:ext>
            </a:extLst>
          </p:cNvPr>
          <p:cNvGrpSpPr/>
          <p:nvPr/>
        </p:nvGrpSpPr>
        <p:grpSpPr>
          <a:xfrm>
            <a:off x="1038227" y="2105887"/>
            <a:ext cx="10315572" cy="619728"/>
            <a:chOff x="1038227" y="2105887"/>
            <a:chExt cx="10315572" cy="619728"/>
          </a:xfrm>
        </p:grpSpPr>
        <p:sp>
          <p:nvSpPr>
            <p:cNvPr id="37" name="Parenthèse ouvrante 36">
              <a:extLst>
                <a:ext uri="{FF2B5EF4-FFF2-40B4-BE49-F238E27FC236}">
                  <a16:creationId xmlns:a16="http://schemas.microsoft.com/office/drawing/2014/main" id="{3BAF097D-7A02-785F-DA56-8996E63471AE}"/>
                </a:ext>
              </a:extLst>
            </p:cNvPr>
            <p:cNvSpPr/>
            <p:nvPr/>
          </p:nvSpPr>
          <p:spPr>
            <a:xfrm rot="5400000">
              <a:off x="6040919" y="-2587265"/>
              <a:ext cx="310188" cy="10315572"/>
            </a:xfrm>
            <a:prstGeom prst="leftBracket">
              <a:avLst/>
            </a:prstGeom>
            <a:ln w="920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42" name="Connecteur droit 41">
              <a:extLst>
                <a:ext uri="{FF2B5EF4-FFF2-40B4-BE49-F238E27FC236}">
                  <a16:creationId xmlns:a16="http://schemas.microsoft.com/office/drawing/2014/main" id="{6312C6DA-1561-7A42-75E5-4E82479AC62A}"/>
                </a:ext>
              </a:extLst>
            </p:cNvPr>
            <p:cNvCxnSpPr>
              <a:stCxn id="37" idx="1"/>
            </p:cNvCxnSpPr>
            <p:nvPr/>
          </p:nvCxnSpPr>
          <p:spPr>
            <a:xfrm flipH="1" flipV="1">
              <a:off x="6196012" y="2105887"/>
              <a:ext cx="1" cy="309540"/>
            </a:xfrm>
            <a:prstGeom prst="line">
              <a:avLst/>
            </a:prstGeom>
            <a:ln w="920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4" name="Groupe 43">
            <a:extLst>
              <a:ext uri="{FF2B5EF4-FFF2-40B4-BE49-F238E27FC236}">
                <a16:creationId xmlns:a16="http://schemas.microsoft.com/office/drawing/2014/main" id="{E514FB1E-E682-1F19-BD6B-8C949AE952FC}"/>
              </a:ext>
            </a:extLst>
          </p:cNvPr>
          <p:cNvGrpSpPr/>
          <p:nvPr/>
        </p:nvGrpSpPr>
        <p:grpSpPr>
          <a:xfrm>
            <a:off x="1038227" y="5408781"/>
            <a:ext cx="10315572" cy="644131"/>
            <a:chOff x="1038227" y="5408781"/>
            <a:chExt cx="10315572" cy="644131"/>
          </a:xfrm>
        </p:grpSpPr>
        <p:sp>
          <p:nvSpPr>
            <p:cNvPr id="38" name="Parenthèse ouvrante 37">
              <a:extLst>
                <a:ext uri="{FF2B5EF4-FFF2-40B4-BE49-F238E27FC236}">
                  <a16:creationId xmlns:a16="http://schemas.microsoft.com/office/drawing/2014/main" id="{7DD88C53-4BC5-940A-165C-6ADA840E6CBF}"/>
                </a:ext>
              </a:extLst>
            </p:cNvPr>
            <p:cNvSpPr/>
            <p:nvPr/>
          </p:nvSpPr>
          <p:spPr>
            <a:xfrm rot="16200000">
              <a:off x="6040919" y="406089"/>
              <a:ext cx="310188" cy="10315572"/>
            </a:xfrm>
            <a:prstGeom prst="leftBracket">
              <a:avLst/>
            </a:prstGeom>
            <a:ln w="920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43" name="Connecteur droit 42">
              <a:extLst>
                <a:ext uri="{FF2B5EF4-FFF2-40B4-BE49-F238E27FC236}">
                  <a16:creationId xmlns:a16="http://schemas.microsoft.com/office/drawing/2014/main" id="{F984EF9E-D951-F694-1A53-6ED0F74C7D44}"/>
                </a:ext>
              </a:extLst>
            </p:cNvPr>
            <p:cNvCxnSpPr/>
            <p:nvPr/>
          </p:nvCxnSpPr>
          <p:spPr>
            <a:xfrm flipH="1" flipV="1">
              <a:off x="6196011" y="5743372"/>
              <a:ext cx="1" cy="309540"/>
            </a:xfrm>
            <a:prstGeom prst="line">
              <a:avLst/>
            </a:prstGeom>
            <a:ln w="920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971325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07E8AF6-A809-509D-561D-6E19616511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B78CE8B-7F36-4A11-B553-19B0DBA725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sz="4000" dirty="0" err="1"/>
              <a:t>Dataset</a:t>
            </a:r>
            <a:r>
              <a:rPr lang="fr-FR" sz="4000" dirty="0"/>
              <a:t> d'</a:t>
            </a:r>
            <a:r>
              <a:rPr lang="fr-FR" sz="4000" dirty="0" err="1"/>
              <a:t>outfits</a:t>
            </a:r>
            <a:r>
              <a:rPr lang="fr-FR" sz="4000" dirty="0"/>
              <a:t> → </a:t>
            </a:r>
          </a:p>
          <a:p>
            <a:r>
              <a:rPr lang="fr-FR" sz="4000" dirty="0"/>
              <a:t>génération des paires → </a:t>
            </a:r>
          </a:p>
          <a:p>
            <a:r>
              <a:rPr lang="fr-FR" sz="4000" dirty="0" err="1"/>
              <a:t>embeddings</a:t>
            </a:r>
            <a:r>
              <a:rPr lang="fr-FR" sz="4000" dirty="0"/>
              <a:t> des vêtements → </a:t>
            </a:r>
          </a:p>
          <a:p>
            <a:r>
              <a:rPr lang="fr-FR" sz="4000" dirty="0"/>
              <a:t>modèle de compatibilité → </a:t>
            </a:r>
          </a:p>
          <a:p>
            <a:r>
              <a:rPr lang="fr-FR" sz="4000" dirty="0"/>
              <a:t>score de compatibilité.</a:t>
            </a:r>
          </a:p>
        </p:txBody>
      </p:sp>
    </p:spTree>
    <p:extLst>
      <p:ext uri="{BB962C8B-B14F-4D97-AF65-F5344CB8AC3E}">
        <p14:creationId xmlns:p14="http://schemas.microsoft.com/office/powerpoint/2010/main" val="27025225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9679DA1-3FD0-55DD-A9B9-4C53821F1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Données nécessaires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CDFAE38-C8A3-B52B-2C31-39332FA8F8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fr-FR" dirty="0" err="1"/>
              <a:t>dataset</a:t>
            </a:r>
            <a:r>
              <a:rPr lang="fr-FR" dirty="0"/>
              <a:t> d'</a:t>
            </a:r>
            <a:r>
              <a:rPr lang="fr-FR" dirty="0" err="1"/>
              <a:t>outfits</a:t>
            </a:r>
            <a:r>
              <a:rPr lang="fr-FR" dirty="0"/>
              <a:t> permettant d'identifier individuellement les vêtements composant chaque </a:t>
            </a:r>
            <a:r>
              <a:rPr lang="fr-FR" dirty="0" err="1"/>
              <a:t>outfit</a:t>
            </a:r>
            <a:r>
              <a:rPr lang="fr-FR" dirty="0"/>
              <a:t>, idéalement avec une image individuelle, une catégorie et/ou des attributs pour chaque vêtement</a:t>
            </a:r>
          </a:p>
        </p:txBody>
      </p:sp>
    </p:spTree>
    <p:extLst>
      <p:ext uri="{BB962C8B-B14F-4D97-AF65-F5344CB8AC3E}">
        <p14:creationId xmlns:p14="http://schemas.microsoft.com/office/powerpoint/2010/main" val="35225994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703B53E-7518-D6EF-3E46-E3B8BDE6A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Comparaison des deux approches</a:t>
            </a:r>
          </a:p>
        </p:txBody>
      </p:sp>
      <p:graphicFrame>
        <p:nvGraphicFramePr>
          <p:cNvPr id="4" name="Espace réservé du contenu 3">
            <a:extLst>
              <a:ext uri="{FF2B5EF4-FFF2-40B4-BE49-F238E27FC236}">
                <a16:creationId xmlns:a16="http://schemas.microsoft.com/office/drawing/2014/main" id="{88E24AF0-3CD1-10B2-2400-B302CA5F5F5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5460195"/>
              </p:ext>
            </p:extLst>
          </p:nvPr>
        </p:nvGraphicFramePr>
        <p:xfrm>
          <a:off x="838200" y="2538254"/>
          <a:ext cx="10515600" cy="3200400"/>
        </p:xfrm>
        <a:graphic>
          <a:graphicData uri="http://schemas.openxmlformats.org/drawingml/2006/table">
            <a:tbl>
              <a:tblPr/>
              <a:tblGrid>
                <a:gridCol w="3505200">
                  <a:extLst>
                    <a:ext uri="{9D8B030D-6E8A-4147-A177-3AD203B41FA5}">
                      <a16:colId xmlns:a16="http://schemas.microsoft.com/office/drawing/2014/main" val="3192658742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153694745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71486038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fr-FR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Similarité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Compatibilité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492428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Question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« À quoi cela ressemble ? »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« Avec quoi l'associer ? »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24708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Données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Images + texte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Outfits + articles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60339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Complexité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Faible à moyenne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Moyenne à élevée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65925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Personnalisation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À construire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Plus naturelle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38090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Données publiques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Nombreuses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Plus difficiles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57304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Intérêt </a:t>
                      </a:r>
                      <a:r>
                        <a:rPr lang="fr-FR" b="1" dirty="0" err="1"/>
                        <a:t>PoC</a:t>
                      </a:r>
                      <a:endParaRPr lang="fr-FR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Baseline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Approche avancée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88587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Intérêt Application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Produits similaires ou </a:t>
                      </a:r>
                      <a:r>
                        <a:rPr lang="fr-FR" dirty="0" err="1"/>
                        <a:t>equivalent</a:t>
                      </a:r>
                      <a:endParaRPr lang="fr-F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Produit combinable dans un </a:t>
                      </a:r>
                      <a:r>
                        <a:rPr lang="fr-FR" dirty="0" err="1"/>
                        <a:t>outfit</a:t>
                      </a:r>
                      <a:r>
                        <a:rPr lang="fr-FR" dirty="0"/>
                        <a:t> complet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52341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955075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20970B2-2531-AB52-1ED5-B3AD9BA894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Représentation des vêtements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A85BDFC2-6577-088A-A066-A12BDCF0E4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724" y="2173581"/>
            <a:ext cx="4027257" cy="3669280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8F07390F-49E7-C67B-853D-88BA9C5389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543" y="2173581"/>
            <a:ext cx="3368519" cy="3669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93109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8" name="Groupe 127">
            <a:extLst>
              <a:ext uri="{FF2B5EF4-FFF2-40B4-BE49-F238E27FC236}">
                <a16:creationId xmlns:a16="http://schemas.microsoft.com/office/drawing/2014/main" id="{21ECD349-771E-8796-C6EE-D93ADB82CA70}"/>
              </a:ext>
            </a:extLst>
          </p:cNvPr>
          <p:cNvGrpSpPr/>
          <p:nvPr/>
        </p:nvGrpSpPr>
        <p:grpSpPr>
          <a:xfrm>
            <a:off x="4558277" y="1511483"/>
            <a:ext cx="1671250" cy="1298272"/>
            <a:chOff x="4558277" y="1511483"/>
            <a:chExt cx="1671250" cy="1298272"/>
          </a:xfrm>
        </p:grpSpPr>
        <p:sp>
          <p:nvSpPr>
            <p:cNvPr id="115" name="Légende : double flèche horizontale 114">
              <a:extLst>
                <a:ext uri="{FF2B5EF4-FFF2-40B4-BE49-F238E27FC236}">
                  <a16:creationId xmlns:a16="http://schemas.microsoft.com/office/drawing/2014/main" id="{1301D1E2-726F-114F-C43E-E68B480842C8}"/>
                </a:ext>
              </a:extLst>
            </p:cNvPr>
            <p:cNvSpPr/>
            <p:nvPr/>
          </p:nvSpPr>
          <p:spPr>
            <a:xfrm rot="5400000">
              <a:off x="4744766" y="1440420"/>
              <a:ext cx="1298272" cy="1440397"/>
            </a:xfrm>
            <a:prstGeom prst="leftRightArrowCallout">
              <a:avLst>
                <a:gd name="adj1" fmla="val 24595"/>
                <a:gd name="adj2" fmla="val 26803"/>
                <a:gd name="adj3" fmla="val 24054"/>
                <a:gd name="adj4" fmla="val 37082"/>
              </a:avLst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2" name="ZoneTexte 111">
              <a:extLst>
                <a:ext uri="{FF2B5EF4-FFF2-40B4-BE49-F238E27FC236}">
                  <a16:creationId xmlns:a16="http://schemas.microsoft.com/office/drawing/2014/main" id="{D36837FC-9C16-ADD5-70BC-E58742D390BB}"/>
                </a:ext>
              </a:extLst>
            </p:cNvPr>
            <p:cNvSpPr txBox="1"/>
            <p:nvPr/>
          </p:nvSpPr>
          <p:spPr>
            <a:xfrm>
              <a:off x="4558277" y="1951029"/>
              <a:ext cx="167125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1200" b="1" dirty="0"/>
                <a:t>normalisation des taxonomies</a:t>
              </a:r>
              <a:endParaRPr lang="fr-FR" sz="1200" dirty="0"/>
            </a:p>
          </p:txBody>
        </p:sp>
      </p:grpSp>
      <p:sp>
        <p:nvSpPr>
          <p:cNvPr id="37" name="ZoneTexte 36">
            <a:extLst>
              <a:ext uri="{FF2B5EF4-FFF2-40B4-BE49-F238E27FC236}">
                <a16:creationId xmlns:a16="http://schemas.microsoft.com/office/drawing/2014/main" id="{49E46C17-DC37-8287-A69B-E3236364979D}"/>
              </a:ext>
            </a:extLst>
          </p:cNvPr>
          <p:cNvSpPr txBox="1"/>
          <p:nvPr/>
        </p:nvSpPr>
        <p:spPr>
          <a:xfrm>
            <a:off x="532303" y="3695270"/>
            <a:ext cx="75510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dirty="0"/>
              <a:t>Haut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23E3038-96A4-F0D9-0482-5590AC8A1D33}"/>
              </a:ext>
            </a:extLst>
          </p:cNvPr>
          <p:cNvSpPr/>
          <p:nvPr/>
        </p:nvSpPr>
        <p:spPr>
          <a:xfrm>
            <a:off x="1492568" y="2637605"/>
            <a:ext cx="2185518" cy="61390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 err="1"/>
              <a:t>Embedding</a:t>
            </a:r>
            <a:r>
              <a:rPr lang="fr-FR" sz="1400" dirty="0"/>
              <a:t> / Multimodal</a:t>
            </a:r>
          </a:p>
          <a:p>
            <a:pPr algn="ctr"/>
            <a:r>
              <a:rPr lang="fr-FR" sz="1200" dirty="0">
                <a:solidFill>
                  <a:schemeClr val="bg1"/>
                </a:solidFill>
                <a:latin typeface="Courier New" panose="02070309020205020404" pitchFamily="49" charset="0"/>
              </a:rPr>
              <a:t>(</a:t>
            </a:r>
            <a:r>
              <a:rPr lang="fr-FR" sz="1200" b="1" dirty="0">
                <a:solidFill>
                  <a:schemeClr val="bg1"/>
                </a:solidFill>
                <a:latin typeface="Courier New" panose="02070309020205020404" pitchFamily="49" charset="0"/>
              </a:rPr>
              <a:t>Modèle pré-entrainé</a:t>
            </a:r>
            <a:r>
              <a:rPr lang="fr-FR" sz="1200" dirty="0">
                <a:solidFill>
                  <a:schemeClr val="bg1"/>
                </a:solidFill>
                <a:latin typeface="Courier New" panose="02070309020205020404" pitchFamily="49" charset="0"/>
              </a:rPr>
              <a:t>)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7BBBBD4F-A7B0-23FE-49C4-0C5797C2B5D0}"/>
              </a:ext>
            </a:extLst>
          </p:cNvPr>
          <p:cNvSpPr txBox="1"/>
          <p:nvPr/>
        </p:nvSpPr>
        <p:spPr>
          <a:xfrm>
            <a:off x="1811798" y="850789"/>
            <a:ext cx="151021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600" b="1" dirty="0"/>
              <a:t>Photo utilisateur</a:t>
            </a:r>
          </a:p>
        </p:txBody>
      </p:sp>
      <p:cxnSp>
        <p:nvCxnSpPr>
          <p:cNvPr id="8" name="Connecteur droit avec flèche 7">
            <a:extLst>
              <a:ext uri="{FF2B5EF4-FFF2-40B4-BE49-F238E27FC236}">
                <a16:creationId xmlns:a16="http://schemas.microsoft.com/office/drawing/2014/main" id="{E12DB06A-6235-055C-D801-21F61537D887}"/>
              </a:ext>
            </a:extLst>
          </p:cNvPr>
          <p:cNvCxnSpPr/>
          <p:nvPr/>
        </p:nvCxnSpPr>
        <p:spPr>
          <a:xfrm>
            <a:off x="2566907" y="1500364"/>
            <a:ext cx="0" cy="3192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ZoneTexte 8">
            <a:extLst>
              <a:ext uri="{FF2B5EF4-FFF2-40B4-BE49-F238E27FC236}">
                <a16:creationId xmlns:a16="http://schemas.microsoft.com/office/drawing/2014/main" id="{CC32EBB8-CFB3-73C7-08B6-38D0248567C8}"/>
              </a:ext>
            </a:extLst>
          </p:cNvPr>
          <p:cNvSpPr txBox="1"/>
          <p:nvPr/>
        </p:nvSpPr>
        <p:spPr>
          <a:xfrm>
            <a:off x="1811798" y="1852841"/>
            <a:ext cx="151021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dirty="0"/>
              <a:t>Segmentation</a:t>
            </a:r>
          </a:p>
        </p:txBody>
      </p:sp>
      <p:cxnSp>
        <p:nvCxnSpPr>
          <p:cNvPr id="10" name="Connecteur droit avec flèche 9">
            <a:extLst>
              <a:ext uri="{FF2B5EF4-FFF2-40B4-BE49-F238E27FC236}">
                <a16:creationId xmlns:a16="http://schemas.microsoft.com/office/drawing/2014/main" id="{4649E143-FE4A-4E47-F63A-58D2152B76DB}"/>
              </a:ext>
            </a:extLst>
          </p:cNvPr>
          <p:cNvCxnSpPr>
            <a:cxnSpLocks/>
          </p:cNvCxnSpPr>
          <p:nvPr/>
        </p:nvCxnSpPr>
        <p:spPr>
          <a:xfrm>
            <a:off x="2585327" y="2241737"/>
            <a:ext cx="0" cy="3225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eur : en angle 12">
            <a:extLst>
              <a:ext uri="{FF2B5EF4-FFF2-40B4-BE49-F238E27FC236}">
                <a16:creationId xmlns:a16="http://schemas.microsoft.com/office/drawing/2014/main" id="{1955BEA7-572D-7CD8-AA43-BA1E570DCA17}"/>
              </a:ext>
            </a:extLst>
          </p:cNvPr>
          <p:cNvCxnSpPr>
            <a:cxnSpLocks/>
          </p:cNvCxnSpPr>
          <p:nvPr/>
        </p:nvCxnSpPr>
        <p:spPr>
          <a:xfrm rot="10800000" flipV="1">
            <a:off x="1667532" y="2234139"/>
            <a:ext cx="917795" cy="322510"/>
          </a:xfrm>
          <a:prstGeom prst="bentConnector3">
            <a:avLst>
              <a:gd name="adj1" fmla="val 99498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eur : en angle 19">
            <a:extLst>
              <a:ext uri="{FF2B5EF4-FFF2-40B4-BE49-F238E27FC236}">
                <a16:creationId xmlns:a16="http://schemas.microsoft.com/office/drawing/2014/main" id="{BAE458C0-465B-573C-246F-2D7A8DB54A7C}"/>
              </a:ext>
            </a:extLst>
          </p:cNvPr>
          <p:cNvCxnSpPr>
            <a:cxnSpLocks/>
          </p:cNvCxnSpPr>
          <p:nvPr/>
        </p:nvCxnSpPr>
        <p:spPr>
          <a:xfrm>
            <a:off x="2585327" y="2241737"/>
            <a:ext cx="927006" cy="302636"/>
          </a:xfrm>
          <a:prstGeom prst="bentConnector3">
            <a:avLst>
              <a:gd name="adj1" fmla="val 10033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eur droit avec flèche 33">
            <a:extLst>
              <a:ext uri="{FF2B5EF4-FFF2-40B4-BE49-F238E27FC236}">
                <a16:creationId xmlns:a16="http://schemas.microsoft.com/office/drawing/2014/main" id="{66D44C7B-9EE7-6E07-24E5-684383E7A8D6}"/>
              </a:ext>
            </a:extLst>
          </p:cNvPr>
          <p:cNvCxnSpPr>
            <a:cxnSpLocks/>
          </p:cNvCxnSpPr>
          <p:nvPr/>
        </p:nvCxnSpPr>
        <p:spPr>
          <a:xfrm>
            <a:off x="2560761" y="3267461"/>
            <a:ext cx="0" cy="3225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cteur : en angle 34">
            <a:extLst>
              <a:ext uri="{FF2B5EF4-FFF2-40B4-BE49-F238E27FC236}">
                <a16:creationId xmlns:a16="http://schemas.microsoft.com/office/drawing/2014/main" id="{F5F76310-8F2C-8A23-74B2-98E66FD56249}"/>
              </a:ext>
            </a:extLst>
          </p:cNvPr>
          <p:cNvCxnSpPr>
            <a:cxnSpLocks/>
          </p:cNvCxnSpPr>
          <p:nvPr/>
        </p:nvCxnSpPr>
        <p:spPr>
          <a:xfrm rot="10800000" flipV="1">
            <a:off x="909859" y="3268862"/>
            <a:ext cx="917795" cy="322510"/>
          </a:xfrm>
          <a:prstGeom prst="bentConnector3">
            <a:avLst>
              <a:gd name="adj1" fmla="val 99498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eur : en angle 35">
            <a:extLst>
              <a:ext uri="{FF2B5EF4-FFF2-40B4-BE49-F238E27FC236}">
                <a16:creationId xmlns:a16="http://schemas.microsoft.com/office/drawing/2014/main" id="{356F72D7-7F3D-06A7-9304-80E747931253}"/>
              </a:ext>
            </a:extLst>
          </p:cNvPr>
          <p:cNvCxnSpPr>
            <a:cxnSpLocks/>
          </p:cNvCxnSpPr>
          <p:nvPr/>
        </p:nvCxnSpPr>
        <p:spPr>
          <a:xfrm>
            <a:off x="3589574" y="3251514"/>
            <a:ext cx="927006" cy="302636"/>
          </a:xfrm>
          <a:prstGeom prst="bentConnector3">
            <a:avLst>
              <a:gd name="adj1" fmla="val 10033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ZoneTexte 37">
            <a:extLst>
              <a:ext uri="{FF2B5EF4-FFF2-40B4-BE49-F238E27FC236}">
                <a16:creationId xmlns:a16="http://schemas.microsoft.com/office/drawing/2014/main" id="{503B9B53-5980-543D-6043-E4CC5B681530}"/>
              </a:ext>
            </a:extLst>
          </p:cNvPr>
          <p:cNvSpPr txBox="1"/>
          <p:nvPr/>
        </p:nvSpPr>
        <p:spPr>
          <a:xfrm>
            <a:off x="4111396" y="3698809"/>
            <a:ext cx="75510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dirty="0"/>
              <a:t>Bas</a:t>
            </a: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A9CC93F3-6B43-FB00-2C83-9E1B23DF9C32}"/>
              </a:ext>
            </a:extLst>
          </p:cNvPr>
          <p:cNvSpPr txBox="1"/>
          <p:nvPr/>
        </p:nvSpPr>
        <p:spPr>
          <a:xfrm>
            <a:off x="2020663" y="3688450"/>
            <a:ext cx="108019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dirty="0"/>
              <a:t>Accessoire</a:t>
            </a:r>
          </a:p>
        </p:txBody>
      </p:sp>
      <p:cxnSp>
        <p:nvCxnSpPr>
          <p:cNvPr id="41" name="Connecteur : en angle 40">
            <a:extLst>
              <a:ext uri="{FF2B5EF4-FFF2-40B4-BE49-F238E27FC236}">
                <a16:creationId xmlns:a16="http://schemas.microsoft.com/office/drawing/2014/main" id="{23652DEA-860C-5928-95D9-8E996E1536AD}"/>
              </a:ext>
            </a:extLst>
          </p:cNvPr>
          <p:cNvCxnSpPr>
            <a:cxnSpLocks/>
            <a:stCxn id="39" idx="2"/>
          </p:cNvCxnSpPr>
          <p:nvPr/>
        </p:nvCxnSpPr>
        <p:spPr>
          <a:xfrm rot="5400000">
            <a:off x="1666152" y="4141874"/>
            <a:ext cx="1040256" cy="748962"/>
          </a:xfrm>
          <a:prstGeom prst="bentConnector3">
            <a:avLst>
              <a:gd name="adj1" fmla="val 50000"/>
            </a:avLst>
          </a:prstGeom>
          <a:ln>
            <a:prstDash val="sysDot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necteur : en angle 43">
            <a:extLst>
              <a:ext uri="{FF2B5EF4-FFF2-40B4-BE49-F238E27FC236}">
                <a16:creationId xmlns:a16="http://schemas.microsoft.com/office/drawing/2014/main" id="{C925F02B-6CA7-F394-2706-2D9973C8916D}"/>
              </a:ext>
            </a:extLst>
          </p:cNvPr>
          <p:cNvCxnSpPr>
            <a:cxnSpLocks/>
            <a:stCxn id="39" idx="2"/>
          </p:cNvCxnSpPr>
          <p:nvPr/>
        </p:nvCxnSpPr>
        <p:spPr>
          <a:xfrm rot="16200000" flipH="1">
            <a:off x="2407699" y="4149289"/>
            <a:ext cx="1036666" cy="730542"/>
          </a:xfrm>
          <a:prstGeom prst="bentConnector3">
            <a:avLst>
              <a:gd name="adj1" fmla="val 50000"/>
            </a:avLst>
          </a:prstGeom>
          <a:ln>
            <a:prstDash val="sysDot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ZoneTexte 44">
            <a:extLst>
              <a:ext uri="{FF2B5EF4-FFF2-40B4-BE49-F238E27FC236}">
                <a16:creationId xmlns:a16="http://schemas.microsoft.com/office/drawing/2014/main" id="{DE69A6A9-F882-A50E-D09D-86A56D53EFC1}"/>
              </a:ext>
            </a:extLst>
          </p:cNvPr>
          <p:cNvSpPr txBox="1"/>
          <p:nvPr/>
        </p:nvSpPr>
        <p:spPr>
          <a:xfrm>
            <a:off x="882229" y="5091330"/>
            <a:ext cx="322916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dirty="0"/>
              <a:t>Caractéristiques + </a:t>
            </a:r>
            <a:r>
              <a:rPr lang="fr-FR" sz="1400" dirty="0" err="1"/>
              <a:t>Embedding</a:t>
            </a:r>
            <a:endParaRPr lang="fr-FR" sz="1400" dirty="0"/>
          </a:p>
        </p:txBody>
      </p:sp>
      <p:cxnSp>
        <p:nvCxnSpPr>
          <p:cNvPr id="59" name="Connecteur droit avec flèche 58">
            <a:extLst>
              <a:ext uri="{FF2B5EF4-FFF2-40B4-BE49-F238E27FC236}">
                <a16:creationId xmlns:a16="http://schemas.microsoft.com/office/drawing/2014/main" id="{75D9D6DB-4BA8-8B03-E5D8-9E2C3DC24707}"/>
              </a:ext>
            </a:extLst>
          </p:cNvPr>
          <p:cNvCxnSpPr>
            <a:cxnSpLocks/>
            <a:stCxn id="37" idx="2"/>
          </p:cNvCxnSpPr>
          <p:nvPr/>
        </p:nvCxnSpPr>
        <p:spPr>
          <a:xfrm flipH="1">
            <a:off x="909857" y="4003047"/>
            <a:ext cx="1" cy="1303556"/>
          </a:xfrm>
          <a:prstGeom prst="straightConnector1">
            <a:avLst/>
          </a:prstGeom>
          <a:ln>
            <a:prstDash val="sysDot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necteur droit avec flèche 59">
            <a:extLst>
              <a:ext uri="{FF2B5EF4-FFF2-40B4-BE49-F238E27FC236}">
                <a16:creationId xmlns:a16="http://schemas.microsoft.com/office/drawing/2014/main" id="{41AEBA4B-6AED-0F8E-CA68-213AC92376EA}"/>
              </a:ext>
            </a:extLst>
          </p:cNvPr>
          <p:cNvCxnSpPr>
            <a:cxnSpLocks/>
          </p:cNvCxnSpPr>
          <p:nvPr/>
        </p:nvCxnSpPr>
        <p:spPr>
          <a:xfrm>
            <a:off x="4473593" y="4207312"/>
            <a:ext cx="0" cy="1099291"/>
          </a:xfrm>
          <a:prstGeom prst="straightConnector1">
            <a:avLst/>
          </a:prstGeom>
          <a:ln>
            <a:prstDash val="sysDot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Connecteur droit 77">
            <a:extLst>
              <a:ext uri="{FF2B5EF4-FFF2-40B4-BE49-F238E27FC236}">
                <a16:creationId xmlns:a16="http://schemas.microsoft.com/office/drawing/2014/main" id="{C965A423-7B79-7CED-1B58-7C6109BEB357}"/>
              </a:ext>
            </a:extLst>
          </p:cNvPr>
          <p:cNvCxnSpPr>
            <a:cxnSpLocks/>
          </p:cNvCxnSpPr>
          <p:nvPr/>
        </p:nvCxnSpPr>
        <p:spPr>
          <a:xfrm>
            <a:off x="803443" y="5421788"/>
            <a:ext cx="3984277" cy="0"/>
          </a:xfrm>
          <a:prstGeom prst="line">
            <a:avLst/>
          </a:prstGeom>
          <a:ln w="6985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onnecteur droit 78">
            <a:extLst>
              <a:ext uri="{FF2B5EF4-FFF2-40B4-BE49-F238E27FC236}">
                <a16:creationId xmlns:a16="http://schemas.microsoft.com/office/drawing/2014/main" id="{A7150D41-81C2-E828-FE09-A4BD1289E48F}"/>
              </a:ext>
            </a:extLst>
          </p:cNvPr>
          <p:cNvCxnSpPr>
            <a:cxnSpLocks/>
          </p:cNvCxnSpPr>
          <p:nvPr/>
        </p:nvCxnSpPr>
        <p:spPr>
          <a:xfrm>
            <a:off x="803443" y="5129192"/>
            <a:ext cx="3984277" cy="0"/>
          </a:xfrm>
          <a:prstGeom prst="line">
            <a:avLst/>
          </a:prstGeom>
          <a:ln w="6985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ZoneTexte 45">
            <a:extLst>
              <a:ext uri="{FF2B5EF4-FFF2-40B4-BE49-F238E27FC236}">
                <a16:creationId xmlns:a16="http://schemas.microsoft.com/office/drawing/2014/main" id="{699AAB20-02C9-CEAA-88C7-E3346431A30C}"/>
              </a:ext>
            </a:extLst>
          </p:cNvPr>
          <p:cNvSpPr txBox="1"/>
          <p:nvPr/>
        </p:nvSpPr>
        <p:spPr>
          <a:xfrm>
            <a:off x="7349473" y="2393994"/>
            <a:ext cx="279120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dirty="0"/>
              <a:t>Caractéristiques + </a:t>
            </a:r>
            <a:r>
              <a:rPr lang="fr-FR" sz="1400" dirty="0" err="1"/>
              <a:t>Embedding</a:t>
            </a:r>
            <a:endParaRPr lang="fr-FR" sz="1400" dirty="0"/>
          </a:p>
        </p:txBody>
      </p:sp>
      <p:cxnSp>
        <p:nvCxnSpPr>
          <p:cNvPr id="48" name="Connecteur : en angle 47">
            <a:extLst>
              <a:ext uri="{FF2B5EF4-FFF2-40B4-BE49-F238E27FC236}">
                <a16:creationId xmlns:a16="http://schemas.microsoft.com/office/drawing/2014/main" id="{F107A0F8-77A6-08D7-48DA-BBE0FAD3208D}"/>
              </a:ext>
            </a:extLst>
          </p:cNvPr>
          <p:cNvCxnSpPr>
            <a:cxnSpLocks/>
          </p:cNvCxnSpPr>
          <p:nvPr/>
        </p:nvCxnSpPr>
        <p:spPr>
          <a:xfrm rot="16200000" flipV="1">
            <a:off x="8130213" y="2744312"/>
            <a:ext cx="752791" cy="750646"/>
          </a:xfrm>
          <a:prstGeom prst="bentConnector3">
            <a:avLst>
              <a:gd name="adj1" fmla="val 50000"/>
            </a:avLst>
          </a:prstGeom>
          <a:ln>
            <a:prstDash val="sysDot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eur : en angle 48">
            <a:extLst>
              <a:ext uri="{FF2B5EF4-FFF2-40B4-BE49-F238E27FC236}">
                <a16:creationId xmlns:a16="http://schemas.microsoft.com/office/drawing/2014/main" id="{D639BA5C-B11D-A9F4-8AB3-4BFEB2B3C4CE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8880854" y="2740669"/>
            <a:ext cx="752791" cy="750646"/>
          </a:xfrm>
          <a:prstGeom prst="bentConnector3">
            <a:avLst>
              <a:gd name="adj1" fmla="val 50000"/>
            </a:avLst>
          </a:prstGeom>
          <a:ln>
            <a:prstDash val="sysDot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F952FD6A-4777-E7E8-4549-548D0FBC8DA6}"/>
              </a:ext>
            </a:extLst>
          </p:cNvPr>
          <p:cNvSpPr/>
          <p:nvPr/>
        </p:nvSpPr>
        <p:spPr>
          <a:xfrm>
            <a:off x="7801107" y="3499674"/>
            <a:ext cx="2217696" cy="6229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Recherche par compatibilité</a:t>
            </a:r>
          </a:p>
          <a:p>
            <a:pPr algn="ctr"/>
            <a:r>
              <a:rPr lang="fr-FR" sz="1400" b="1" dirty="0">
                <a:solidFill>
                  <a:schemeClr val="bg1"/>
                </a:solidFill>
                <a:latin typeface="Courier New" panose="02070309020205020404" pitchFamily="49" charset="0"/>
              </a:rPr>
              <a:t>(Modèle entrainé)</a:t>
            </a:r>
          </a:p>
        </p:txBody>
      </p:sp>
      <p:cxnSp>
        <p:nvCxnSpPr>
          <p:cNvPr id="52" name="Connecteur droit avec flèche 51">
            <a:extLst>
              <a:ext uri="{FF2B5EF4-FFF2-40B4-BE49-F238E27FC236}">
                <a16:creationId xmlns:a16="http://schemas.microsoft.com/office/drawing/2014/main" id="{35347018-FA0D-1C3F-3BF1-D2A1AD4B9EF8}"/>
              </a:ext>
            </a:extLst>
          </p:cNvPr>
          <p:cNvCxnSpPr>
            <a:cxnSpLocks/>
          </p:cNvCxnSpPr>
          <p:nvPr/>
        </p:nvCxnSpPr>
        <p:spPr>
          <a:xfrm>
            <a:off x="8914119" y="4106180"/>
            <a:ext cx="0" cy="3272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necteur : en angle 52">
            <a:extLst>
              <a:ext uri="{FF2B5EF4-FFF2-40B4-BE49-F238E27FC236}">
                <a16:creationId xmlns:a16="http://schemas.microsoft.com/office/drawing/2014/main" id="{8D4532ED-2DD3-DA82-53A9-E41E155426DC}"/>
              </a:ext>
            </a:extLst>
          </p:cNvPr>
          <p:cNvCxnSpPr>
            <a:cxnSpLocks/>
          </p:cNvCxnSpPr>
          <p:nvPr/>
        </p:nvCxnSpPr>
        <p:spPr>
          <a:xfrm rot="10800000" flipV="1">
            <a:off x="7982812" y="4098471"/>
            <a:ext cx="931308" cy="327259"/>
          </a:xfrm>
          <a:prstGeom prst="bentConnector3">
            <a:avLst>
              <a:gd name="adj1" fmla="val 99498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eur : en angle 53">
            <a:extLst>
              <a:ext uri="{FF2B5EF4-FFF2-40B4-BE49-F238E27FC236}">
                <a16:creationId xmlns:a16="http://schemas.microsoft.com/office/drawing/2014/main" id="{9538FE8C-EABD-E7A3-ED11-06BE882F52A9}"/>
              </a:ext>
            </a:extLst>
          </p:cNvPr>
          <p:cNvCxnSpPr>
            <a:cxnSpLocks/>
          </p:cNvCxnSpPr>
          <p:nvPr/>
        </p:nvCxnSpPr>
        <p:spPr>
          <a:xfrm>
            <a:off x="8914119" y="4077276"/>
            <a:ext cx="940655" cy="307092"/>
          </a:xfrm>
          <a:prstGeom prst="bentConnector3">
            <a:avLst>
              <a:gd name="adj1" fmla="val 10033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ZoneTexte 54">
            <a:extLst>
              <a:ext uri="{FF2B5EF4-FFF2-40B4-BE49-F238E27FC236}">
                <a16:creationId xmlns:a16="http://schemas.microsoft.com/office/drawing/2014/main" id="{5689CCF1-62BE-18CC-BB04-7721D88B0E8E}"/>
              </a:ext>
            </a:extLst>
          </p:cNvPr>
          <p:cNvSpPr txBox="1"/>
          <p:nvPr/>
        </p:nvSpPr>
        <p:spPr>
          <a:xfrm>
            <a:off x="7599697" y="4531158"/>
            <a:ext cx="76622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dirty="0"/>
              <a:t>Article</a:t>
            </a:r>
          </a:p>
          <a:p>
            <a:pPr algn="ctr"/>
            <a:r>
              <a:rPr lang="fr-FR" sz="1400" dirty="0"/>
              <a:t>1</a:t>
            </a:r>
          </a:p>
        </p:txBody>
      </p:sp>
      <p:sp>
        <p:nvSpPr>
          <p:cNvPr id="56" name="ZoneTexte 55">
            <a:extLst>
              <a:ext uri="{FF2B5EF4-FFF2-40B4-BE49-F238E27FC236}">
                <a16:creationId xmlns:a16="http://schemas.microsoft.com/office/drawing/2014/main" id="{95167062-0194-E1E9-05A5-C3662BC02755}"/>
              </a:ext>
            </a:extLst>
          </p:cNvPr>
          <p:cNvSpPr txBox="1"/>
          <p:nvPr/>
        </p:nvSpPr>
        <p:spPr>
          <a:xfrm>
            <a:off x="9443625" y="4531158"/>
            <a:ext cx="76622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dirty="0"/>
              <a:t>Article</a:t>
            </a:r>
          </a:p>
          <a:p>
            <a:pPr algn="ctr"/>
            <a:r>
              <a:rPr lang="fr-FR" sz="1400" dirty="0"/>
              <a:t>3</a:t>
            </a:r>
          </a:p>
        </p:txBody>
      </p:sp>
      <p:sp>
        <p:nvSpPr>
          <p:cNvPr id="57" name="ZoneTexte 56">
            <a:extLst>
              <a:ext uri="{FF2B5EF4-FFF2-40B4-BE49-F238E27FC236}">
                <a16:creationId xmlns:a16="http://schemas.microsoft.com/office/drawing/2014/main" id="{AAB3FC4C-531C-41D8-B5BF-C5E99A954E76}"/>
              </a:ext>
            </a:extLst>
          </p:cNvPr>
          <p:cNvSpPr txBox="1"/>
          <p:nvPr/>
        </p:nvSpPr>
        <p:spPr>
          <a:xfrm>
            <a:off x="8521661" y="4531158"/>
            <a:ext cx="76622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dirty="0"/>
              <a:t>Article</a:t>
            </a:r>
          </a:p>
          <a:p>
            <a:pPr algn="ctr"/>
            <a:r>
              <a:rPr lang="fr-FR" sz="1400" dirty="0"/>
              <a:t>2</a:t>
            </a:r>
          </a:p>
        </p:txBody>
      </p:sp>
      <p:sp>
        <p:nvSpPr>
          <p:cNvPr id="63" name="Rectangle : coins arrondis 62">
            <a:extLst>
              <a:ext uri="{FF2B5EF4-FFF2-40B4-BE49-F238E27FC236}">
                <a16:creationId xmlns:a16="http://schemas.microsoft.com/office/drawing/2014/main" id="{39218CE3-F184-C146-C2B0-F6131EE6A55B}"/>
              </a:ext>
            </a:extLst>
          </p:cNvPr>
          <p:cNvSpPr/>
          <p:nvPr/>
        </p:nvSpPr>
        <p:spPr>
          <a:xfrm>
            <a:off x="7599697" y="4531158"/>
            <a:ext cx="2610153" cy="528711"/>
          </a:xfrm>
          <a:prstGeom prst="round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fr-FR" sz="1400"/>
          </a:p>
        </p:txBody>
      </p:sp>
      <p:sp>
        <p:nvSpPr>
          <p:cNvPr id="64" name="Rectangle : coins arrondis 63">
            <a:extLst>
              <a:ext uri="{FF2B5EF4-FFF2-40B4-BE49-F238E27FC236}">
                <a16:creationId xmlns:a16="http://schemas.microsoft.com/office/drawing/2014/main" id="{494ACA96-3580-7104-A63C-227B88C263EC}"/>
              </a:ext>
            </a:extLst>
          </p:cNvPr>
          <p:cNvSpPr/>
          <p:nvPr/>
        </p:nvSpPr>
        <p:spPr>
          <a:xfrm>
            <a:off x="6314356" y="4528425"/>
            <a:ext cx="845650" cy="528711"/>
          </a:xfrm>
          <a:prstGeom prst="round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fr-FR" sz="1400" dirty="0"/>
              <a:t>Articles</a:t>
            </a:r>
          </a:p>
        </p:txBody>
      </p:sp>
      <p:sp>
        <p:nvSpPr>
          <p:cNvPr id="65" name="Rectangle : coins arrondis 64">
            <a:extLst>
              <a:ext uri="{FF2B5EF4-FFF2-40B4-BE49-F238E27FC236}">
                <a16:creationId xmlns:a16="http://schemas.microsoft.com/office/drawing/2014/main" id="{2B8F65F7-D320-1412-6A0C-0CD16C897CB2}"/>
              </a:ext>
            </a:extLst>
          </p:cNvPr>
          <p:cNvSpPr/>
          <p:nvPr/>
        </p:nvSpPr>
        <p:spPr>
          <a:xfrm>
            <a:off x="10654210" y="4534749"/>
            <a:ext cx="845639" cy="528711"/>
          </a:xfrm>
          <a:prstGeom prst="round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fr-FR" sz="1400" dirty="0"/>
              <a:t>Articles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228E3E03-73F5-EFAB-6C90-CC05E0478B03}"/>
              </a:ext>
            </a:extLst>
          </p:cNvPr>
          <p:cNvSpPr/>
          <p:nvPr/>
        </p:nvSpPr>
        <p:spPr>
          <a:xfrm>
            <a:off x="6314356" y="3510378"/>
            <a:ext cx="845648" cy="6229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00" dirty="0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E418B3C8-2D03-A9F8-D163-6A84E90E3A0A}"/>
              </a:ext>
            </a:extLst>
          </p:cNvPr>
          <p:cNvSpPr/>
          <p:nvPr/>
        </p:nvSpPr>
        <p:spPr>
          <a:xfrm>
            <a:off x="10626710" y="3510378"/>
            <a:ext cx="845648" cy="6229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00" dirty="0"/>
          </a:p>
        </p:txBody>
      </p:sp>
      <p:cxnSp>
        <p:nvCxnSpPr>
          <p:cNvPr id="71" name="Connecteur droit avec flèche 70">
            <a:extLst>
              <a:ext uri="{FF2B5EF4-FFF2-40B4-BE49-F238E27FC236}">
                <a16:creationId xmlns:a16="http://schemas.microsoft.com/office/drawing/2014/main" id="{72CA5074-CCCC-5AB4-F250-6E83E717BE87}"/>
              </a:ext>
            </a:extLst>
          </p:cNvPr>
          <p:cNvCxnSpPr>
            <a:cxnSpLocks/>
          </p:cNvCxnSpPr>
          <p:nvPr/>
        </p:nvCxnSpPr>
        <p:spPr>
          <a:xfrm>
            <a:off x="6726521" y="2508712"/>
            <a:ext cx="0" cy="1001666"/>
          </a:xfrm>
          <a:prstGeom prst="straightConnector1">
            <a:avLst/>
          </a:prstGeom>
          <a:ln>
            <a:prstDash val="sysDot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eur droit avec flèche 72">
            <a:extLst>
              <a:ext uri="{FF2B5EF4-FFF2-40B4-BE49-F238E27FC236}">
                <a16:creationId xmlns:a16="http://schemas.microsoft.com/office/drawing/2014/main" id="{6B5E1BDF-83AE-FF5E-2048-D98E752CB198}"/>
              </a:ext>
            </a:extLst>
          </p:cNvPr>
          <p:cNvCxnSpPr>
            <a:cxnSpLocks/>
          </p:cNvCxnSpPr>
          <p:nvPr/>
        </p:nvCxnSpPr>
        <p:spPr>
          <a:xfrm>
            <a:off x="11074174" y="2508712"/>
            <a:ext cx="0" cy="1001666"/>
          </a:xfrm>
          <a:prstGeom prst="straightConnector1">
            <a:avLst/>
          </a:prstGeom>
          <a:ln>
            <a:prstDash val="sysDot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necteur droit avec flèche 73">
            <a:extLst>
              <a:ext uri="{FF2B5EF4-FFF2-40B4-BE49-F238E27FC236}">
                <a16:creationId xmlns:a16="http://schemas.microsoft.com/office/drawing/2014/main" id="{280EDF2D-E2D0-DA3F-004A-5F34F4310608}"/>
              </a:ext>
            </a:extLst>
          </p:cNvPr>
          <p:cNvCxnSpPr>
            <a:cxnSpLocks/>
          </p:cNvCxnSpPr>
          <p:nvPr/>
        </p:nvCxnSpPr>
        <p:spPr>
          <a:xfrm>
            <a:off x="6726521" y="4133326"/>
            <a:ext cx="0" cy="3272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onnecteur droit avec flèche 74">
            <a:extLst>
              <a:ext uri="{FF2B5EF4-FFF2-40B4-BE49-F238E27FC236}">
                <a16:creationId xmlns:a16="http://schemas.microsoft.com/office/drawing/2014/main" id="{94938478-6225-7953-338C-030A3CA14516}"/>
              </a:ext>
            </a:extLst>
          </p:cNvPr>
          <p:cNvCxnSpPr>
            <a:cxnSpLocks/>
          </p:cNvCxnSpPr>
          <p:nvPr/>
        </p:nvCxnSpPr>
        <p:spPr>
          <a:xfrm>
            <a:off x="11074174" y="4133326"/>
            <a:ext cx="0" cy="3272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2B411BEC-7C2C-2E53-9B62-2B0E6D1BB273}"/>
              </a:ext>
            </a:extLst>
          </p:cNvPr>
          <p:cNvCxnSpPr/>
          <p:nvPr/>
        </p:nvCxnSpPr>
        <p:spPr>
          <a:xfrm>
            <a:off x="6573384" y="2690897"/>
            <a:ext cx="4593205" cy="0"/>
          </a:xfrm>
          <a:prstGeom prst="line">
            <a:avLst/>
          </a:prstGeom>
          <a:ln w="6985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5E6437BC-7E35-4F5F-46F9-FEBA422BF300}"/>
              </a:ext>
            </a:extLst>
          </p:cNvPr>
          <p:cNvCxnSpPr/>
          <p:nvPr/>
        </p:nvCxnSpPr>
        <p:spPr>
          <a:xfrm>
            <a:off x="6573384" y="2393994"/>
            <a:ext cx="4593205" cy="0"/>
          </a:xfrm>
          <a:prstGeom prst="line">
            <a:avLst/>
          </a:prstGeom>
          <a:ln w="6985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Croix 83">
            <a:extLst>
              <a:ext uri="{FF2B5EF4-FFF2-40B4-BE49-F238E27FC236}">
                <a16:creationId xmlns:a16="http://schemas.microsoft.com/office/drawing/2014/main" id="{C9E56EBB-8A31-9749-24AC-C1C4E703840A}"/>
              </a:ext>
            </a:extLst>
          </p:cNvPr>
          <p:cNvSpPr/>
          <p:nvPr/>
        </p:nvSpPr>
        <p:spPr>
          <a:xfrm>
            <a:off x="7235333" y="4651333"/>
            <a:ext cx="314459" cy="314459"/>
          </a:xfrm>
          <a:prstGeom prst="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00"/>
          </a:p>
        </p:txBody>
      </p:sp>
      <p:sp>
        <p:nvSpPr>
          <p:cNvPr id="85" name="Croix 84">
            <a:extLst>
              <a:ext uri="{FF2B5EF4-FFF2-40B4-BE49-F238E27FC236}">
                <a16:creationId xmlns:a16="http://schemas.microsoft.com/office/drawing/2014/main" id="{BFBEC959-F89E-182A-ECD8-A7D8A738DE2E}"/>
              </a:ext>
            </a:extLst>
          </p:cNvPr>
          <p:cNvSpPr/>
          <p:nvPr/>
        </p:nvSpPr>
        <p:spPr>
          <a:xfrm>
            <a:off x="10285177" y="4651333"/>
            <a:ext cx="314459" cy="314459"/>
          </a:xfrm>
          <a:prstGeom prst="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00"/>
          </a:p>
        </p:txBody>
      </p:sp>
      <p:sp>
        <p:nvSpPr>
          <p:cNvPr id="91" name="Accolade ouvrante 90">
            <a:extLst>
              <a:ext uri="{FF2B5EF4-FFF2-40B4-BE49-F238E27FC236}">
                <a16:creationId xmlns:a16="http://schemas.microsoft.com/office/drawing/2014/main" id="{1B462BCB-42A8-326D-6B6A-C74CC77E9ADD}"/>
              </a:ext>
            </a:extLst>
          </p:cNvPr>
          <p:cNvSpPr/>
          <p:nvPr/>
        </p:nvSpPr>
        <p:spPr>
          <a:xfrm rot="16200000" flipV="1">
            <a:off x="8681060" y="3035685"/>
            <a:ext cx="519581" cy="5063017"/>
          </a:xfrm>
          <a:prstGeom prst="leftBrace">
            <a:avLst>
              <a:gd name="adj1" fmla="val 121034"/>
              <a:gd name="adj2" fmla="val 47961"/>
            </a:avLst>
          </a:prstGeom>
          <a:ln w="539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 sz="1400"/>
          </a:p>
        </p:txBody>
      </p:sp>
      <p:sp>
        <p:nvSpPr>
          <p:cNvPr id="92" name="ZoneTexte 91">
            <a:extLst>
              <a:ext uri="{FF2B5EF4-FFF2-40B4-BE49-F238E27FC236}">
                <a16:creationId xmlns:a16="http://schemas.microsoft.com/office/drawing/2014/main" id="{DABCB21E-BB32-5F5B-CA93-F9DF28819676}"/>
              </a:ext>
            </a:extLst>
          </p:cNvPr>
          <p:cNvSpPr txBox="1"/>
          <p:nvPr/>
        </p:nvSpPr>
        <p:spPr>
          <a:xfrm>
            <a:off x="7968044" y="5995539"/>
            <a:ext cx="217263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fr-FR"/>
            </a:defPPr>
            <a:lvl1pPr algn="ctr">
              <a:defRPr sz="1600" b="1"/>
            </a:lvl1pPr>
          </a:lstStyle>
          <a:p>
            <a:r>
              <a:rPr lang="fr-FR" dirty="0"/>
              <a:t>Tri par:</a:t>
            </a:r>
          </a:p>
          <a:p>
            <a:r>
              <a:rPr lang="fr-FR" dirty="0"/>
              <a:t>Score moyen du </a:t>
            </a:r>
            <a:r>
              <a:rPr lang="fr-FR" dirty="0" err="1"/>
              <a:t>outfit</a:t>
            </a:r>
            <a:endParaRPr lang="fr-FR" dirty="0"/>
          </a:p>
        </p:txBody>
      </p:sp>
      <p:sp>
        <p:nvSpPr>
          <p:cNvPr id="94" name="Flèche : bas 93">
            <a:extLst>
              <a:ext uri="{FF2B5EF4-FFF2-40B4-BE49-F238E27FC236}">
                <a16:creationId xmlns:a16="http://schemas.microsoft.com/office/drawing/2014/main" id="{D9DEA241-24B8-6FFB-7D32-1A89E87100A2}"/>
              </a:ext>
            </a:extLst>
          </p:cNvPr>
          <p:cNvSpPr/>
          <p:nvPr/>
        </p:nvSpPr>
        <p:spPr>
          <a:xfrm>
            <a:off x="1323138" y="5603432"/>
            <a:ext cx="747430" cy="493455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6" name="ZoneTexte 95">
            <a:extLst>
              <a:ext uri="{FF2B5EF4-FFF2-40B4-BE49-F238E27FC236}">
                <a16:creationId xmlns:a16="http://schemas.microsoft.com/office/drawing/2014/main" id="{232B429E-D583-F442-FC4A-683A7C58ECD2}"/>
              </a:ext>
            </a:extLst>
          </p:cNvPr>
          <p:cNvSpPr txBox="1"/>
          <p:nvPr/>
        </p:nvSpPr>
        <p:spPr>
          <a:xfrm>
            <a:off x="838375" y="44617"/>
            <a:ext cx="342634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3200" b="1" dirty="0"/>
              <a:t>Base Line</a:t>
            </a:r>
          </a:p>
        </p:txBody>
      </p:sp>
      <p:sp>
        <p:nvSpPr>
          <p:cNvPr id="97" name="ZoneTexte 96">
            <a:extLst>
              <a:ext uri="{FF2B5EF4-FFF2-40B4-BE49-F238E27FC236}">
                <a16:creationId xmlns:a16="http://schemas.microsoft.com/office/drawing/2014/main" id="{B12B4BEB-E447-C6EA-CC00-C46D463539C9}"/>
              </a:ext>
            </a:extLst>
          </p:cNvPr>
          <p:cNvSpPr txBox="1"/>
          <p:nvPr/>
        </p:nvSpPr>
        <p:spPr>
          <a:xfrm>
            <a:off x="7194199" y="75974"/>
            <a:ext cx="342634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3200" b="1" dirty="0"/>
              <a:t>Approche avancée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9E35AD00-7325-7934-96B1-683CCA59A8FD}"/>
              </a:ext>
            </a:extLst>
          </p:cNvPr>
          <p:cNvSpPr/>
          <p:nvPr/>
        </p:nvSpPr>
        <p:spPr>
          <a:xfrm>
            <a:off x="1501769" y="1857854"/>
            <a:ext cx="2185518" cy="35573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Segmentation</a:t>
            </a:r>
          </a:p>
        </p:txBody>
      </p:sp>
      <p:cxnSp>
        <p:nvCxnSpPr>
          <p:cNvPr id="100" name="Connecteur droit avec flèche 99">
            <a:extLst>
              <a:ext uri="{FF2B5EF4-FFF2-40B4-BE49-F238E27FC236}">
                <a16:creationId xmlns:a16="http://schemas.microsoft.com/office/drawing/2014/main" id="{655810AA-29A0-5DAE-A958-7943D6A9A53B}"/>
              </a:ext>
            </a:extLst>
          </p:cNvPr>
          <p:cNvCxnSpPr>
            <a:cxnSpLocks/>
          </p:cNvCxnSpPr>
          <p:nvPr/>
        </p:nvCxnSpPr>
        <p:spPr>
          <a:xfrm flipH="1">
            <a:off x="3687287" y="1749757"/>
            <a:ext cx="1129183" cy="989839"/>
          </a:xfrm>
          <a:prstGeom prst="straightConnector1">
            <a:avLst/>
          </a:prstGeom>
          <a:ln w="412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CE366D0-7FFD-1D10-25FC-CD261A75D952}"/>
              </a:ext>
            </a:extLst>
          </p:cNvPr>
          <p:cNvSpPr txBox="1"/>
          <p:nvPr/>
        </p:nvSpPr>
        <p:spPr>
          <a:xfrm>
            <a:off x="4264720" y="1184045"/>
            <a:ext cx="151021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600" b="1" dirty="0" err="1">
                <a:solidFill>
                  <a:srgbClr val="FF0000"/>
                </a:solidFill>
              </a:rPr>
              <a:t>Embedding</a:t>
            </a:r>
            <a:r>
              <a:rPr lang="fr-FR" sz="1600" b="1" dirty="0">
                <a:solidFill>
                  <a:srgbClr val="FF0000"/>
                </a:solidFill>
              </a:rPr>
              <a:t> </a:t>
            </a:r>
          </a:p>
          <a:p>
            <a:pPr algn="ctr"/>
            <a:r>
              <a:rPr lang="fr-FR" sz="1600" b="1" dirty="0">
                <a:solidFill>
                  <a:srgbClr val="FF0000"/>
                </a:solidFill>
              </a:rPr>
              <a:t>Utilisateur</a:t>
            </a:r>
          </a:p>
        </p:txBody>
      </p:sp>
      <p:cxnSp>
        <p:nvCxnSpPr>
          <p:cNvPr id="103" name="Connecteur droit avec flèche 102">
            <a:extLst>
              <a:ext uri="{FF2B5EF4-FFF2-40B4-BE49-F238E27FC236}">
                <a16:creationId xmlns:a16="http://schemas.microsoft.com/office/drawing/2014/main" id="{E6093038-9F07-B571-F3D8-9CB88BF22AC5}"/>
              </a:ext>
            </a:extLst>
          </p:cNvPr>
          <p:cNvCxnSpPr>
            <a:cxnSpLocks/>
          </p:cNvCxnSpPr>
          <p:nvPr/>
        </p:nvCxnSpPr>
        <p:spPr>
          <a:xfrm>
            <a:off x="5939043" y="3084139"/>
            <a:ext cx="1828868" cy="505832"/>
          </a:xfrm>
          <a:prstGeom prst="straightConnector1">
            <a:avLst/>
          </a:prstGeom>
          <a:ln w="412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04" name="ZoneTexte 103">
            <a:extLst>
              <a:ext uri="{FF2B5EF4-FFF2-40B4-BE49-F238E27FC236}">
                <a16:creationId xmlns:a16="http://schemas.microsoft.com/office/drawing/2014/main" id="{6307C710-4384-1744-29E6-43CD0D4DCC6C}"/>
              </a:ext>
            </a:extLst>
          </p:cNvPr>
          <p:cNvSpPr txBox="1"/>
          <p:nvPr/>
        </p:nvSpPr>
        <p:spPr>
          <a:xfrm>
            <a:off x="5005676" y="2456580"/>
            <a:ext cx="151021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600" b="1" dirty="0" err="1">
                <a:solidFill>
                  <a:srgbClr val="FF0000"/>
                </a:solidFill>
              </a:rPr>
              <a:t>Embedding</a:t>
            </a:r>
            <a:r>
              <a:rPr lang="fr-FR" sz="1600" b="1" dirty="0">
                <a:solidFill>
                  <a:srgbClr val="FF0000"/>
                </a:solidFill>
              </a:rPr>
              <a:t> Catalogue</a:t>
            </a:r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0DFDBAE3-E8C1-9229-FE04-A079D7EEA7A5}"/>
              </a:ext>
            </a:extLst>
          </p:cNvPr>
          <p:cNvSpPr/>
          <p:nvPr/>
        </p:nvSpPr>
        <p:spPr>
          <a:xfrm>
            <a:off x="654367" y="6199474"/>
            <a:ext cx="2185518" cy="613909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Recherche par similarité</a:t>
            </a:r>
          </a:p>
          <a:p>
            <a:pPr algn="ctr"/>
            <a:r>
              <a:rPr lang="fr-FR" sz="1400" dirty="0"/>
              <a:t>(</a:t>
            </a:r>
            <a:r>
              <a:rPr lang="fr-FR" sz="1400" b="1" dirty="0"/>
              <a:t>similarité cosinus)</a:t>
            </a:r>
            <a:endParaRPr lang="fr-FR" sz="1400" dirty="0"/>
          </a:p>
        </p:txBody>
      </p:sp>
      <p:sp>
        <p:nvSpPr>
          <p:cNvPr id="122" name="Flèche : bas 121">
            <a:extLst>
              <a:ext uri="{FF2B5EF4-FFF2-40B4-BE49-F238E27FC236}">
                <a16:creationId xmlns:a16="http://schemas.microsoft.com/office/drawing/2014/main" id="{FF5C0C3D-2234-401B-D4EF-9D078CCA8855}"/>
              </a:ext>
            </a:extLst>
          </p:cNvPr>
          <p:cNvSpPr/>
          <p:nvPr/>
        </p:nvSpPr>
        <p:spPr>
          <a:xfrm>
            <a:off x="3291304" y="6251061"/>
            <a:ext cx="747430" cy="545905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3" name="Flèche : bas 122">
            <a:extLst>
              <a:ext uri="{FF2B5EF4-FFF2-40B4-BE49-F238E27FC236}">
                <a16:creationId xmlns:a16="http://schemas.microsoft.com/office/drawing/2014/main" id="{6E889534-DC78-C9EA-6CBB-2E47CFA0A65F}"/>
              </a:ext>
            </a:extLst>
          </p:cNvPr>
          <p:cNvSpPr/>
          <p:nvPr/>
        </p:nvSpPr>
        <p:spPr>
          <a:xfrm>
            <a:off x="3304371" y="5625223"/>
            <a:ext cx="747430" cy="545905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24" name="Flèche : bas 123">
            <a:extLst>
              <a:ext uri="{FF2B5EF4-FFF2-40B4-BE49-F238E27FC236}">
                <a16:creationId xmlns:a16="http://schemas.microsoft.com/office/drawing/2014/main" id="{A04DB0CF-9775-43CF-1A6E-34FF0A96CE0F}"/>
              </a:ext>
            </a:extLst>
          </p:cNvPr>
          <p:cNvSpPr/>
          <p:nvPr/>
        </p:nvSpPr>
        <p:spPr>
          <a:xfrm>
            <a:off x="8540535" y="1555311"/>
            <a:ext cx="747430" cy="545905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5" name="Flèche : bas 124">
            <a:extLst>
              <a:ext uri="{FF2B5EF4-FFF2-40B4-BE49-F238E27FC236}">
                <a16:creationId xmlns:a16="http://schemas.microsoft.com/office/drawing/2014/main" id="{8A0CDCBC-D455-2CF0-57F9-7B4633891A9F}"/>
              </a:ext>
            </a:extLst>
          </p:cNvPr>
          <p:cNvSpPr/>
          <p:nvPr/>
        </p:nvSpPr>
        <p:spPr>
          <a:xfrm>
            <a:off x="8553602" y="929473"/>
            <a:ext cx="747430" cy="545905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0399564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69CFF2A-4830-4872-5408-728EB57AE2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Datasets</a:t>
            </a:r>
            <a:r>
              <a:rPr lang="fr-FR" dirty="0"/>
              <a:t> et stratégie de données</a:t>
            </a:r>
          </a:p>
        </p:txBody>
      </p:sp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D87C09F4-AF2F-9188-ACFA-8EE151C9DE35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2766854"/>
          <a:ext cx="10515600" cy="2468880"/>
        </p:xfrm>
        <a:graphic>
          <a:graphicData uri="http://schemas.openxmlformats.org/drawingml/2006/table">
            <a:tbl>
              <a:tblPr/>
              <a:tblGrid>
                <a:gridCol w="3505200">
                  <a:extLst>
                    <a:ext uri="{9D8B030D-6E8A-4147-A177-3AD203B41FA5}">
                      <a16:colId xmlns:a16="http://schemas.microsoft.com/office/drawing/2014/main" val="1492030840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016546766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24702121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Dataset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Apport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Limitation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17561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IQON / SHIFT15M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utilisateurs + outfits + articles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pas une vraie garde-robe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75999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Polyvore Outfits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associations de vêtements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peu de personnalisation utilisateur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32999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DeepFashion2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détection/segmentation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pas de comportement utilisateur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87356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Fashionpedia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catégories + attributs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pas de recommandation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672454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H&amp;M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catalogue + interactions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comportement d'achat différent du besoin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3015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74868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8323EC-8C25-0550-D597-1CE268AED9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4D4F8D6-33F5-58BF-D67A-F0CDBA1C11E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Protocole expérimental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61DCF27-2861-AB07-0789-88B90E7D1FE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dirty="0"/>
              <a:t>Comment le </a:t>
            </a:r>
            <a:r>
              <a:rPr lang="fr-FR" dirty="0" err="1"/>
              <a:t>PoC</a:t>
            </a:r>
            <a:r>
              <a:rPr lang="fr-FR" dirty="0"/>
              <a:t> sera réellement évalué</a:t>
            </a:r>
          </a:p>
        </p:txBody>
      </p:sp>
    </p:spTree>
    <p:extLst>
      <p:ext uri="{BB962C8B-B14F-4D97-AF65-F5344CB8AC3E}">
        <p14:creationId xmlns:p14="http://schemas.microsoft.com/office/powerpoint/2010/main" val="34384279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FF169D4-815A-2BFA-93EA-C21D476B86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DB9839B-0408-3C58-B1CB-24856B62CD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fr-FR" b="1" dirty="0"/>
              <a:t>Étape 1</a:t>
            </a:r>
          </a:p>
          <a:p>
            <a:r>
              <a:rPr lang="fr-FR" dirty="0"/>
              <a:t>Sélectionner un sous-ensemble représentatif des données.</a:t>
            </a:r>
          </a:p>
          <a:p>
            <a:r>
              <a:rPr lang="fr-FR" b="1" dirty="0"/>
              <a:t>Étape 2</a:t>
            </a:r>
          </a:p>
          <a:p>
            <a:r>
              <a:rPr lang="fr-FR" dirty="0"/>
              <a:t>Construire un </a:t>
            </a:r>
            <a:r>
              <a:rPr lang="fr-FR" dirty="0" err="1"/>
              <a:t>baseline</a:t>
            </a:r>
            <a:r>
              <a:rPr lang="fr-FR" dirty="0"/>
              <a:t> simple.</a:t>
            </a:r>
          </a:p>
          <a:p>
            <a:r>
              <a:rPr lang="fr-FR" dirty="0"/>
              <a:t>Par exemple :</a:t>
            </a:r>
          </a:p>
          <a:p>
            <a:r>
              <a:rPr lang="fr-FR" dirty="0"/>
              <a:t>recommandation par popularité</a:t>
            </a:r>
          </a:p>
          <a:p>
            <a:r>
              <a:rPr lang="fr-FR" dirty="0"/>
              <a:t>ou</a:t>
            </a:r>
          </a:p>
          <a:p>
            <a:r>
              <a:rPr lang="fr-FR" dirty="0"/>
              <a:t>similarité visuelle simple</a:t>
            </a:r>
          </a:p>
          <a:p>
            <a:r>
              <a:rPr lang="fr-FR" b="1" dirty="0"/>
              <a:t>Étape 3</a:t>
            </a:r>
          </a:p>
          <a:p>
            <a:r>
              <a:rPr lang="fr-FR" dirty="0"/>
              <a:t>Tester l'approche 1.</a:t>
            </a:r>
          </a:p>
          <a:p>
            <a:r>
              <a:rPr lang="fr-FR" b="1" dirty="0"/>
              <a:t>Étape 4</a:t>
            </a:r>
          </a:p>
          <a:p>
            <a:r>
              <a:rPr lang="fr-FR" dirty="0"/>
              <a:t>Tester l'approche 2.</a:t>
            </a:r>
          </a:p>
          <a:p>
            <a:r>
              <a:rPr lang="fr-FR" b="1" dirty="0"/>
              <a:t>Étape 5</a:t>
            </a:r>
          </a:p>
          <a:p>
            <a:r>
              <a:rPr lang="fr-FR" dirty="0"/>
              <a:t>Comparer les résultats.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21723295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1E74E0-F6AB-C9BF-F687-86298B74B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967667F-F149-B60E-1AA6-7BECB665334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Métriques et critères de succès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23BDE7BF-2760-AE8E-5346-F644AAD33A6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fr-FR" dirty="0"/>
              <a:t>Le </a:t>
            </a:r>
            <a:r>
              <a:rPr lang="fr-FR" dirty="0" err="1"/>
              <a:t>PoC</a:t>
            </a:r>
            <a:r>
              <a:rPr lang="fr-FR" dirty="0"/>
              <a:t> sera considéré comme concluant s’il permet de démontrer qu’une recommandation personnalisée peut apporter une valeur mesurable pour </a:t>
            </a:r>
            <a:r>
              <a:rPr lang="fr-FR" dirty="0" err="1"/>
              <a:t>FashionInsta</a:t>
            </a:r>
            <a:r>
              <a:rPr lang="fr-F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61010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B87901D-6A2D-C200-D9C6-D091A6E65F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métriques techniques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B204956-F252-575E-E9E6-7236ED0B9B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b="1" dirty="0"/>
              <a:t>Métriques techniques</a:t>
            </a:r>
          </a:p>
          <a:p>
            <a:r>
              <a:rPr lang="fr-FR" dirty="0"/>
              <a:t>Pour une recommandation Top-K :</a:t>
            </a:r>
          </a:p>
          <a:p>
            <a:r>
              <a:rPr lang="fr-FR" dirty="0" err="1"/>
              <a:t>Precision@K</a:t>
            </a:r>
            <a:r>
              <a:rPr lang="fr-FR" dirty="0"/>
              <a:t> ;</a:t>
            </a:r>
          </a:p>
          <a:p>
            <a:r>
              <a:rPr lang="fr-FR" dirty="0" err="1"/>
              <a:t>Recall@K</a:t>
            </a:r>
            <a:r>
              <a:rPr lang="fr-FR" dirty="0"/>
              <a:t> ;</a:t>
            </a:r>
          </a:p>
          <a:p>
            <a:r>
              <a:rPr lang="fr-FR" dirty="0"/>
              <a:t>NDCG@K ;</a:t>
            </a:r>
          </a:p>
          <a:p>
            <a:r>
              <a:rPr lang="fr-FR" dirty="0"/>
              <a:t>éventuellement MRR.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42658704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DEDA0-A9F4-E394-4773-A443A632DD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E0671A4-F267-621B-B7F0-1DE575E039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Critère métier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D082625-B5B1-65C4-4502-B27A0A71D6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fr-FR" dirty="0"/>
              <a:t>Une recommandation est considérée comme pertinente lorsqu'elle correspond au style/préférences de l'utilisateur ou complète de manière cohérente au moins une partie de sa garde-robe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002B0ADF-BE3A-989F-AB4D-1D1CC1A2760C}"/>
              </a:ext>
            </a:extLst>
          </p:cNvPr>
          <p:cNvSpPr txBox="1"/>
          <p:nvPr/>
        </p:nvSpPr>
        <p:spPr>
          <a:xfrm>
            <a:off x="3173279" y="4783526"/>
            <a:ext cx="609858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déterminer avec le métier quel niveau de pertinence rend la fonctionnalité exploitable.</a:t>
            </a:r>
          </a:p>
        </p:txBody>
      </p:sp>
    </p:spTree>
    <p:extLst>
      <p:ext uri="{BB962C8B-B14F-4D97-AF65-F5344CB8AC3E}">
        <p14:creationId xmlns:p14="http://schemas.microsoft.com/office/powerpoint/2010/main" val="405693136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3CE52-4F15-7716-B310-E774D5CE8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801866A-0229-BDAE-D323-DFF9446CB72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Planning et Ressources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2DA9FB90-D7C9-F69F-24C7-2DE0C926ABD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dirty="0"/>
              <a:t>Cadrage du développement</a:t>
            </a:r>
          </a:p>
        </p:txBody>
      </p:sp>
    </p:spTree>
    <p:extLst>
      <p:ext uri="{BB962C8B-B14F-4D97-AF65-F5344CB8AC3E}">
        <p14:creationId xmlns:p14="http://schemas.microsoft.com/office/powerpoint/2010/main" val="80019130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8D1FB55-5EE6-6FF4-6A31-FBC65ECC9A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Planning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762C9DE-966B-8AF7-210A-2357E53C94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0000" lnSpcReduction="20000"/>
          </a:bodyPr>
          <a:lstStyle/>
          <a:p>
            <a:r>
              <a:rPr lang="fr-FR" dirty="0"/>
              <a:t>Semaine 1</a:t>
            </a:r>
          </a:p>
          <a:p>
            <a:r>
              <a:rPr lang="fr-FR" dirty="0"/>
              <a:t>Cadrage + sélection </a:t>
            </a:r>
            <a:r>
              <a:rPr lang="fr-FR" dirty="0" err="1"/>
              <a:t>datasets</a:t>
            </a:r>
            <a:endParaRPr lang="fr-FR" dirty="0"/>
          </a:p>
          <a:p>
            <a:endParaRPr lang="fr-FR" dirty="0"/>
          </a:p>
          <a:p>
            <a:r>
              <a:rPr lang="fr-FR" dirty="0"/>
              <a:t>Semaine 2</a:t>
            </a:r>
          </a:p>
          <a:p>
            <a:r>
              <a:rPr lang="fr-FR" dirty="0"/>
              <a:t>Préparation du jeu expérimental</a:t>
            </a:r>
          </a:p>
          <a:p>
            <a:endParaRPr lang="fr-FR" dirty="0"/>
          </a:p>
          <a:p>
            <a:r>
              <a:rPr lang="fr-FR" dirty="0"/>
              <a:t>Semaine 3</a:t>
            </a:r>
          </a:p>
          <a:p>
            <a:r>
              <a:rPr lang="fr-FR" dirty="0"/>
              <a:t>Baseline + approche similarité</a:t>
            </a:r>
          </a:p>
          <a:p>
            <a:endParaRPr lang="fr-FR" dirty="0"/>
          </a:p>
          <a:p>
            <a:r>
              <a:rPr lang="fr-FR" dirty="0"/>
              <a:t>Semaine 4</a:t>
            </a:r>
          </a:p>
          <a:p>
            <a:r>
              <a:rPr lang="fr-FR" dirty="0"/>
              <a:t>Approche compatibilité</a:t>
            </a:r>
          </a:p>
          <a:p>
            <a:endParaRPr lang="fr-FR" dirty="0"/>
          </a:p>
          <a:p>
            <a:r>
              <a:rPr lang="fr-FR" dirty="0"/>
              <a:t>Semaine 5</a:t>
            </a:r>
          </a:p>
          <a:p>
            <a:r>
              <a:rPr lang="fr-FR" dirty="0"/>
              <a:t>Évaluation + comparaison</a:t>
            </a:r>
          </a:p>
          <a:p>
            <a:endParaRPr lang="fr-FR" dirty="0"/>
          </a:p>
          <a:p>
            <a:r>
              <a:rPr lang="fr-FR" dirty="0"/>
              <a:t>Semaine 6</a:t>
            </a:r>
          </a:p>
          <a:p>
            <a:r>
              <a:rPr lang="fr-FR" dirty="0"/>
              <a:t>Synthèse + recommandation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7664563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B8C922-00AF-FBE1-4825-2F061FFDA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4D267AD-D6D5-A830-163A-90AFC72E7D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Ressources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79B5C4DB-219A-9730-49D2-A82F5BD7EC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fr-FR" altLang="fr-FR" dirty="0">
                <a:latin typeface="Arial" panose="020B0604020202020204" pitchFamily="34" charset="0"/>
              </a:rPr>
              <a:t>Data </a:t>
            </a:r>
            <a:r>
              <a:rPr lang="fr-FR" altLang="fr-FR" dirty="0" err="1">
                <a:latin typeface="Arial" panose="020B0604020202020204" pitchFamily="34" charset="0"/>
              </a:rPr>
              <a:t>Scientist</a:t>
            </a:r>
            <a:r>
              <a:rPr lang="fr-FR" altLang="fr-FR" dirty="0">
                <a:latin typeface="Arial" panose="020B0604020202020204" pitchFamily="34" charset="0"/>
              </a:rPr>
              <a:t> / ML </a:t>
            </a:r>
            <a:r>
              <a:rPr lang="fr-FR" altLang="fr-FR" dirty="0" err="1">
                <a:latin typeface="Arial" panose="020B0604020202020204" pitchFamily="34" charset="0"/>
              </a:rPr>
              <a:t>Engineer</a:t>
            </a:r>
            <a:r>
              <a:rPr lang="fr-FR" altLang="fr-FR" dirty="0">
                <a:latin typeface="Arial" panose="020B0604020202020204" pitchFamily="34" charset="0"/>
              </a:rPr>
              <a:t> 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fr-FR" altLang="fr-FR" dirty="0">
                <a:latin typeface="Arial" panose="020B0604020202020204" pitchFamily="34" charset="0"/>
              </a:rPr>
              <a:t>Expertise métier mode 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fr-FR" altLang="fr-FR" dirty="0">
                <a:latin typeface="Arial" panose="020B0604020202020204" pitchFamily="34" charset="0"/>
              </a:rPr>
              <a:t>Product </a:t>
            </a:r>
            <a:r>
              <a:rPr lang="fr-FR" altLang="fr-FR" dirty="0" err="1">
                <a:latin typeface="Arial" panose="020B0604020202020204" pitchFamily="34" charset="0"/>
              </a:rPr>
              <a:t>Owner</a:t>
            </a:r>
            <a:r>
              <a:rPr lang="fr-FR" altLang="fr-FR" dirty="0">
                <a:latin typeface="Arial" panose="020B0604020202020204" pitchFamily="34" charset="0"/>
              </a:rPr>
              <a:t> 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fr-FR" altLang="fr-FR" dirty="0">
                <a:latin typeface="Arial" panose="020B0604020202020204" pitchFamily="34" charset="0"/>
              </a:rPr>
              <a:t>éventuellement Data </a:t>
            </a:r>
            <a:r>
              <a:rPr lang="fr-FR" altLang="fr-FR" dirty="0" err="1">
                <a:latin typeface="Arial" panose="020B0604020202020204" pitchFamily="34" charset="0"/>
              </a:rPr>
              <a:t>Engineer</a:t>
            </a:r>
            <a:r>
              <a:rPr lang="fr-FR" altLang="fr-FR" dirty="0">
                <a:latin typeface="Arial" panose="020B0604020202020204" pitchFamily="34" charset="0"/>
              </a:rPr>
              <a:t> 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fr-FR" altLang="fr-FR" dirty="0">
                <a:latin typeface="Arial" panose="020B0604020202020204" pitchFamily="34" charset="0"/>
              </a:rPr>
              <a:t>éventuellement expert UX pour définir la pertinence des recommandations. 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59015163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1D1166-0026-CA59-CF02-8DACBFEBF4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5D085CC-6B9B-B083-258D-750F67DCD65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Résultat attendu et décision à l'issue du </a:t>
            </a:r>
            <a:r>
              <a:rPr lang="fr-FR" dirty="0" err="1"/>
              <a:t>PoC</a:t>
            </a:r>
            <a:endParaRPr lang="fr-FR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44B6C0F8-E6F3-A896-DEA8-99556808C51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dirty="0"/>
              <a:t>Nous saurons si les données disponibles permettent de construire un moteur de recommandation suffisamment pertinent, quelle approche technique est exploitable et quelles sont les conditions nécessaires pour passer à un MVP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5B80DB85-508C-733E-F756-64DFD3642726}"/>
              </a:ext>
            </a:extLst>
          </p:cNvPr>
          <p:cNvSpPr txBox="1"/>
          <p:nvPr/>
        </p:nvSpPr>
        <p:spPr>
          <a:xfrm>
            <a:off x="638629" y="5525477"/>
            <a:ext cx="1124857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Le </a:t>
            </a:r>
            <a:r>
              <a:rPr lang="fr-FR" dirty="0" err="1"/>
              <a:t>PoC</a:t>
            </a:r>
            <a:r>
              <a:rPr lang="fr-FR" dirty="0"/>
              <a:t> doit permettre de passer d’une hypothèse technologique à une décision éclairée sur la faisabilité et la poursuite du projet.</a:t>
            </a:r>
          </a:p>
        </p:txBody>
      </p:sp>
    </p:spTree>
    <p:extLst>
      <p:ext uri="{BB962C8B-B14F-4D97-AF65-F5344CB8AC3E}">
        <p14:creationId xmlns:p14="http://schemas.microsoft.com/office/powerpoint/2010/main" val="142476664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919</TotalTime>
  <Words>2646</Words>
  <Application>Microsoft Office PowerPoint</Application>
  <PresentationFormat>Grand écran</PresentationFormat>
  <Paragraphs>472</Paragraphs>
  <Slides>31</Slides>
  <Notes>25</Notes>
  <HiddenSlides>0</HiddenSlides>
  <MMClips>0</MMClips>
  <ScaleCrop>false</ScaleCrop>
  <HeadingPairs>
    <vt:vector size="8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Serveurs OLE incorporés</vt:lpstr>
      </vt:variant>
      <vt:variant>
        <vt:i4>0</vt:i4>
      </vt:variant>
      <vt:variant>
        <vt:lpstr>Titres des diapositives</vt:lpstr>
      </vt:variant>
      <vt:variant>
        <vt:i4>31</vt:i4>
      </vt:variant>
    </vt:vector>
  </HeadingPairs>
  <TitlesOfParts>
    <vt:vector size="36" baseType="lpstr">
      <vt:lpstr>Arial</vt:lpstr>
      <vt:lpstr>Calibri</vt:lpstr>
      <vt:lpstr>Calibri Light</vt:lpstr>
      <vt:lpstr>Courier New</vt:lpstr>
      <vt:lpstr>Thème Office</vt:lpstr>
      <vt:lpstr>Contexte et objectif du PoC</vt:lpstr>
      <vt:lpstr>Besoin métier</vt:lpstr>
      <vt:lpstr>Fonctionnalité centrale ciblée</vt:lpstr>
      <vt:lpstr>Périmètre du PoC</vt:lpstr>
      <vt:lpstr>Traduction du besoin en problème ML/IA</vt:lpstr>
      <vt:lpstr>(A Consolider)</vt:lpstr>
      <vt:lpstr>Présentation PowerPoint</vt:lpstr>
      <vt:lpstr>Approche 1 : Recommandation par similarité</vt:lpstr>
      <vt:lpstr>Photo vêtement        ↓ Modèle vision / vision-langage        ↓ Embedding        ↓ Recherche d'articles proches        ↓ Classement</vt:lpstr>
      <vt:lpstr>Exemple</vt:lpstr>
      <vt:lpstr>Approche 2 : Recommandation par compatibilité</vt:lpstr>
      <vt:lpstr>Présentation PowerPoint</vt:lpstr>
      <vt:lpstr>D'où vient le signal de compatibilité ?</vt:lpstr>
      <vt:lpstr>D'où vient le signal de compatibilité ?</vt:lpstr>
      <vt:lpstr>Ce que le modèle apprend</vt:lpstr>
      <vt:lpstr>utiliser ces scores pour rechercher les meilleurs compléments à la garde-robe</vt:lpstr>
      <vt:lpstr>Présentation PowerPoint</vt:lpstr>
      <vt:lpstr>Données nécessaires</vt:lpstr>
      <vt:lpstr>Comparaison des deux approches</vt:lpstr>
      <vt:lpstr>Représentation des vêtements</vt:lpstr>
      <vt:lpstr>Présentation PowerPoint</vt:lpstr>
      <vt:lpstr>Datasets et stratégie de données</vt:lpstr>
      <vt:lpstr>Protocole expérimental</vt:lpstr>
      <vt:lpstr>Présentation PowerPoint</vt:lpstr>
      <vt:lpstr>Métriques et critères de succès</vt:lpstr>
      <vt:lpstr>métriques techniques</vt:lpstr>
      <vt:lpstr>Critère métier</vt:lpstr>
      <vt:lpstr>Planning et Ressources</vt:lpstr>
      <vt:lpstr>Planning</vt:lpstr>
      <vt:lpstr>Ressources</vt:lpstr>
      <vt:lpstr>Résultat attendu et décision à l'issue du PoC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auguey</dc:creator>
  <cp:lastModifiedBy>thomas auguey</cp:lastModifiedBy>
  <cp:revision>101</cp:revision>
  <dcterms:created xsi:type="dcterms:W3CDTF">2026-09-21T07:42:57Z</dcterms:created>
  <dcterms:modified xsi:type="dcterms:W3CDTF">2026-09-23T16:30:50Z</dcterms:modified>
</cp:coreProperties>
</file>