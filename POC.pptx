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96" r:id="rId2"/>
    <p:sldId id="256" r:id="rId3"/>
    <p:sldId id="257" r:id="rId4"/>
    <p:sldId id="258" r:id="rId5"/>
    <p:sldId id="259" r:id="rId6"/>
    <p:sldId id="272" r:id="rId7"/>
    <p:sldId id="269" r:id="rId8"/>
    <p:sldId id="262" r:id="rId9"/>
    <p:sldId id="273" r:id="rId10"/>
    <p:sldId id="294" r:id="rId11"/>
    <p:sldId id="291" r:id="rId12"/>
    <p:sldId id="274" r:id="rId13"/>
    <p:sldId id="263" r:id="rId14"/>
    <p:sldId id="293" r:id="rId15"/>
    <p:sldId id="286" r:id="rId16"/>
    <p:sldId id="292" r:id="rId17"/>
    <p:sldId id="287" r:id="rId18"/>
    <p:sldId id="289" r:id="rId19"/>
    <p:sldId id="276" r:id="rId20"/>
    <p:sldId id="288" r:id="rId21"/>
    <p:sldId id="277" r:id="rId22"/>
    <p:sldId id="264" r:id="rId23"/>
    <p:sldId id="281" r:id="rId24"/>
    <p:sldId id="295" r:id="rId25"/>
    <p:sldId id="265" r:id="rId26"/>
    <p:sldId id="283" r:id="rId27"/>
    <p:sldId id="266" r:id="rId28"/>
    <p:sldId id="284" r:id="rId29"/>
    <p:sldId id="267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7" autoAdjust="0"/>
    <p:restoredTop sz="65762" autoAdjust="0"/>
  </p:normalViewPr>
  <p:slideViewPr>
    <p:cSldViewPr snapToGrid="0">
      <p:cViewPr varScale="1">
        <p:scale>
          <a:sx n="74" d="100"/>
          <a:sy n="74" d="100"/>
        </p:scale>
        <p:origin x="8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1B29DEA-0A68-4E26-AC4D-27956AF0F6E8}" type="doc">
      <dgm:prSet loTypeId="urn:microsoft.com/office/officeart/2005/8/layout/chevron1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0519A3FF-91C8-4618-BE21-06F133796B8A}">
      <dgm:prSet phldrT="[Texte]" phldr="0" custT="1"/>
      <dgm:spPr/>
      <dgm:t>
        <a:bodyPr/>
        <a:lstStyle/>
        <a:p>
          <a:r>
            <a:rPr lang="fr-FR" sz="1400" b="1" dirty="0">
              <a:solidFill>
                <a:schemeClr val="tx1"/>
              </a:solidFill>
            </a:rPr>
            <a:t>Cadrage + sélection </a:t>
          </a:r>
          <a:r>
            <a:rPr lang="fr-FR" sz="1400" b="1" dirty="0" err="1">
              <a:solidFill>
                <a:schemeClr val="tx1"/>
              </a:solidFill>
            </a:rPr>
            <a:t>dataset</a:t>
          </a:r>
          <a:endParaRPr lang="fr-FR" sz="1400" b="1" dirty="0">
            <a:solidFill>
              <a:schemeClr val="tx1"/>
            </a:solidFill>
          </a:endParaRPr>
        </a:p>
      </dgm:t>
    </dgm:pt>
    <dgm:pt modelId="{D3476268-2B67-4BBC-87C3-B595020B2CB2}" type="parTrans" cxnId="{B60AA0E4-D630-43D7-A782-96949EEE3B42}">
      <dgm:prSet/>
      <dgm:spPr/>
      <dgm:t>
        <a:bodyPr/>
        <a:lstStyle/>
        <a:p>
          <a:endParaRPr lang="fr-FR" sz="2400" b="1">
            <a:solidFill>
              <a:schemeClr val="tx1"/>
            </a:solidFill>
          </a:endParaRPr>
        </a:p>
      </dgm:t>
    </dgm:pt>
    <dgm:pt modelId="{BE479E32-2A18-48DF-966C-07D27ED69A30}" type="sibTrans" cxnId="{B60AA0E4-D630-43D7-A782-96949EEE3B42}">
      <dgm:prSet/>
      <dgm:spPr/>
      <dgm:t>
        <a:bodyPr/>
        <a:lstStyle/>
        <a:p>
          <a:endParaRPr lang="fr-FR" sz="2400" b="1">
            <a:solidFill>
              <a:schemeClr val="tx1"/>
            </a:solidFill>
          </a:endParaRPr>
        </a:p>
      </dgm:t>
    </dgm:pt>
    <dgm:pt modelId="{3B00D6CC-2E9E-45DA-B9D5-BB2B6CA75814}">
      <dgm:prSet phldrT="[Texte]" phldr="0" custT="1"/>
      <dgm:spPr/>
      <dgm:t>
        <a:bodyPr/>
        <a:lstStyle/>
        <a:p>
          <a:r>
            <a:rPr lang="fr-FR" sz="1400" b="1" dirty="0">
              <a:solidFill>
                <a:schemeClr val="tx1"/>
              </a:solidFill>
            </a:rPr>
            <a:t>Préparation du jeu de test</a:t>
          </a:r>
        </a:p>
      </dgm:t>
    </dgm:pt>
    <dgm:pt modelId="{3731E8AB-22E7-4E77-9820-3063555AA0A7}" type="parTrans" cxnId="{1928BC65-BD34-40D0-98AC-FA808EEC1A52}">
      <dgm:prSet/>
      <dgm:spPr/>
      <dgm:t>
        <a:bodyPr/>
        <a:lstStyle/>
        <a:p>
          <a:endParaRPr lang="fr-FR" sz="2400" b="1">
            <a:solidFill>
              <a:schemeClr val="tx1"/>
            </a:solidFill>
          </a:endParaRPr>
        </a:p>
      </dgm:t>
    </dgm:pt>
    <dgm:pt modelId="{28009EF6-5F6F-405C-A80E-E0FCDE2965B4}" type="sibTrans" cxnId="{1928BC65-BD34-40D0-98AC-FA808EEC1A52}">
      <dgm:prSet/>
      <dgm:spPr/>
      <dgm:t>
        <a:bodyPr/>
        <a:lstStyle/>
        <a:p>
          <a:endParaRPr lang="fr-FR" sz="2400" b="1">
            <a:solidFill>
              <a:schemeClr val="tx1"/>
            </a:solidFill>
          </a:endParaRPr>
        </a:p>
      </dgm:t>
    </dgm:pt>
    <dgm:pt modelId="{37DEF62A-048E-4582-BCB7-BDDFE4F26A0F}">
      <dgm:prSet phldrT="[Texte]" phldr="0" custT="1"/>
      <dgm:spPr/>
      <dgm:t>
        <a:bodyPr/>
        <a:lstStyle/>
        <a:p>
          <a:r>
            <a:rPr lang="fr-FR" sz="1400" b="1" dirty="0">
              <a:solidFill>
                <a:schemeClr val="tx1"/>
              </a:solidFill>
            </a:rPr>
            <a:t>Baseline + approche similaire</a:t>
          </a:r>
        </a:p>
      </dgm:t>
    </dgm:pt>
    <dgm:pt modelId="{7E57DD9B-01AC-4D08-A2F8-4D9956D7DF97}" type="parTrans" cxnId="{D69496F1-05B0-4E26-97BF-A53F75C45E0E}">
      <dgm:prSet/>
      <dgm:spPr/>
      <dgm:t>
        <a:bodyPr/>
        <a:lstStyle/>
        <a:p>
          <a:endParaRPr lang="fr-FR" sz="2400" b="1">
            <a:solidFill>
              <a:schemeClr val="tx1"/>
            </a:solidFill>
          </a:endParaRPr>
        </a:p>
      </dgm:t>
    </dgm:pt>
    <dgm:pt modelId="{73B6CD2A-1127-4D71-B9B2-58EA2B9F4BB6}" type="sibTrans" cxnId="{D69496F1-05B0-4E26-97BF-A53F75C45E0E}">
      <dgm:prSet/>
      <dgm:spPr/>
      <dgm:t>
        <a:bodyPr/>
        <a:lstStyle/>
        <a:p>
          <a:endParaRPr lang="fr-FR" sz="2400" b="1">
            <a:solidFill>
              <a:schemeClr val="tx1"/>
            </a:solidFill>
          </a:endParaRPr>
        </a:p>
      </dgm:t>
    </dgm:pt>
    <dgm:pt modelId="{B05FE973-B580-4B76-BECC-640BF3D2854B}">
      <dgm:prSet phldrT="[Texte]" phldr="0" custT="1"/>
      <dgm:spPr/>
      <dgm:t>
        <a:bodyPr/>
        <a:lstStyle/>
        <a:p>
          <a:r>
            <a:rPr lang="fr-FR" sz="1400" b="1" dirty="0">
              <a:solidFill>
                <a:schemeClr val="tx1"/>
              </a:solidFill>
            </a:rPr>
            <a:t>Approche compatibilité</a:t>
          </a:r>
        </a:p>
      </dgm:t>
    </dgm:pt>
    <dgm:pt modelId="{C15BA855-2EF4-4A30-9C92-12AB4B908A17}" type="parTrans" cxnId="{47F700D3-607A-408A-ABCB-988DC7CAF58A}">
      <dgm:prSet/>
      <dgm:spPr/>
      <dgm:t>
        <a:bodyPr/>
        <a:lstStyle/>
        <a:p>
          <a:endParaRPr lang="fr-FR" sz="2400" b="1">
            <a:solidFill>
              <a:schemeClr val="tx1"/>
            </a:solidFill>
          </a:endParaRPr>
        </a:p>
      </dgm:t>
    </dgm:pt>
    <dgm:pt modelId="{5BCCFA44-4129-4CFF-9DE6-3DA380BACA18}" type="sibTrans" cxnId="{47F700D3-607A-408A-ABCB-988DC7CAF58A}">
      <dgm:prSet/>
      <dgm:spPr/>
      <dgm:t>
        <a:bodyPr/>
        <a:lstStyle/>
        <a:p>
          <a:endParaRPr lang="fr-FR" sz="2400" b="1">
            <a:solidFill>
              <a:schemeClr val="tx1"/>
            </a:solidFill>
          </a:endParaRPr>
        </a:p>
      </dgm:t>
    </dgm:pt>
    <dgm:pt modelId="{8888BC8D-3B71-473F-9652-34C889D6F2DF}">
      <dgm:prSet phldrT="[Texte]" phldr="0" custT="1"/>
      <dgm:spPr/>
      <dgm:t>
        <a:bodyPr/>
        <a:lstStyle/>
        <a:p>
          <a:r>
            <a:rPr lang="fr-FR" sz="1400" b="1" dirty="0">
              <a:solidFill>
                <a:schemeClr val="tx1"/>
              </a:solidFill>
            </a:rPr>
            <a:t>Evaluation + comparaison</a:t>
          </a:r>
        </a:p>
      </dgm:t>
    </dgm:pt>
    <dgm:pt modelId="{2D5755A5-0E0D-4ED9-85DC-460F82A9BAE5}" type="parTrans" cxnId="{3A60A2EE-C085-4552-8F27-747E68979353}">
      <dgm:prSet/>
      <dgm:spPr/>
      <dgm:t>
        <a:bodyPr/>
        <a:lstStyle/>
        <a:p>
          <a:endParaRPr lang="fr-FR" sz="2400" b="1">
            <a:solidFill>
              <a:schemeClr val="tx1"/>
            </a:solidFill>
          </a:endParaRPr>
        </a:p>
      </dgm:t>
    </dgm:pt>
    <dgm:pt modelId="{D5015958-C378-4328-8ACB-8EEBA16EA1B5}" type="sibTrans" cxnId="{3A60A2EE-C085-4552-8F27-747E68979353}">
      <dgm:prSet/>
      <dgm:spPr/>
      <dgm:t>
        <a:bodyPr/>
        <a:lstStyle/>
        <a:p>
          <a:endParaRPr lang="fr-FR" sz="2400" b="1">
            <a:solidFill>
              <a:schemeClr val="tx1"/>
            </a:solidFill>
          </a:endParaRPr>
        </a:p>
      </dgm:t>
    </dgm:pt>
    <dgm:pt modelId="{AF373310-C32F-4ECB-9CAA-948A53A3D2DA}">
      <dgm:prSet phldrT="[Texte]" phldr="0" custT="1"/>
      <dgm:spPr/>
      <dgm:t>
        <a:bodyPr/>
        <a:lstStyle/>
        <a:p>
          <a:r>
            <a:rPr lang="fr-FR" sz="1400" b="1" dirty="0">
              <a:solidFill>
                <a:schemeClr val="tx1"/>
              </a:solidFill>
            </a:rPr>
            <a:t>Synthèse + recommandation</a:t>
          </a:r>
        </a:p>
      </dgm:t>
    </dgm:pt>
    <dgm:pt modelId="{1FF8DA82-5236-48EE-B716-71927AAD278B}" type="parTrans" cxnId="{B02495B7-B15C-4435-A7E9-B075BF6D6A61}">
      <dgm:prSet/>
      <dgm:spPr/>
      <dgm:t>
        <a:bodyPr/>
        <a:lstStyle/>
        <a:p>
          <a:endParaRPr lang="fr-FR" sz="2400" b="1">
            <a:solidFill>
              <a:schemeClr val="tx1"/>
            </a:solidFill>
          </a:endParaRPr>
        </a:p>
      </dgm:t>
    </dgm:pt>
    <dgm:pt modelId="{80B9F9FE-4739-456B-AD4F-BBDFD1850EB8}" type="sibTrans" cxnId="{B02495B7-B15C-4435-A7E9-B075BF6D6A61}">
      <dgm:prSet/>
      <dgm:spPr/>
      <dgm:t>
        <a:bodyPr/>
        <a:lstStyle/>
        <a:p>
          <a:endParaRPr lang="fr-FR" sz="2400" b="1">
            <a:solidFill>
              <a:schemeClr val="tx1"/>
            </a:solidFill>
          </a:endParaRPr>
        </a:p>
      </dgm:t>
    </dgm:pt>
    <dgm:pt modelId="{5BF970F9-BF41-4126-9064-AED954DBE7B4}" type="pres">
      <dgm:prSet presAssocID="{91B29DEA-0A68-4E26-AC4D-27956AF0F6E8}" presName="Name0" presStyleCnt="0">
        <dgm:presLayoutVars>
          <dgm:dir/>
          <dgm:animLvl val="lvl"/>
          <dgm:resizeHandles val="exact"/>
        </dgm:presLayoutVars>
      </dgm:prSet>
      <dgm:spPr/>
    </dgm:pt>
    <dgm:pt modelId="{47A6A269-C7AF-44D5-B463-E473C18E3281}" type="pres">
      <dgm:prSet presAssocID="{0519A3FF-91C8-4618-BE21-06F133796B8A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98FDA0FD-D0F2-4736-9C5B-67891A75BBCA}" type="pres">
      <dgm:prSet presAssocID="{BE479E32-2A18-48DF-966C-07D27ED69A30}" presName="parTxOnlySpace" presStyleCnt="0"/>
      <dgm:spPr/>
    </dgm:pt>
    <dgm:pt modelId="{11BB91AF-3E3D-4BC3-8D2E-D8AAFD7C24A6}" type="pres">
      <dgm:prSet presAssocID="{3B00D6CC-2E9E-45DA-B9D5-BB2B6CA75814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EAD102C4-336E-4513-81FF-B1D98048E080}" type="pres">
      <dgm:prSet presAssocID="{28009EF6-5F6F-405C-A80E-E0FCDE2965B4}" presName="parTxOnlySpace" presStyleCnt="0"/>
      <dgm:spPr/>
    </dgm:pt>
    <dgm:pt modelId="{D7A65328-E877-432C-8E1F-9FCD6E6AE407}" type="pres">
      <dgm:prSet presAssocID="{37DEF62A-048E-4582-BCB7-BDDFE4F26A0F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D6EC0B75-B503-43C8-895C-F6737925D979}" type="pres">
      <dgm:prSet presAssocID="{73B6CD2A-1127-4D71-B9B2-58EA2B9F4BB6}" presName="parTxOnlySpace" presStyleCnt="0"/>
      <dgm:spPr/>
    </dgm:pt>
    <dgm:pt modelId="{E7DF5CE4-D8F5-4588-B0FB-3004F8F8B634}" type="pres">
      <dgm:prSet presAssocID="{B05FE973-B580-4B76-BECC-640BF3D2854B}" presName="parTxOnly" presStyleLbl="node1" presStyleIdx="3" presStyleCnt="6" custScaleX="159221">
        <dgm:presLayoutVars>
          <dgm:chMax val="0"/>
          <dgm:chPref val="0"/>
          <dgm:bulletEnabled val="1"/>
        </dgm:presLayoutVars>
      </dgm:prSet>
      <dgm:spPr/>
    </dgm:pt>
    <dgm:pt modelId="{CBF76F53-E1A0-45EC-8193-9B927D79E97E}" type="pres">
      <dgm:prSet presAssocID="{5BCCFA44-4129-4CFF-9DE6-3DA380BACA18}" presName="parTxOnlySpace" presStyleCnt="0"/>
      <dgm:spPr/>
    </dgm:pt>
    <dgm:pt modelId="{38770543-A132-4C7B-BB37-E464899E22C4}" type="pres">
      <dgm:prSet presAssocID="{8888BC8D-3B71-473F-9652-34C889D6F2DF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9ED09B34-1A7B-4402-AB7D-034B2265551A}" type="pres">
      <dgm:prSet presAssocID="{D5015958-C378-4328-8ACB-8EEBA16EA1B5}" presName="parTxOnlySpace" presStyleCnt="0"/>
      <dgm:spPr/>
    </dgm:pt>
    <dgm:pt modelId="{B6E4646C-F93F-42DE-861F-B7582C95DFC6}" type="pres">
      <dgm:prSet presAssocID="{AF373310-C32F-4ECB-9CAA-948A53A3D2DA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CA488412-84D7-4CC9-8ED1-27433858D082}" type="presOf" srcId="{91B29DEA-0A68-4E26-AC4D-27956AF0F6E8}" destId="{5BF970F9-BF41-4126-9064-AED954DBE7B4}" srcOrd="0" destOrd="0" presId="urn:microsoft.com/office/officeart/2005/8/layout/chevron1"/>
    <dgm:cxn modelId="{32BC9C3E-CF0A-45E0-9372-820E9A4409DA}" type="presOf" srcId="{8888BC8D-3B71-473F-9652-34C889D6F2DF}" destId="{38770543-A132-4C7B-BB37-E464899E22C4}" srcOrd="0" destOrd="0" presId="urn:microsoft.com/office/officeart/2005/8/layout/chevron1"/>
    <dgm:cxn modelId="{91F5223F-72CE-4A14-A309-1A421B7CAA39}" type="presOf" srcId="{3B00D6CC-2E9E-45DA-B9D5-BB2B6CA75814}" destId="{11BB91AF-3E3D-4BC3-8D2E-D8AAFD7C24A6}" srcOrd="0" destOrd="0" presId="urn:microsoft.com/office/officeart/2005/8/layout/chevron1"/>
    <dgm:cxn modelId="{1928BC65-BD34-40D0-98AC-FA808EEC1A52}" srcId="{91B29DEA-0A68-4E26-AC4D-27956AF0F6E8}" destId="{3B00D6CC-2E9E-45DA-B9D5-BB2B6CA75814}" srcOrd="1" destOrd="0" parTransId="{3731E8AB-22E7-4E77-9820-3063555AA0A7}" sibTransId="{28009EF6-5F6F-405C-A80E-E0FCDE2965B4}"/>
    <dgm:cxn modelId="{31A0034B-7496-4638-BF7E-155ED2829D22}" type="presOf" srcId="{AF373310-C32F-4ECB-9CAA-948A53A3D2DA}" destId="{B6E4646C-F93F-42DE-861F-B7582C95DFC6}" srcOrd="0" destOrd="0" presId="urn:microsoft.com/office/officeart/2005/8/layout/chevron1"/>
    <dgm:cxn modelId="{40700070-6513-4256-B841-71B054E8B756}" type="presOf" srcId="{0519A3FF-91C8-4618-BE21-06F133796B8A}" destId="{47A6A269-C7AF-44D5-B463-E473C18E3281}" srcOrd="0" destOrd="0" presId="urn:microsoft.com/office/officeart/2005/8/layout/chevron1"/>
    <dgm:cxn modelId="{E022F872-FB2F-4845-9909-7A6D61CF0115}" type="presOf" srcId="{37DEF62A-048E-4582-BCB7-BDDFE4F26A0F}" destId="{D7A65328-E877-432C-8E1F-9FCD6E6AE407}" srcOrd="0" destOrd="0" presId="urn:microsoft.com/office/officeart/2005/8/layout/chevron1"/>
    <dgm:cxn modelId="{B02495B7-B15C-4435-A7E9-B075BF6D6A61}" srcId="{91B29DEA-0A68-4E26-AC4D-27956AF0F6E8}" destId="{AF373310-C32F-4ECB-9CAA-948A53A3D2DA}" srcOrd="5" destOrd="0" parTransId="{1FF8DA82-5236-48EE-B716-71927AAD278B}" sibTransId="{80B9F9FE-4739-456B-AD4F-BBDFD1850EB8}"/>
    <dgm:cxn modelId="{47F700D3-607A-408A-ABCB-988DC7CAF58A}" srcId="{91B29DEA-0A68-4E26-AC4D-27956AF0F6E8}" destId="{B05FE973-B580-4B76-BECC-640BF3D2854B}" srcOrd="3" destOrd="0" parTransId="{C15BA855-2EF4-4A30-9C92-12AB4B908A17}" sibTransId="{5BCCFA44-4129-4CFF-9DE6-3DA380BACA18}"/>
    <dgm:cxn modelId="{9C9122DD-0F84-4E1A-BDDF-DEDAA35BED65}" type="presOf" srcId="{B05FE973-B580-4B76-BECC-640BF3D2854B}" destId="{E7DF5CE4-D8F5-4588-B0FB-3004F8F8B634}" srcOrd="0" destOrd="0" presId="urn:microsoft.com/office/officeart/2005/8/layout/chevron1"/>
    <dgm:cxn modelId="{B60AA0E4-D630-43D7-A782-96949EEE3B42}" srcId="{91B29DEA-0A68-4E26-AC4D-27956AF0F6E8}" destId="{0519A3FF-91C8-4618-BE21-06F133796B8A}" srcOrd="0" destOrd="0" parTransId="{D3476268-2B67-4BBC-87C3-B595020B2CB2}" sibTransId="{BE479E32-2A18-48DF-966C-07D27ED69A30}"/>
    <dgm:cxn modelId="{3A60A2EE-C085-4552-8F27-747E68979353}" srcId="{91B29DEA-0A68-4E26-AC4D-27956AF0F6E8}" destId="{8888BC8D-3B71-473F-9652-34C889D6F2DF}" srcOrd="4" destOrd="0" parTransId="{2D5755A5-0E0D-4ED9-85DC-460F82A9BAE5}" sibTransId="{D5015958-C378-4328-8ACB-8EEBA16EA1B5}"/>
    <dgm:cxn modelId="{D69496F1-05B0-4E26-97BF-A53F75C45E0E}" srcId="{91B29DEA-0A68-4E26-AC4D-27956AF0F6E8}" destId="{37DEF62A-048E-4582-BCB7-BDDFE4F26A0F}" srcOrd="2" destOrd="0" parTransId="{7E57DD9B-01AC-4D08-A2F8-4D9956D7DF97}" sibTransId="{73B6CD2A-1127-4D71-B9B2-58EA2B9F4BB6}"/>
    <dgm:cxn modelId="{80DB0050-4D99-4E0E-81E7-50D2C070F6E2}" type="presParOf" srcId="{5BF970F9-BF41-4126-9064-AED954DBE7B4}" destId="{47A6A269-C7AF-44D5-B463-E473C18E3281}" srcOrd="0" destOrd="0" presId="urn:microsoft.com/office/officeart/2005/8/layout/chevron1"/>
    <dgm:cxn modelId="{9B23FAE1-AF3D-4BF2-8CFF-7A0EC43BAE4A}" type="presParOf" srcId="{5BF970F9-BF41-4126-9064-AED954DBE7B4}" destId="{98FDA0FD-D0F2-4736-9C5B-67891A75BBCA}" srcOrd="1" destOrd="0" presId="urn:microsoft.com/office/officeart/2005/8/layout/chevron1"/>
    <dgm:cxn modelId="{B9A49CB1-C226-44EC-BA94-CA43C83F5411}" type="presParOf" srcId="{5BF970F9-BF41-4126-9064-AED954DBE7B4}" destId="{11BB91AF-3E3D-4BC3-8D2E-D8AAFD7C24A6}" srcOrd="2" destOrd="0" presId="urn:microsoft.com/office/officeart/2005/8/layout/chevron1"/>
    <dgm:cxn modelId="{2E6B05F4-290B-43AB-8758-BB162A7F491B}" type="presParOf" srcId="{5BF970F9-BF41-4126-9064-AED954DBE7B4}" destId="{EAD102C4-336E-4513-81FF-B1D98048E080}" srcOrd="3" destOrd="0" presId="urn:microsoft.com/office/officeart/2005/8/layout/chevron1"/>
    <dgm:cxn modelId="{67863340-F066-4775-93F1-1AA7B5173A8E}" type="presParOf" srcId="{5BF970F9-BF41-4126-9064-AED954DBE7B4}" destId="{D7A65328-E877-432C-8E1F-9FCD6E6AE407}" srcOrd="4" destOrd="0" presId="urn:microsoft.com/office/officeart/2005/8/layout/chevron1"/>
    <dgm:cxn modelId="{1F005B99-DF38-434C-ACC8-30DB57F1E32A}" type="presParOf" srcId="{5BF970F9-BF41-4126-9064-AED954DBE7B4}" destId="{D6EC0B75-B503-43C8-895C-F6737925D979}" srcOrd="5" destOrd="0" presId="urn:microsoft.com/office/officeart/2005/8/layout/chevron1"/>
    <dgm:cxn modelId="{6176C596-2BE7-4265-91F1-C7F93AD32442}" type="presParOf" srcId="{5BF970F9-BF41-4126-9064-AED954DBE7B4}" destId="{E7DF5CE4-D8F5-4588-B0FB-3004F8F8B634}" srcOrd="6" destOrd="0" presId="urn:microsoft.com/office/officeart/2005/8/layout/chevron1"/>
    <dgm:cxn modelId="{1A7898AE-7B8D-4931-95D6-97FB21AAA795}" type="presParOf" srcId="{5BF970F9-BF41-4126-9064-AED954DBE7B4}" destId="{CBF76F53-E1A0-45EC-8193-9B927D79E97E}" srcOrd="7" destOrd="0" presId="urn:microsoft.com/office/officeart/2005/8/layout/chevron1"/>
    <dgm:cxn modelId="{A8B37E75-F57C-42B7-843E-5169078EC6A2}" type="presParOf" srcId="{5BF970F9-BF41-4126-9064-AED954DBE7B4}" destId="{38770543-A132-4C7B-BB37-E464899E22C4}" srcOrd="8" destOrd="0" presId="urn:microsoft.com/office/officeart/2005/8/layout/chevron1"/>
    <dgm:cxn modelId="{7FDE6955-86F2-4440-B0C7-FFFE2B18949E}" type="presParOf" srcId="{5BF970F9-BF41-4126-9064-AED954DBE7B4}" destId="{9ED09B34-1A7B-4402-AB7D-034B2265551A}" srcOrd="9" destOrd="0" presId="urn:microsoft.com/office/officeart/2005/8/layout/chevron1"/>
    <dgm:cxn modelId="{57AC1051-C38B-45D5-9324-9A0DA4FF90E3}" type="presParOf" srcId="{5BF970F9-BF41-4126-9064-AED954DBE7B4}" destId="{B6E4646C-F93F-42DE-861F-B7582C95DFC6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A6A269-C7AF-44D5-B463-E473C18E3281}">
      <dsp:nvSpPr>
        <dsp:cNvPr id="0" name=""/>
        <dsp:cNvSpPr/>
      </dsp:nvSpPr>
      <dsp:spPr>
        <a:xfrm>
          <a:off x="3028" y="262731"/>
          <a:ext cx="2000249" cy="800099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tx1"/>
              </a:solidFill>
            </a:rPr>
            <a:t>Cadrage + sélection </a:t>
          </a:r>
          <a:r>
            <a:rPr lang="fr-FR" sz="1400" b="1" kern="1200" dirty="0" err="1">
              <a:solidFill>
                <a:schemeClr val="tx1"/>
              </a:solidFill>
            </a:rPr>
            <a:t>dataset</a:t>
          </a:r>
          <a:endParaRPr lang="fr-FR" sz="1400" b="1" kern="1200" dirty="0">
            <a:solidFill>
              <a:schemeClr val="tx1"/>
            </a:solidFill>
          </a:endParaRPr>
        </a:p>
      </dsp:txBody>
      <dsp:txXfrm>
        <a:off x="403078" y="262731"/>
        <a:ext cx="1200150" cy="800099"/>
      </dsp:txXfrm>
    </dsp:sp>
    <dsp:sp modelId="{11BB91AF-3E3D-4BC3-8D2E-D8AAFD7C24A6}">
      <dsp:nvSpPr>
        <dsp:cNvPr id="0" name=""/>
        <dsp:cNvSpPr/>
      </dsp:nvSpPr>
      <dsp:spPr>
        <a:xfrm>
          <a:off x="1803253" y="262731"/>
          <a:ext cx="2000249" cy="800099"/>
        </a:xfrm>
        <a:prstGeom prst="chevron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tx1"/>
              </a:solidFill>
            </a:rPr>
            <a:t>Préparation du jeu de test</a:t>
          </a:r>
        </a:p>
      </dsp:txBody>
      <dsp:txXfrm>
        <a:off x="2203303" y="262731"/>
        <a:ext cx="1200150" cy="800099"/>
      </dsp:txXfrm>
    </dsp:sp>
    <dsp:sp modelId="{D7A65328-E877-432C-8E1F-9FCD6E6AE407}">
      <dsp:nvSpPr>
        <dsp:cNvPr id="0" name=""/>
        <dsp:cNvSpPr/>
      </dsp:nvSpPr>
      <dsp:spPr>
        <a:xfrm>
          <a:off x="3603478" y="262731"/>
          <a:ext cx="2000249" cy="800099"/>
        </a:xfrm>
        <a:prstGeom prst="chevron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tx1"/>
              </a:solidFill>
            </a:rPr>
            <a:t>Baseline + approche similaire</a:t>
          </a:r>
        </a:p>
      </dsp:txBody>
      <dsp:txXfrm>
        <a:off x="4003528" y="262731"/>
        <a:ext cx="1200150" cy="800099"/>
      </dsp:txXfrm>
    </dsp:sp>
    <dsp:sp modelId="{E7DF5CE4-D8F5-4588-B0FB-3004F8F8B634}">
      <dsp:nvSpPr>
        <dsp:cNvPr id="0" name=""/>
        <dsp:cNvSpPr/>
      </dsp:nvSpPr>
      <dsp:spPr>
        <a:xfrm>
          <a:off x="5403703" y="262731"/>
          <a:ext cx="3184818" cy="800100"/>
        </a:xfrm>
        <a:prstGeom prst="chevron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tx1"/>
              </a:solidFill>
            </a:rPr>
            <a:t>Approche compatibilité</a:t>
          </a:r>
        </a:p>
      </dsp:txBody>
      <dsp:txXfrm>
        <a:off x="5803753" y="262731"/>
        <a:ext cx="2384718" cy="800100"/>
      </dsp:txXfrm>
    </dsp:sp>
    <dsp:sp modelId="{38770543-A132-4C7B-BB37-E464899E22C4}">
      <dsp:nvSpPr>
        <dsp:cNvPr id="0" name=""/>
        <dsp:cNvSpPr/>
      </dsp:nvSpPr>
      <dsp:spPr>
        <a:xfrm>
          <a:off x="8388496" y="262731"/>
          <a:ext cx="2000249" cy="800099"/>
        </a:xfrm>
        <a:prstGeom prst="chevron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tx1"/>
              </a:solidFill>
            </a:rPr>
            <a:t>Evaluation + comparaison</a:t>
          </a:r>
        </a:p>
      </dsp:txBody>
      <dsp:txXfrm>
        <a:off x="8788546" y="262731"/>
        <a:ext cx="1200150" cy="800099"/>
      </dsp:txXfrm>
    </dsp:sp>
    <dsp:sp modelId="{B6E4646C-F93F-42DE-861F-B7582C95DFC6}">
      <dsp:nvSpPr>
        <dsp:cNvPr id="0" name=""/>
        <dsp:cNvSpPr/>
      </dsp:nvSpPr>
      <dsp:spPr>
        <a:xfrm>
          <a:off x="10188721" y="262731"/>
          <a:ext cx="2000249" cy="800099"/>
        </a:xfrm>
        <a:prstGeom prst="chevron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>
              <a:solidFill>
                <a:schemeClr val="tx1"/>
              </a:solidFill>
            </a:rPr>
            <a:t>Synthèse + recommandation</a:t>
          </a:r>
        </a:p>
      </dsp:txBody>
      <dsp:txXfrm>
        <a:off x="10588771" y="262731"/>
        <a:ext cx="1200150" cy="800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736815-A20C-4B10-B29D-B64D64FDFE35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DC3EE-E837-4216-B82C-A4E0B6F89C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539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21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Quel problème </a:t>
            </a:r>
            <a:r>
              <a:rPr lang="fr-FR" dirty="0" err="1"/>
              <a:t>FashionInsta</a:t>
            </a:r>
            <a:r>
              <a:rPr lang="fr-FR" dirty="0"/>
              <a:t> veut résoudre ?</a:t>
            </a:r>
          </a:p>
          <a:p>
            <a:r>
              <a:rPr lang="fr-FR" dirty="0"/>
              <a:t>Catalogue important d’articles / difficile de trouver</a:t>
            </a:r>
          </a:p>
          <a:p>
            <a:r>
              <a:rPr lang="fr-FR" dirty="0"/>
              <a:t>Notre besoin cibler des articles pertinents pour nos utilisateurs</a:t>
            </a:r>
          </a:p>
          <a:p>
            <a:r>
              <a:rPr lang="fr-FR" dirty="0"/>
              <a:t>Augmenter nos ventes en proposant du contenu personnalisé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6629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Identifier </a:t>
            </a:r>
            <a:r>
              <a:rPr lang="fr-FR" dirty="0"/>
              <a:t>les articles susceptibles d’être intéressant pour l’utilisateur</a:t>
            </a:r>
            <a:endParaRPr lang="fr-FR" b="1" dirty="0"/>
          </a:p>
          <a:p>
            <a:r>
              <a:rPr lang="fr-FR" b="1" dirty="0"/>
              <a:t>Classer</a:t>
            </a:r>
            <a:r>
              <a:rPr lang="fr-FR" b="0" dirty="0"/>
              <a:t> les articles par pertinence</a:t>
            </a:r>
          </a:p>
          <a:p>
            <a:r>
              <a:rPr lang="fr-FR" b="1" dirty="0"/>
              <a:t>Proposer </a:t>
            </a:r>
            <a:r>
              <a:rPr lang="fr-FR" b="0" dirty="0"/>
              <a:t>les articles dans une garde robe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188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Pour notre </a:t>
            </a:r>
            <a:r>
              <a:rPr lang="fr-FR" dirty="0" err="1"/>
              <a:t>PoC</a:t>
            </a:r>
            <a:r>
              <a:rPr lang="fr-FR" dirty="0"/>
              <a:t> nous allons nous focalisé sur l’essentiel, c’est à dire….</a:t>
            </a:r>
          </a:p>
          <a:p>
            <a:endParaRPr lang="fr-FR" dirty="0"/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 </a:t>
            </a:r>
            <a:r>
              <a:rPr lang="fr-FR" dirty="0" err="1"/>
              <a:t>PoC</a:t>
            </a:r>
            <a:r>
              <a:rPr lang="fr-FR" dirty="0"/>
              <a:t> valide la faisabilité de la brique de recommandation, pas celle de l'application complète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9880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E77D8-0A1F-E8EC-2AF0-4BA7FE907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901EB5B-9AE2-A23A-B353-CD16BC267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15C3880-567C-1C46-8E98-8959827EC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Note problème ML peut être formulé ainsi: ….</a:t>
            </a:r>
          </a:p>
          <a:p>
            <a:r>
              <a:rPr lang="fr-FR" dirty="0"/>
              <a:t>Prédire la pertinence des articles pour un utilisateur donné, puis classer les articles afin de sélectionner les </a:t>
            </a:r>
            <a:r>
              <a:rPr lang="fr-FR" b="1" dirty="0"/>
              <a:t>Top N recommandations</a:t>
            </a:r>
            <a:r>
              <a:rPr lang="fr-FR" dirty="0"/>
              <a:t>.</a:t>
            </a:r>
          </a:p>
          <a:p>
            <a:endParaRPr lang="fr-FR" b="1" dirty="0"/>
          </a:p>
          <a:p>
            <a:r>
              <a:rPr lang="fr-FR" b="1" dirty="0"/>
              <a:t>Entrées du modèle</a:t>
            </a:r>
            <a:endParaRPr lang="fr-FR" dirty="0"/>
          </a:p>
          <a:p>
            <a:r>
              <a:rPr lang="fr-FR" dirty="0"/>
              <a:t>* Profil et les préférences de l’utilisateur ainsi que Galerie photos (avec ou sans pose de l’utilisateur)</a:t>
            </a:r>
          </a:p>
          <a:p>
            <a:r>
              <a:rPr lang="fr-FR" dirty="0"/>
              <a:t>* Catalogue avec caractéristiques des articles</a:t>
            </a:r>
          </a:p>
          <a:p>
            <a:r>
              <a:rPr lang="fr-FR" b="1" dirty="0"/>
              <a:t>* </a:t>
            </a:r>
            <a:r>
              <a:rPr lang="fr-FR" b="0" dirty="0"/>
              <a:t>Possibilité d’associer un contexte les tendances du moment</a:t>
            </a:r>
          </a:p>
          <a:p>
            <a:endParaRPr lang="fr-FR" b="1" dirty="0"/>
          </a:p>
          <a:p>
            <a:r>
              <a:rPr lang="fr-FR" b="1" dirty="0"/>
              <a:t>Sortie attendue</a:t>
            </a:r>
            <a:endParaRPr lang="fr-FR" dirty="0"/>
          </a:p>
          <a:p>
            <a:r>
              <a:rPr lang="fr-FR" dirty="0"/>
              <a:t>Une liste d’articles </a:t>
            </a:r>
            <a:r>
              <a:rPr lang="fr-FR" b="1" dirty="0"/>
              <a:t>classés par pertinence pour chaque utilisateur</a:t>
            </a:r>
            <a:r>
              <a:rPr lang="fr-FR" dirty="0"/>
              <a:t>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E27DBF7-0B85-9E94-4FBF-E201C7A1C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893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FBD88-2270-9374-0591-F839B3D66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61CEFC4-C020-C4A8-5B84-49E1B7BAC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2F8F500-00DD-5C9E-6863-D9B8E1A86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quelles données le moteur de recommandation a besoin, et ce que l'on possède réellement pour le </a:t>
            </a:r>
            <a:r>
              <a:rPr lang="fr-FR" dirty="0" err="1"/>
              <a:t>PoC</a:t>
            </a:r>
            <a:endParaRPr lang="fr-FR" dirty="0"/>
          </a:p>
          <a:p>
            <a:endParaRPr lang="fr-FR" dirty="0"/>
          </a:p>
          <a:p>
            <a:r>
              <a:rPr lang="fr-FR" dirty="0"/>
              <a:t>Mais ces données ne sont pas encore prêtes il nous faudra les créer dans un premier temps</a:t>
            </a:r>
          </a:p>
          <a:p>
            <a:endParaRPr lang="fr-FR" dirty="0"/>
          </a:p>
          <a:p>
            <a:r>
              <a:rPr lang="fr-FR" dirty="0"/>
              <a:t>Les données (disponibles) ne sont pas encore exploitables sans travail de consolidation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Les données non-disponibles doivent être issue d’un </a:t>
            </a:r>
            <a:r>
              <a:rPr lang="fr-FR" dirty="0" err="1"/>
              <a:t>dataset</a:t>
            </a:r>
            <a:r>
              <a:rPr lang="fr-FR" dirty="0"/>
              <a:t> public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297B478-B5A6-9C10-0C40-9A950DB07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090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transforme les vêtements en représentations vectorielles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7558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DFD2C-AEB5-D8AE-8E58-09F4A6B62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1192155-5FD2-7581-5898-6B596DB72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A796B91-4196-E50A-0E28-D9C1BFF5F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peut utiliser par exemple un modèle de type </a:t>
            </a:r>
            <a:r>
              <a:rPr lang="fr-FR" b="1" dirty="0" err="1"/>
              <a:t>FashionCLIP</a:t>
            </a:r>
            <a:r>
              <a:rPr lang="fr-FR" dirty="0"/>
              <a:t> comme candidat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5BA683-83C6-18BB-44A0-80B15C8183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67786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67FA3-9DC3-EEFA-5CC6-B89C641EE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B08A2F3-F416-0E43-593F-76312B55E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E74FC5B-064B-AE1C-F0D4-CD86C7381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On compare les deux vecteurs</a:t>
            </a:r>
          </a:p>
          <a:p>
            <a:r>
              <a:rPr lang="fr-FR" dirty="0"/>
              <a:t>Une méthode très courante est la </a:t>
            </a:r>
            <a:r>
              <a:rPr lang="fr-FR" b="1" dirty="0"/>
              <a:t>similarité cosinus</a:t>
            </a:r>
            <a:r>
              <a:rPr lang="fr-F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r>
              <a:rPr lang="fr-FR" dirty="0"/>
              <a:t>Si les deux vecteurs pointent dans des directions proches :</a:t>
            </a:r>
          </a:p>
          <a:p>
            <a:pPr rtl="0"/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similarité ≈ 1</a:t>
            </a:r>
          </a:p>
          <a:p>
            <a:r>
              <a:rPr lang="fr-FR" dirty="0"/>
              <a:t>S'ils sont relativement indépendants :</a:t>
            </a:r>
          </a:p>
          <a:p>
            <a:pPr rtl="0"/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similarité ≈ 0</a:t>
            </a:r>
          </a:p>
          <a:p>
            <a:r>
              <a:rPr lang="fr-FR" dirty="0"/>
              <a:t>Et s'ils pointent dans des directions opposées :</a:t>
            </a:r>
          </a:p>
          <a:p>
            <a:pPr rtl="0"/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similarité ≈ -1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B9AC03-EBB5-D9E6-FB7C-E1FBAFA387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926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/>
              <a:t>aligner le </a:t>
            </a:r>
            <a:r>
              <a:rPr lang="fr-FR" sz="1200" b="1" dirty="0" err="1"/>
              <a:t>dataset</a:t>
            </a:r>
            <a:r>
              <a:rPr lang="fr-FR" sz="1200" b="1" dirty="0"/>
              <a:t> avec le catalogue: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/>
              <a:t>normalisation des taxonomies = faire correspondre les méta données avec une table de correspondance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solidFill>
                  <a:schemeClr val="bg1"/>
                </a:solidFill>
                <a:latin typeface="Courier New" panose="02070309020205020404" pitchFamily="49" charset="0"/>
              </a:rPr>
              <a:t>Modèle pré-entrainé ex: </a:t>
            </a:r>
            <a:r>
              <a:rPr lang="fr-FR" sz="1200" dirty="0" err="1">
                <a:solidFill>
                  <a:schemeClr val="bg1"/>
                </a:solidFill>
                <a:latin typeface="Courier New" panose="02070309020205020404" pitchFamily="49" charset="0"/>
              </a:rPr>
              <a:t>FashionCLIP</a:t>
            </a: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score = 0.7 × </a:t>
            </a:r>
            <a:r>
              <a:rPr lang="fr-FR" dirty="0" err="1"/>
              <a:t>similarité_image</a:t>
            </a:r>
            <a:r>
              <a:rPr lang="fr-FR" dirty="0"/>
              <a:t> + 0.2 × </a:t>
            </a:r>
            <a:r>
              <a:rPr lang="fr-FR" dirty="0" err="1"/>
              <a:t>similarité_style</a:t>
            </a:r>
            <a:r>
              <a:rPr lang="fr-FR" dirty="0"/>
              <a:t> + 0.1 × </a:t>
            </a:r>
            <a:r>
              <a:rPr lang="fr-FR" dirty="0" err="1"/>
              <a:t>similarité_couleur</a:t>
            </a: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Les coefficients seraient à déterminer expérimentalement.</a:t>
            </a:r>
            <a:endParaRPr lang="fr-FR" sz="1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1194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donc des choix pertinents pour remplacer un élément de la garde robe par un élément du même style</a:t>
            </a:r>
          </a:p>
          <a:p>
            <a:r>
              <a:rPr lang="fr-FR" dirty="0"/>
              <a:t>Mais cela ne suffit par à proposer une recommandation avec de nouveaux vêtements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7204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Approche 2 — Recommandation IA multimodale</a:t>
            </a:r>
          </a:p>
          <a:p>
            <a:r>
              <a:rPr lang="fr-FR" b="1" dirty="0"/>
              <a:t>Principe</a:t>
            </a:r>
            <a:endParaRPr lang="fr-FR" dirty="0"/>
          </a:p>
          <a:p>
            <a:r>
              <a:rPr lang="fr-FR" dirty="0"/>
              <a:t>Exploiter plusieurs modalités décrivant les articles afin de construire une représentation de leur contenu et d’identifier ceux qui correspondent aux préférences de l’utilisateur.</a:t>
            </a:r>
          </a:p>
          <a:p>
            <a:r>
              <a:rPr lang="fr-FR" b="1" dirty="0"/>
              <a:t>Données utilisées</a:t>
            </a:r>
            <a:endParaRPr lang="fr-FR" dirty="0"/>
          </a:p>
          <a:p>
            <a:r>
              <a:rPr lang="fr-FR" b="1" dirty="0"/>
              <a:t>Texte</a:t>
            </a:r>
            <a:r>
              <a:rPr lang="fr-FR" dirty="0"/>
              <a:t> : description, catégorie, marque, caractéristiques…</a:t>
            </a:r>
          </a:p>
          <a:p>
            <a:r>
              <a:rPr lang="fr-FR" b="1" dirty="0"/>
              <a:t>Image</a:t>
            </a:r>
            <a:r>
              <a:rPr lang="fr-FR" dirty="0"/>
              <a:t> : photo de l’article</a:t>
            </a:r>
          </a:p>
          <a:p>
            <a:r>
              <a:rPr lang="fr-FR" b="1" dirty="0"/>
              <a:t>Utilisateur</a:t>
            </a:r>
            <a:r>
              <a:rPr lang="fr-FR" dirty="0"/>
              <a:t> : historique des interactions et articles appréciés</a:t>
            </a:r>
          </a:p>
          <a:p>
            <a:r>
              <a:rPr lang="fr-FR" b="1" dirty="0"/>
              <a:t>Approche envisagée</a:t>
            </a:r>
            <a:endParaRPr lang="fr-FR" dirty="0"/>
          </a:p>
          <a:p>
            <a:r>
              <a:rPr lang="fr-FR" dirty="0"/>
              <a:t>Utiliser un modèle d’IA pour transformer les contenus des articles en </a:t>
            </a:r>
            <a:r>
              <a:rPr lang="fr-FR" b="1" dirty="0"/>
              <a:t>représentations vectorielles (</a:t>
            </a:r>
            <a:r>
              <a:rPr lang="fr-FR" b="1" dirty="0" err="1"/>
              <a:t>embeddings</a:t>
            </a:r>
            <a:r>
              <a:rPr lang="fr-FR" b="1" dirty="0"/>
              <a:t>)</a:t>
            </a:r>
            <a:r>
              <a:rPr lang="fr-FR" dirty="0"/>
              <a:t>.</a:t>
            </a:r>
          </a:p>
          <a:p>
            <a:r>
              <a:rPr lang="fr-FR" dirty="0"/>
              <a:t>Les articles appréciés par l’utilisateur permettent ensuite d'identifier les caractéristiques qui lui correspondent et de rechercher les articles similaires ou pertinents.</a:t>
            </a:r>
          </a:p>
          <a:p>
            <a:r>
              <a:rPr lang="fr-FR" b="1" dirty="0"/>
              <a:t>Pipeline</a:t>
            </a:r>
            <a:endParaRPr lang="fr-FR" dirty="0"/>
          </a:p>
          <a:p>
            <a:r>
              <a:rPr lang="fr-FR" dirty="0"/>
              <a:t>Texte + Image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Modèle multimodal / </a:t>
            </a:r>
            <a:r>
              <a:rPr lang="fr-FR" dirty="0" err="1"/>
              <a:t>embeddings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Représentation vectorielle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Profil des préférences utilisateur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Calcul de similarité / classement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b="1" dirty="0"/>
              <a:t>Top N recommandations</a:t>
            </a:r>
            <a:endParaRPr lang="fr-FR" dirty="0"/>
          </a:p>
          <a:p>
            <a:r>
              <a:rPr lang="fr-FR" b="1" dirty="0"/>
              <a:t>Évaluation</a:t>
            </a:r>
            <a:endParaRPr lang="fr-FR" dirty="0"/>
          </a:p>
          <a:p>
            <a:r>
              <a:rPr lang="fr-FR" dirty="0"/>
              <a:t>Comparer la pertinence des recommandations avec :</a:t>
            </a:r>
          </a:p>
          <a:p>
            <a:r>
              <a:rPr lang="fr-FR" b="1" dirty="0" err="1"/>
              <a:t>Precision@K</a:t>
            </a:r>
            <a:endParaRPr lang="fr-FR" dirty="0"/>
          </a:p>
          <a:p>
            <a:r>
              <a:rPr lang="fr-FR" b="1" dirty="0" err="1"/>
              <a:t>Recall@K</a:t>
            </a:r>
            <a:endParaRPr lang="fr-FR" dirty="0"/>
          </a:p>
          <a:p>
            <a:r>
              <a:rPr lang="fr-FR" b="1" dirty="0"/>
              <a:t>NDCG@K</a:t>
            </a:r>
            <a:endParaRPr lang="fr-FR" dirty="0"/>
          </a:p>
          <a:p>
            <a:r>
              <a:rPr lang="fr-FR" dirty="0"/>
              <a:t>et comparer les résultats à l’approche ML de référence.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4294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E1800-02AE-8423-C3AD-FEC31A87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5553745-059D-AF39-0D85-C7638B1BA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942FAFB-EB1A-D316-9236-B057B851C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On peut utiliser par exemple un modèle de type </a:t>
            </a:r>
            <a:r>
              <a:rPr lang="fr-FR" b="1" dirty="0" err="1"/>
              <a:t>FashionCLIP</a:t>
            </a:r>
            <a:r>
              <a:rPr lang="fr-FR" dirty="0"/>
              <a:t> comme candidat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4F71BD-E25C-04FB-129D-ED6BC62CF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0187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FBB3-9C2C-4A7E-2C90-17B14DF6B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914110-26A9-ECBD-A7B0-A95F9944E0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2282D64-6903-4875-6C31-86A5B3244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A partir d'un </a:t>
            </a:r>
            <a:r>
              <a:rPr lang="fr-FR" b="1" dirty="0" err="1"/>
              <a:t>dataset</a:t>
            </a:r>
            <a:r>
              <a:rPr lang="fr-FR" b="1" dirty="0"/>
              <a:t> d'</a:t>
            </a:r>
            <a:r>
              <a:rPr lang="fr-FR" b="1" dirty="0" err="1"/>
              <a:t>outfits</a:t>
            </a:r>
            <a:r>
              <a:rPr lang="fr-FR" b="1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1" dirty="0"/>
              <a:t>On peut considérer que nous avons des tenues cohérentes</a:t>
            </a:r>
          </a:p>
          <a:p>
            <a:endParaRPr lang="fr-FR" b="1" dirty="0"/>
          </a:p>
          <a:p>
            <a:r>
              <a:rPr lang="fr-FR" b="1" dirty="0"/>
              <a:t>Réaliser des paires (chapeau =&gt; haut, haut =&gt; bas, bas =&gt; pieds)</a:t>
            </a:r>
          </a:p>
          <a:p>
            <a:endParaRPr lang="fr-FR" b="1" dirty="0"/>
          </a:p>
          <a:p>
            <a:r>
              <a:rPr lang="fr-FR" dirty="0"/>
              <a:t>Il faut des données indiquant quelles associations sont considérées comme cohérentes.</a:t>
            </a:r>
          </a:p>
          <a:p>
            <a:endParaRPr lang="fr-FR" dirty="0"/>
          </a:p>
          <a:p>
            <a:r>
              <a:rPr lang="fr-FR" dirty="0"/>
              <a:t>Inversement on construit les paires négatives à partir des vêtements qui ne sont pas présents ensembles.</a:t>
            </a:r>
          </a:p>
          <a:p>
            <a:endParaRPr lang="fr-FR" dirty="0"/>
          </a:p>
          <a:p>
            <a:r>
              <a:rPr lang="fr-FR" dirty="0"/>
              <a:t>On obtient donc un problème supervisé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193FD4-FAA2-198A-C44F-A00D32024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6593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B45B6-001F-A982-43DE-94AFDCEC6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60305DD-04D4-760E-2FDD-9F15BAAEC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7696572-26A2-2F8F-C1EC-0AE838F03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/>
              <a:t>aligner le </a:t>
            </a:r>
            <a:r>
              <a:rPr lang="fr-FR" sz="1200" b="1" dirty="0" err="1"/>
              <a:t>dataset</a:t>
            </a:r>
            <a:r>
              <a:rPr lang="fr-FR" sz="1200" b="1" dirty="0"/>
              <a:t> avec le catalogue: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/>
              <a:t>normalisation des taxonomies = faire correspondre les méta données avec une table de correspondance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BD5B3E7-DD94-7A9A-A0D8-F2AA0AACB6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10989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modèle n'apprend donc pas simplement </a:t>
            </a:r>
            <a:r>
              <a:rPr lang="fr-FR" b="1" dirty="0"/>
              <a:t>« quelles couleurs vont ensemble »</a:t>
            </a:r>
            <a:r>
              <a:rPr lang="fr-FR" dirty="0"/>
              <a:t>.</a:t>
            </a:r>
          </a:p>
          <a:p>
            <a:r>
              <a:rPr lang="fr-FR" dirty="0"/>
              <a:t>Il peut apprendre des relations beaucoup plus complexes à partir des représentations des vêtements : couleur, motif, style, forme, catégorie, etc.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9554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8A2E1-C4E3-A6D7-5BF2-D762117E8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922E3E-4C69-B56B-9F26-92150C8CD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A6122B6-2A22-B42C-39CF-C39D89E35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type d’algorithme de combinaisons serait à définir et tester (</a:t>
            </a:r>
            <a:r>
              <a:rPr lang="fr-FR" dirty="0" err="1"/>
              <a:t>tete</a:t>
            </a:r>
            <a:r>
              <a:rPr lang="fr-FR" dirty="0"/>
              <a:t>=&gt;haut=&gt;bas=&gt;pieds ou autre combinaisons)</a:t>
            </a:r>
          </a:p>
          <a:p>
            <a:endParaRPr lang="fr-FR" dirty="0"/>
          </a:p>
          <a:p>
            <a:r>
              <a:rPr lang="fr-FR" dirty="0"/>
              <a:t>Par exemple on pourrait commencer par le chapeau</a:t>
            </a:r>
          </a:p>
          <a:p>
            <a:r>
              <a:rPr lang="fr-FR" dirty="0"/>
              <a:t>Avec quel haut va le chapeau ?</a:t>
            </a:r>
          </a:p>
          <a:p>
            <a:r>
              <a:rPr lang="fr-FR" dirty="0"/>
              <a:t>Avec quel pantalon va le haut ?</a:t>
            </a:r>
          </a:p>
          <a:p>
            <a:r>
              <a:rPr lang="fr-FR" dirty="0"/>
              <a:t>Avec quelles chaussures va le pantalon ?</a:t>
            </a:r>
          </a:p>
          <a:p>
            <a:r>
              <a:rPr lang="fr-FR" dirty="0"/>
              <a:t>…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1AE455-CD2B-0024-3C32-6DAFAA9A5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87343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Approche A — </a:t>
            </a:r>
            <a:r>
              <a:rPr lang="fr-FR" dirty="0" err="1"/>
              <a:t>dataset</a:t>
            </a:r>
            <a:r>
              <a:rPr lang="fr-FR" dirty="0"/>
              <a:t> fournissant déjà les vêtements individuellement</a:t>
            </a:r>
          </a:p>
          <a:p>
            <a:r>
              <a:rPr lang="fr-FR" dirty="0"/>
              <a:t>Approche B — l'image d'</a:t>
            </a:r>
            <a:r>
              <a:rPr lang="fr-FR" dirty="0" err="1"/>
              <a:t>outfit</a:t>
            </a:r>
            <a:r>
              <a:rPr lang="fr-FR" dirty="0"/>
              <a:t> est accompagnée des références des vêtements</a:t>
            </a:r>
          </a:p>
          <a:p>
            <a:r>
              <a:rPr lang="fr-FR" dirty="0"/>
              <a:t>Approche C — partir uniquement de l'image de l'</a:t>
            </a:r>
            <a:r>
              <a:rPr lang="fr-FR" dirty="0" err="1"/>
              <a:t>outfit</a:t>
            </a:r>
            <a:r>
              <a:rPr lang="fr-FR" dirty="0"/>
              <a:t> avec segmentation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01121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modèle apprend quelles combinaisons de caractéristiques représentées dans les </a:t>
            </a:r>
            <a:r>
              <a:rPr lang="fr-FR" dirty="0" err="1"/>
              <a:t>embeddings</a:t>
            </a:r>
            <a:r>
              <a:rPr lang="fr-FR" dirty="0"/>
              <a:t> sont statistiquement associées à des vêtements portés ensemble dans les données d'entraînement.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6743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deux approches peuvent être complémentaires plutôt que concurrentes.</a:t>
            </a:r>
          </a:p>
          <a:p>
            <a:r>
              <a:rPr lang="fr-FR" dirty="0"/>
              <a:t>La similarité peut servir à générer des candidats ou identifier l’article en question</a:t>
            </a:r>
          </a:p>
          <a:p>
            <a:r>
              <a:rPr lang="fr-FR" dirty="0"/>
              <a:t>La compatibilité sert à les classer.</a:t>
            </a:r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89975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7759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Cela permet de vérifier que la chaîne fonctionne correctement</a:t>
            </a:r>
            <a:endParaRPr lang="fr-FR" dirty="0"/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Modèle de compatibilité: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Pour chaque tenue connue du </a:t>
            </a:r>
            <a:r>
              <a:rPr lang="fr-FR" dirty="0" err="1"/>
              <a:t>dataset</a:t>
            </a:r>
            <a:r>
              <a:rPr lang="fr-FR" dirty="0"/>
              <a:t>, on masque un vêtement et on demande au système de le retrouver à partir des autres vêtements.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3448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6B5E7-C7C6-107C-C27C-E97758B52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B4ECCEC-EC60-CF2D-103D-8E1F21B00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BD2C0A1-226E-56D0-65D4-628AD923D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a représentation visuelle seule est-elle suffisante ?</a:t>
            </a:r>
            <a:endParaRPr lang="fr-FR" dirty="0"/>
          </a:p>
          <a:p>
            <a:r>
              <a:rPr lang="fr-FR" dirty="0"/>
              <a:t>→ comparer A et B.</a:t>
            </a:r>
          </a:p>
          <a:p>
            <a:r>
              <a:rPr lang="fr-FR" b="1" dirty="0"/>
              <a:t>La compatibilité apporte-t-elle quelque chose par rapport à la simple similarité ?</a:t>
            </a:r>
            <a:endParaRPr lang="fr-FR" dirty="0"/>
          </a:p>
          <a:p>
            <a:r>
              <a:rPr lang="fr-FR" dirty="0"/>
              <a:t>→ comparer B et D.</a:t>
            </a:r>
          </a:p>
          <a:p>
            <a:r>
              <a:rPr lang="fr-FR" b="1" dirty="0"/>
              <a:t>Les caractéristiques apportent-elles une amélioration ?</a:t>
            </a:r>
            <a:endParaRPr lang="fr-FR" dirty="0"/>
          </a:p>
          <a:p>
            <a:r>
              <a:rPr lang="fr-FR" dirty="0"/>
              <a:t>→ comparer C et D.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CCA88C-A64E-7470-15A8-2395A8DC5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12146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Succès du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fr-FR" dirty="0">
                <a:effectLst/>
              </a:rPr>
              <a:t> 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Faisabilité technique</a:t>
            </a:r>
            <a:r>
              <a:rPr lang="fr-FR" dirty="0">
                <a:effectLst/>
              </a:rPr>
              <a:t>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segmentation exploitable</a:t>
            </a:r>
            <a:r>
              <a:rPr lang="fr-FR" dirty="0">
                <a:effectLst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exploitables</a:t>
            </a:r>
            <a:r>
              <a:rPr lang="fr-FR" dirty="0">
                <a:effectLst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caractéristiques suffisamment fiables</a:t>
            </a:r>
            <a:r>
              <a:rPr lang="fr-FR" dirty="0">
                <a:effectLst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Pertinence</a:t>
            </a:r>
            <a:r>
              <a:rPr lang="fr-FR" dirty="0">
                <a:effectLst/>
              </a:rPr>
              <a:t>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 de compatibilité performant</a:t>
            </a:r>
            <a:r>
              <a:rPr lang="fr-FR" dirty="0">
                <a:effectLst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recommandations Top-K pertinentes</a:t>
            </a:r>
            <a:r>
              <a:rPr lang="fr-FR" dirty="0">
                <a:effectLst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Valeur métier</a:t>
            </a:r>
            <a:r>
              <a:rPr lang="fr-FR" dirty="0">
                <a:effectLst/>
              </a:rPr>
              <a:t>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meilleure personnalisation que la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fr-FR" dirty="0">
                <a:effectLst/>
              </a:rPr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7745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déterminer avec le métier quel niveau de pertinence rend la fonctionnalité exploitable.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2973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88026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Cadrage + sélection </a:t>
            </a:r>
            <a:r>
              <a:rPr lang="fr-FR" b="1" dirty="0" err="1"/>
              <a:t>dataset</a:t>
            </a:r>
            <a:br>
              <a:rPr lang="fr-FR" dirty="0"/>
            </a:br>
            <a:r>
              <a:rPr lang="fr-FR" dirty="0"/>
              <a:t>Le PO apporte le besoin et le périmètre ; le Data </a:t>
            </a:r>
            <a:r>
              <a:rPr lang="fr-FR" dirty="0" err="1"/>
              <a:t>Scientist</a:t>
            </a:r>
            <a:r>
              <a:rPr lang="fr-FR" dirty="0"/>
              <a:t> vérifie que les données permettent réellement de répondre au problème.</a:t>
            </a:r>
          </a:p>
          <a:p>
            <a:r>
              <a:rPr lang="fr-FR" b="1" dirty="0"/>
              <a:t>Préparation du jeu de test</a:t>
            </a:r>
            <a:br>
              <a:rPr lang="fr-FR" dirty="0"/>
            </a:br>
            <a:r>
              <a:rPr lang="fr-FR" dirty="0"/>
              <a:t>Le Data </a:t>
            </a:r>
            <a:r>
              <a:rPr lang="fr-FR" dirty="0" err="1"/>
              <a:t>Scientist</a:t>
            </a:r>
            <a:r>
              <a:rPr lang="fr-FR" dirty="0"/>
              <a:t> construit le protocole expérimental. Le PO vérifie que les cas testés correspondent bien au cas d'usage attendu.</a:t>
            </a:r>
          </a:p>
          <a:p>
            <a:r>
              <a:rPr lang="fr-FR" b="1" dirty="0"/>
              <a:t>Baseline + similarité / compatibilité</a:t>
            </a:r>
            <a:br>
              <a:rPr lang="fr-FR" dirty="0"/>
            </a:br>
            <a:r>
              <a:rPr lang="fr-FR" dirty="0"/>
              <a:t>Le </a:t>
            </a:r>
            <a:r>
              <a:rPr lang="fr-FR" b="1" dirty="0"/>
              <a:t>ML </a:t>
            </a:r>
            <a:r>
              <a:rPr lang="fr-FR" b="1" dirty="0" err="1"/>
              <a:t>Engineer</a:t>
            </a:r>
            <a:r>
              <a:rPr lang="fr-FR" dirty="0"/>
              <a:t> prend en charge l'implémentation des approches : </a:t>
            </a:r>
            <a:r>
              <a:rPr lang="fr-FR" dirty="0" err="1"/>
              <a:t>embeddings</a:t>
            </a:r>
            <a:r>
              <a:rPr lang="fr-FR" dirty="0"/>
              <a:t>, caractéristiques, recherche de similarité, modèle de compatibilité, etc.</a:t>
            </a:r>
          </a:p>
          <a:p>
            <a:r>
              <a:rPr lang="fr-FR" b="1" dirty="0"/>
              <a:t>Évaluation + comparaison</a:t>
            </a:r>
            <a:br>
              <a:rPr lang="fr-FR" dirty="0"/>
            </a:br>
            <a:r>
              <a:rPr lang="fr-FR" b="1" dirty="0"/>
              <a:t>Data </a:t>
            </a:r>
            <a:r>
              <a:rPr lang="fr-FR" b="1" dirty="0" err="1"/>
              <a:t>Scientist</a:t>
            </a:r>
            <a:r>
              <a:rPr lang="fr-FR" dirty="0"/>
              <a:t> : métriques et analyse statistique ; </a:t>
            </a:r>
          </a:p>
          <a:p>
            <a:r>
              <a:rPr lang="fr-FR" b="1" dirty="0"/>
              <a:t>Expertise métier</a:t>
            </a:r>
            <a:r>
              <a:rPr lang="fr-FR" dirty="0"/>
              <a:t> : pertinence des recommandations ; </a:t>
            </a:r>
          </a:p>
          <a:p>
            <a:r>
              <a:rPr lang="fr-FR" b="1" dirty="0"/>
              <a:t>PO</a:t>
            </a:r>
            <a:r>
              <a:rPr lang="fr-FR" dirty="0"/>
              <a:t> : adéquation avec les objectifs du produit. </a:t>
            </a:r>
          </a:p>
          <a:p>
            <a:r>
              <a:rPr lang="fr-FR" b="1" dirty="0"/>
              <a:t>Synthèse + recommandation</a:t>
            </a:r>
            <a:br>
              <a:rPr lang="fr-FR" dirty="0"/>
            </a:br>
            <a:r>
              <a:rPr lang="fr-FR" dirty="0"/>
              <a:t>Le PO porte la décision produit, avec l'expertise métier pour déterminer si les résultats sont réellement exploitables.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51674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PoC</a:t>
            </a:r>
            <a:r>
              <a:rPr lang="fr-FR" dirty="0"/>
              <a:t> doit permettre de passer d’une hypothèse technologique à une décision éclairée sur la faisabilité et la poursuite du projet.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8351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DD21BB-1CE0-7901-61C2-3B24602F7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FD5469-6BA4-AEC3-A5B7-904EBCD32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6950A4-FD24-F065-8B74-E0880991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A8E2FC-709B-0B0C-C029-EBF71BD7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22FCD2-5031-5192-6F55-08DC40C0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84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2D063F-8D80-4D91-22E2-D3DEBF06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231B1F-F03E-7638-E4A4-4125EF0AF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59CBFB-7FCF-D142-FAD6-7826CF3F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54CE63-EB05-D633-249F-5A775A11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AE44CA-E21D-5601-228B-BF77BD1E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1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F48CDE-C309-59C4-4895-0A4BBFF9F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0C6CFE-E1FD-D0F4-6F08-5B9A36337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24640F-D135-A307-6D41-393B432B8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984362-0410-3E83-E073-F7F8009A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5F0DB1-2B9E-7E60-5988-AEF189FF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04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3FC0A3-466C-4402-CC05-2C760C56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82F9EE-E6E9-63EA-CCB5-E1390FB64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FB9B13-53D0-3EDC-C6AC-052A16943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8CC1C4-4FDC-953F-0161-CA3C4FA71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EB0905-5001-CF99-4B0C-4886C62D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5FE4F4-019B-60F5-CD1D-BA4689D0C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73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5D6C3A-C82D-4D1D-2005-62EAE28A0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216FAF-EC17-1EDD-2BEF-A5ED41265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0FD0E4-0D98-904D-CAB3-B048FDD35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3080324-FC3B-5BA8-64C8-7DF5FA3EF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13B409B-857E-1C2A-E03E-B0FFE187D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8982A2E-A67E-3B0B-A6F3-DE090683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33CFF35-20A1-0B0F-2D60-0744DB5D5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4A7FD97-F161-6EE1-74EE-652DA1FE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80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CDBB13-8CA2-FA7B-C3C8-EEB3DB60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50E2318-6E16-F401-B279-2202461F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5834A39-D4BC-0C8F-50E8-46B3F88C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30EE6B-C09A-94C7-6B0F-7E4EC221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12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F4F0933-72DA-E507-0159-F34CCA911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1B07705-56D7-EC36-E832-FCEEA99BB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A17672-C458-F1AF-C153-E98EA380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73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0213D-5179-8CEB-DBB0-4B8A16480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9A7073-C342-4670-0A3D-C1A748902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B8202E-D7E3-1708-CD37-2631CF80F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2D6FC1-9165-CFDB-916F-7517EED9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B14E1F-C985-1235-1E21-3BC8A2AB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AFCD46-3388-4030-3AB6-2567CA3E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73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97292C-130C-97BF-1F27-E960A7E70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A8B82CE-728F-4C07-214A-B649716AC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6D5A2F-69C8-4EB0-4EE9-429E6AD6A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E789A3-0747-DC6A-E48F-A508E1C9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923689-F78B-B593-D149-2FEC6134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242A2B-08DB-4614-F5EC-340D91AA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541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9AA423-CEDB-9333-2D70-1477C63B3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D7517C-4A32-C725-A9A4-35038922C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579B0D-EC4D-E8EE-125F-B9782A55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F14A52-F46D-C764-67DB-5EF3A880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E0F349-990C-42DE-2C83-8A9F5BD6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18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20F6AD7-2C3E-337C-C915-248B46EDD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8491BC-9B74-18A8-CE89-91CFBC7B0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69A1F4-F529-4E90-AAC4-7E83A613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C5E071-7399-1927-27A7-870D6B7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A2405C-10FF-4A73-0165-EBEA4658F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5321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4001160-7BC7-DA17-AE3A-7E976507F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99B181-B603-F483-F517-AAE033C3B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B8419E-9B0D-2480-6D28-3A2431ACD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4EF5E-5CA6-42F0-B583-013C857A1C28}" type="datetimeFigureOut">
              <a:rPr lang="fr-FR" smtClean="0"/>
              <a:t>29/09/2026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5911B9-1B6C-D2A5-A9C9-F6A326078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886C3-2DD9-73CC-F407-F7101F980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18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011564-E175-E802-3D69-6D7695DDA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033"/>
            <a:ext cx="10515600" cy="1039467"/>
          </a:xfrm>
          <a:noFill/>
        </p:spPr>
        <p:txBody>
          <a:bodyPr/>
          <a:lstStyle/>
          <a:p>
            <a:pPr algn="ctr"/>
            <a:r>
              <a:rPr lang="fr-FR" cap="small" dirty="0">
                <a:latin typeface="Arial Black" panose="020B0A04020102020204" pitchFamily="34" charset="0"/>
              </a:rPr>
              <a:t>Proof of Concept (</a:t>
            </a:r>
            <a:r>
              <a:rPr lang="fr-FR" cap="small" dirty="0" err="1">
                <a:latin typeface="Arial Black" panose="020B0A04020102020204" pitchFamily="34" charset="0"/>
              </a:rPr>
              <a:t>PoC</a:t>
            </a:r>
            <a:r>
              <a:rPr lang="fr-FR" cap="small" dirty="0">
                <a:latin typeface="Arial Black" panose="020B0A04020102020204" pitchFamily="34" charset="0"/>
              </a:rPr>
              <a:t>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367092-174E-FF50-EBDD-9C556A60D1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72" y="1027906"/>
            <a:ext cx="10515600" cy="41481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67;p34">
            <a:extLst>
              <a:ext uri="{FF2B5EF4-FFF2-40B4-BE49-F238E27FC236}">
                <a16:creationId xmlns:a16="http://schemas.microsoft.com/office/drawing/2014/main" id="{D69C45F6-759A-E5AE-CF10-AD7D38C57117}"/>
              </a:ext>
            </a:extLst>
          </p:cNvPr>
          <p:cNvSpPr txBox="1">
            <a:spLocks/>
          </p:cNvSpPr>
          <p:nvPr/>
        </p:nvSpPr>
        <p:spPr>
          <a:xfrm>
            <a:off x="309820" y="5614361"/>
            <a:ext cx="6233928" cy="11537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fr-FR" sz="3600" i="1" dirty="0">
                <a:solidFill>
                  <a:schemeClr val="bg1">
                    <a:lumMod val="50000"/>
                  </a:schemeClr>
                </a:solidFill>
              </a:rPr>
              <a:t>Formation Développeur IA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sz="3600" i="1" dirty="0">
                <a:solidFill>
                  <a:schemeClr val="bg1">
                    <a:lumMod val="50000"/>
                  </a:schemeClr>
                </a:solidFill>
              </a:rPr>
              <a:t>Septembre 2026</a:t>
            </a:r>
          </a:p>
        </p:txBody>
      </p:sp>
      <p:sp>
        <p:nvSpPr>
          <p:cNvPr id="5" name="Google Shape;267;p34">
            <a:extLst>
              <a:ext uri="{FF2B5EF4-FFF2-40B4-BE49-F238E27FC236}">
                <a16:creationId xmlns:a16="http://schemas.microsoft.com/office/drawing/2014/main" id="{238A8E7D-3DF6-7D82-87F9-14C7E9E7DD24}"/>
              </a:ext>
            </a:extLst>
          </p:cNvPr>
          <p:cNvSpPr txBox="1">
            <a:spLocks/>
          </p:cNvSpPr>
          <p:nvPr/>
        </p:nvSpPr>
        <p:spPr>
          <a:xfrm>
            <a:off x="309820" y="5149824"/>
            <a:ext cx="2667000" cy="456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fr-FR" sz="2400" i="1" dirty="0">
                <a:solidFill>
                  <a:schemeClr val="accent1">
                    <a:lumMod val="75000"/>
                  </a:schemeClr>
                </a:solidFill>
              </a:rPr>
              <a:t>Thomas AUGUEY</a:t>
            </a:r>
          </a:p>
        </p:txBody>
      </p:sp>
      <p:pic>
        <p:nvPicPr>
          <p:cNvPr id="6" name="Picture 6" descr="OpenClassrooms | Spreadshop">
            <a:extLst>
              <a:ext uri="{FF2B5EF4-FFF2-40B4-BE49-F238E27FC236}">
                <a16:creationId xmlns:a16="http://schemas.microsoft.com/office/drawing/2014/main" id="{3FBC5416-E130-D775-C779-637BD3416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296" y="6036921"/>
            <a:ext cx="3648884" cy="65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627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F47304-A677-F55B-B5DE-7B0262529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02272"/>
          </a:xfrm>
        </p:spPr>
        <p:txBody>
          <a:bodyPr/>
          <a:lstStyle/>
          <a:p>
            <a:r>
              <a:rPr lang="fr-FR" dirty="0"/>
              <a:t>Contexte et objectif du </a:t>
            </a:r>
            <a:r>
              <a:rPr lang="fr-FR" dirty="0" err="1"/>
              <a:t>PoC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7530C9-4457-F5E1-E0A9-3614B28FE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10118"/>
            <a:ext cx="9144000" cy="3818964"/>
          </a:xfrm>
        </p:spPr>
        <p:txBody>
          <a:bodyPr>
            <a:normAutofit/>
          </a:bodyPr>
          <a:lstStyle/>
          <a:p>
            <a:r>
              <a:rPr lang="fr-FR" b="1" dirty="0"/>
              <a:t>Besoin métier</a:t>
            </a:r>
          </a:p>
          <a:p>
            <a:r>
              <a:rPr lang="fr-FR" dirty="0"/>
              <a:t>Proposer aux utilisateurs de </a:t>
            </a:r>
            <a:r>
              <a:rPr lang="fr-FR" dirty="0" err="1"/>
              <a:t>FashionInsta</a:t>
            </a:r>
            <a:r>
              <a:rPr lang="fr-FR" dirty="0"/>
              <a:t> des recommandations d’articles personnalisées, adaptées à leur profil et à leurs préférences, au sein d’une application mobile.</a:t>
            </a:r>
          </a:p>
          <a:p>
            <a:endParaRPr lang="fr-FR" dirty="0"/>
          </a:p>
          <a:p>
            <a:r>
              <a:rPr lang="fr-FR" b="1" dirty="0"/>
              <a:t>Objectif de ce POC</a:t>
            </a:r>
          </a:p>
          <a:p>
            <a:r>
              <a:rPr lang="fr-FR" dirty="0"/>
              <a:t>Valider la faisabilité technique d’une solution IA/ML pour la recommandation personnalisée, à travers un périmètre volontairement restreint permettant une expérimentation rapide.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54628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3213A-4121-8045-8B96-F206B6FD0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EA7BA9-DF68-23C7-47A3-65E3B1A91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5482"/>
            <a:ext cx="9144000" cy="1387755"/>
          </a:xfrm>
        </p:spPr>
        <p:txBody>
          <a:bodyPr/>
          <a:lstStyle/>
          <a:p>
            <a:r>
              <a:rPr lang="fr-FR" dirty="0"/>
              <a:t>Besoin métier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6D39539-8546-959C-BAF4-41CED07143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38007"/>
            <a:ext cx="9144000" cy="4334511"/>
          </a:xfrm>
        </p:spPr>
        <p:txBody>
          <a:bodyPr>
            <a:normAutofit fontScale="92500" lnSpcReduction="20000"/>
          </a:bodyPr>
          <a:lstStyle/>
          <a:p>
            <a:r>
              <a:rPr lang="fr-FR" b="1" dirty="0"/>
              <a:t>Constat</a:t>
            </a:r>
            <a:endParaRPr lang="fr-FR" dirty="0"/>
          </a:p>
          <a:p>
            <a:r>
              <a:rPr lang="fr-FR" dirty="0"/>
              <a:t>Les utilisateurs disposent d'un volume important de contenus/produits parmi lesquels il est difficile d'identifier rapidement ceux qui correspondent à leurs attentes.</a:t>
            </a:r>
          </a:p>
          <a:p>
            <a:endParaRPr lang="fr-FR" b="1" dirty="0"/>
          </a:p>
          <a:p>
            <a:r>
              <a:rPr lang="fr-FR" b="1" dirty="0"/>
              <a:t>Besoin</a:t>
            </a:r>
            <a:endParaRPr lang="fr-FR" dirty="0"/>
          </a:p>
          <a:p>
            <a:r>
              <a:rPr lang="fr-FR" dirty="0"/>
              <a:t>Mettre en place un outil capable de proposer automatiquement à chaque utilisateur des recommandations personnalisées à partir de son profil et de son comportement.</a:t>
            </a:r>
          </a:p>
          <a:p>
            <a:endParaRPr lang="fr-FR" b="1" dirty="0"/>
          </a:p>
          <a:p>
            <a:r>
              <a:rPr lang="fr-FR" b="1" dirty="0"/>
              <a:t>Objectif métier</a:t>
            </a:r>
            <a:endParaRPr lang="fr-FR" dirty="0"/>
          </a:p>
          <a:p>
            <a:r>
              <a:rPr lang="fr-FR" dirty="0"/>
              <a:t>Améliorer la pertinence des contenus proposés et faciliter la découverte de contenus susceptibles d'intéresser l'utilisateur.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5999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3390E-DB1D-BD20-E2C7-BCACE1031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F06571-9862-3925-3138-EA086E36E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9624"/>
            <a:ext cx="9144000" cy="1288676"/>
          </a:xfrm>
        </p:spPr>
        <p:txBody>
          <a:bodyPr/>
          <a:lstStyle/>
          <a:p>
            <a:r>
              <a:rPr lang="fr-FR" dirty="0"/>
              <a:t>Fonctionnalité centrale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C90CBF-97C8-2953-EDBB-78FAD0818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70100"/>
            <a:ext cx="9144000" cy="4438276"/>
          </a:xfrm>
        </p:spPr>
        <p:txBody>
          <a:bodyPr>
            <a:normAutofit fontScale="92500" lnSpcReduction="20000"/>
          </a:bodyPr>
          <a:lstStyle/>
          <a:p>
            <a:r>
              <a:rPr lang="fr-FR" sz="3000" b="1" dirty="0"/>
              <a:t>Générer une liste d’articles personnalisée pour chaque utilisateur.</a:t>
            </a:r>
            <a:endParaRPr lang="fr-FR" sz="3000" dirty="0"/>
          </a:p>
          <a:p>
            <a:r>
              <a:rPr lang="fr-FR" u="sng" dirty="0"/>
              <a:t>À partir des informations disponibles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/>
              <a:t>Identifier</a:t>
            </a:r>
            <a:r>
              <a:rPr lang="fr-FR" dirty="0"/>
              <a:t> les articles susceptibles de correspondre à ses préférences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/>
              <a:t>Classer</a:t>
            </a:r>
            <a:r>
              <a:rPr lang="fr-FR" dirty="0"/>
              <a:t> les articles par niveau de pertinence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b="1" dirty="0"/>
              <a:t>Proposer</a:t>
            </a:r>
            <a:r>
              <a:rPr lang="fr-FR" dirty="0"/>
              <a:t> les articles de façon cohérente à l’utilisateur</a:t>
            </a:r>
          </a:p>
          <a:p>
            <a:endParaRPr lang="fr-FR" b="1" dirty="0"/>
          </a:p>
          <a:p>
            <a:r>
              <a:rPr lang="fr-FR" b="1" dirty="0"/>
              <a:t>Entrées</a:t>
            </a:r>
            <a:br>
              <a:rPr lang="fr-FR" dirty="0"/>
            </a:br>
            <a:r>
              <a:rPr lang="fr-FR" dirty="0"/>
              <a:t>Profil utilisateur + garde robe + caractéristiques des articles (catalogue)</a:t>
            </a:r>
          </a:p>
          <a:p>
            <a:endParaRPr lang="fr-FR" b="1" dirty="0"/>
          </a:p>
          <a:p>
            <a:r>
              <a:rPr lang="fr-FR" b="1" dirty="0"/>
              <a:t>Sortie</a:t>
            </a:r>
            <a:br>
              <a:rPr lang="fr-FR" dirty="0"/>
            </a:br>
            <a:r>
              <a:rPr lang="fr-FR" dirty="0"/>
              <a:t>Une liste d’articles recommandés, classés par pertinence.</a:t>
            </a:r>
          </a:p>
        </p:txBody>
      </p:sp>
    </p:spTree>
    <p:extLst>
      <p:ext uri="{BB962C8B-B14F-4D97-AF65-F5344CB8AC3E}">
        <p14:creationId xmlns:p14="http://schemas.microsoft.com/office/powerpoint/2010/main" val="1357774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F7802-B14C-BA96-AACD-F5B3FF0D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AE7D39-4309-1DD2-9CDA-58AF9AE9F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1399"/>
            <a:ext cx="9144000" cy="1109849"/>
          </a:xfrm>
        </p:spPr>
        <p:txBody>
          <a:bodyPr/>
          <a:lstStyle/>
          <a:p>
            <a:r>
              <a:rPr lang="fr-FR" dirty="0"/>
              <a:t>Périmètre du </a:t>
            </a:r>
            <a:r>
              <a:rPr lang="fr-FR" dirty="0" err="1"/>
              <a:t>PoC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BF51F8F-852A-CA2E-F3A4-6A5D75E95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412" y="1703296"/>
            <a:ext cx="5692588" cy="4912656"/>
          </a:xfrm>
        </p:spPr>
        <p:txBody>
          <a:bodyPr>
            <a:normAutofit/>
          </a:bodyPr>
          <a:lstStyle/>
          <a:p>
            <a:r>
              <a:rPr lang="fr-FR" sz="4000" b="1" dirty="0" err="1"/>
              <a:t>PoC</a:t>
            </a:r>
            <a:endParaRPr lang="fr-FR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Identifier les données nécessaires à la recommandation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Expérimenter plusieurs approches IA/ML de recommandation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Évaluer la pertinence des recommandations à l'aide de métriques métier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dirty="0"/>
              <a:t>Comparer les approches et identifier les conditions nécessaires à une future industrialisation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26705A7B-EE01-A4C4-780E-6E8B6CA11603}"/>
              </a:ext>
            </a:extLst>
          </p:cNvPr>
          <p:cNvSpPr txBox="1">
            <a:spLocks/>
          </p:cNvSpPr>
          <p:nvPr/>
        </p:nvSpPr>
        <p:spPr>
          <a:xfrm>
            <a:off x="6096000" y="1703295"/>
            <a:ext cx="5889812" cy="491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4000" b="1" dirty="0"/>
              <a:t>Hors </a:t>
            </a:r>
            <a:r>
              <a:rPr lang="fr-FR" sz="4000" b="1" dirty="0" err="1"/>
              <a:t>PoC</a:t>
            </a:r>
            <a:endParaRPr lang="fr-FR" sz="4000" b="1" dirty="0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Développement de l'application mobile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Gestion des comptes et Authentification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Développement des fonctionnalités métier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Mise en production et industrialisation de la solution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Constitution d'une base de données utilisateurs réels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fr-FR" dirty="0"/>
              <a:t>Personnalisation des photos (couleurs, tailles, etc…)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98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1C1C-A256-7D75-3215-6413C849E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CFC6DEA6-B676-523D-5B19-6265CC3A2AC3}"/>
              </a:ext>
            </a:extLst>
          </p:cNvPr>
          <p:cNvSpPr/>
          <p:nvPr/>
        </p:nvSpPr>
        <p:spPr>
          <a:xfrm>
            <a:off x="7848600" y="1523944"/>
            <a:ext cx="4231192" cy="503111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2800" dirty="0"/>
              <a:t>Liste d’articles</a:t>
            </a:r>
          </a:p>
        </p:txBody>
      </p:sp>
      <p:sp>
        <p:nvSpPr>
          <p:cNvPr id="30" name="Flèche : bas 29">
            <a:extLst>
              <a:ext uri="{FF2B5EF4-FFF2-40B4-BE49-F238E27FC236}">
                <a16:creationId xmlns:a16="http://schemas.microsoft.com/office/drawing/2014/main" id="{2C72839E-0856-BFD9-57E1-47C17B1B3EEE}"/>
              </a:ext>
            </a:extLst>
          </p:cNvPr>
          <p:cNvSpPr/>
          <p:nvPr/>
        </p:nvSpPr>
        <p:spPr>
          <a:xfrm rot="16200000">
            <a:off x="371320" y="3551109"/>
            <a:ext cx="1084881" cy="775206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E17E9EE5-2841-12C1-70DD-20DDAE98D52C}"/>
              </a:ext>
            </a:extLst>
          </p:cNvPr>
          <p:cNvGrpSpPr/>
          <p:nvPr/>
        </p:nvGrpSpPr>
        <p:grpSpPr>
          <a:xfrm>
            <a:off x="1805006" y="5412055"/>
            <a:ext cx="4437036" cy="1143000"/>
            <a:chOff x="108488" y="2654511"/>
            <a:chExt cx="4230392" cy="20603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F2BACC-DAAC-62EC-C509-F2342D8A032E}"/>
                </a:ext>
              </a:extLst>
            </p:cNvPr>
            <p:cNvSpPr/>
            <p:nvPr/>
          </p:nvSpPr>
          <p:spPr>
            <a:xfrm>
              <a:off x="108488" y="2654511"/>
              <a:ext cx="4230392" cy="2060359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2800" dirty="0"/>
                <a:t>(Contexte)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A9B9C14A-ECFB-6B95-C353-D4ED933974F3}"/>
                </a:ext>
              </a:extLst>
            </p:cNvPr>
            <p:cNvSpPr/>
            <p:nvPr/>
          </p:nvSpPr>
          <p:spPr>
            <a:xfrm>
              <a:off x="385519" y="3681702"/>
              <a:ext cx="3596900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Tendances actuelles</a:t>
              </a: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FCD10F60-7074-5A2A-DB58-606E4094D822}"/>
              </a:ext>
            </a:extLst>
          </p:cNvPr>
          <p:cNvGrpSpPr/>
          <p:nvPr/>
        </p:nvGrpSpPr>
        <p:grpSpPr>
          <a:xfrm>
            <a:off x="1805006" y="3135792"/>
            <a:ext cx="4437036" cy="2065856"/>
            <a:chOff x="6096000" y="2620069"/>
            <a:chExt cx="4230392" cy="389380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5951EA5-CEB5-50C9-1741-CD3F707E1ED1}"/>
                </a:ext>
              </a:extLst>
            </p:cNvPr>
            <p:cNvSpPr/>
            <p:nvPr/>
          </p:nvSpPr>
          <p:spPr>
            <a:xfrm>
              <a:off x="6096000" y="2620069"/>
              <a:ext cx="4230392" cy="389380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2800" dirty="0"/>
                <a:t>Catalogue</a:t>
              </a: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02950634-5787-7FDE-B6AF-6BCF0F7F5F8E}"/>
                </a:ext>
              </a:extLst>
            </p:cNvPr>
            <p:cNvSpPr/>
            <p:nvPr/>
          </p:nvSpPr>
          <p:spPr>
            <a:xfrm>
              <a:off x="6373031" y="3647261"/>
              <a:ext cx="3596900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Image des articles</a:t>
              </a:r>
            </a:p>
          </p:txBody>
        </p:sp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9FE3D03B-C8B5-B6F3-541C-B4B84510DF76}"/>
                </a:ext>
              </a:extLst>
            </p:cNvPr>
            <p:cNvSpPr/>
            <p:nvPr/>
          </p:nvSpPr>
          <p:spPr>
            <a:xfrm>
              <a:off x="6357359" y="4310242"/>
              <a:ext cx="3612572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Description</a:t>
              </a:r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0A235298-7C93-11F1-D4CC-B8E936313423}"/>
                </a:ext>
              </a:extLst>
            </p:cNvPr>
            <p:cNvSpPr/>
            <p:nvPr/>
          </p:nvSpPr>
          <p:spPr>
            <a:xfrm>
              <a:off x="6357359" y="4973223"/>
              <a:ext cx="3612572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Catégorie</a:t>
              </a:r>
            </a:p>
          </p:txBody>
        </p:sp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5D73B4CB-E46A-C666-3C68-D93AA1351DF1}"/>
                </a:ext>
              </a:extLst>
            </p:cNvPr>
            <p:cNvSpPr/>
            <p:nvPr/>
          </p:nvSpPr>
          <p:spPr>
            <a:xfrm>
              <a:off x="6357359" y="5636204"/>
              <a:ext cx="3612572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Tags, Prix, autres </a:t>
              </a:r>
              <a:r>
                <a:rPr lang="fr-FR" sz="1400" dirty="0" err="1"/>
                <a:t>méta-données</a:t>
              </a:r>
              <a:r>
                <a:rPr lang="fr-FR" sz="1400" dirty="0"/>
                <a:t>…</a:t>
              </a: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FE66C0FA-381B-C130-E341-29EDEB007FC4}"/>
              </a:ext>
            </a:extLst>
          </p:cNvPr>
          <p:cNvGrpSpPr/>
          <p:nvPr/>
        </p:nvGrpSpPr>
        <p:grpSpPr>
          <a:xfrm>
            <a:off x="1805006" y="1523944"/>
            <a:ext cx="4437036" cy="1401442"/>
            <a:chOff x="108488" y="2654511"/>
            <a:chExt cx="4230392" cy="252622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E9B42E2-2A66-3857-2754-5B469DC59830}"/>
                </a:ext>
              </a:extLst>
            </p:cNvPr>
            <p:cNvSpPr/>
            <p:nvPr/>
          </p:nvSpPr>
          <p:spPr>
            <a:xfrm>
              <a:off x="108488" y="2654511"/>
              <a:ext cx="4230392" cy="252622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2800" dirty="0"/>
                <a:t>Utilisateur</a:t>
              </a:r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DA352765-8502-4448-3E5C-AFADA04E820E}"/>
                </a:ext>
              </a:extLst>
            </p:cNvPr>
            <p:cNvSpPr/>
            <p:nvPr/>
          </p:nvSpPr>
          <p:spPr>
            <a:xfrm>
              <a:off x="385519" y="3681702"/>
              <a:ext cx="3596900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Photos de la garde-robe</a:t>
              </a:r>
            </a:p>
          </p:txBody>
        </p:sp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9C27605C-7C24-7B83-638F-7DAEAEF8A583}"/>
                </a:ext>
              </a:extLst>
            </p:cNvPr>
            <p:cNvSpPr/>
            <p:nvPr/>
          </p:nvSpPr>
          <p:spPr>
            <a:xfrm>
              <a:off x="369847" y="4344683"/>
              <a:ext cx="3612572" cy="5183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/>
                <a:t>Préférences de styles</a:t>
              </a:r>
            </a:p>
          </p:txBody>
        </p:sp>
      </p:grpSp>
      <p:sp>
        <p:nvSpPr>
          <p:cNvPr id="27" name="ZoneTexte 26">
            <a:extLst>
              <a:ext uri="{FF2B5EF4-FFF2-40B4-BE49-F238E27FC236}">
                <a16:creationId xmlns:a16="http://schemas.microsoft.com/office/drawing/2014/main" id="{4D917CC3-506D-CD79-CF1F-2A11DFFD8D2C}"/>
              </a:ext>
            </a:extLst>
          </p:cNvPr>
          <p:cNvSpPr txBox="1"/>
          <p:nvPr/>
        </p:nvSpPr>
        <p:spPr>
          <a:xfrm>
            <a:off x="112208" y="2501062"/>
            <a:ext cx="16031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cap="small" dirty="0"/>
              <a:t>Entrée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A8F8F7-0A43-980F-1AED-124FFA5FBE43}"/>
              </a:ext>
            </a:extLst>
          </p:cNvPr>
          <p:cNvSpPr txBox="1"/>
          <p:nvPr/>
        </p:nvSpPr>
        <p:spPr>
          <a:xfrm>
            <a:off x="6511402" y="2666162"/>
            <a:ext cx="11875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cap="small" dirty="0"/>
              <a:t>Sortie</a:t>
            </a:r>
          </a:p>
        </p:txBody>
      </p:sp>
      <p:sp>
        <p:nvSpPr>
          <p:cNvPr id="31" name="Flèche : bas 30">
            <a:extLst>
              <a:ext uri="{FF2B5EF4-FFF2-40B4-BE49-F238E27FC236}">
                <a16:creationId xmlns:a16="http://schemas.microsoft.com/office/drawing/2014/main" id="{C9D4985A-148B-3A5F-29E3-E50107B96D02}"/>
              </a:ext>
            </a:extLst>
          </p:cNvPr>
          <p:cNvSpPr/>
          <p:nvPr/>
        </p:nvSpPr>
        <p:spPr>
          <a:xfrm rot="16200000">
            <a:off x="6610237" y="3551108"/>
            <a:ext cx="1084881" cy="775206"/>
          </a:xfrm>
          <a:prstGeom prst="downArrow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7145CBA2-210F-EFAB-5572-1DDCA1807267}"/>
              </a:ext>
            </a:extLst>
          </p:cNvPr>
          <p:cNvSpPr/>
          <p:nvPr/>
        </p:nvSpPr>
        <p:spPr>
          <a:xfrm>
            <a:off x="8063313" y="2749131"/>
            <a:ext cx="3772600" cy="479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Article 1 : score 0,92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DEAE40DD-5DFE-128A-7413-C50B51FF561B}"/>
              </a:ext>
            </a:extLst>
          </p:cNvPr>
          <p:cNvSpPr/>
          <p:nvPr/>
        </p:nvSpPr>
        <p:spPr>
          <a:xfrm>
            <a:off x="8063313" y="3464734"/>
            <a:ext cx="3772600" cy="479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Article 1 : score 0,87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CFB9F1C3-0502-D364-FE16-76D32EFD1A89}"/>
              </a:ext>
            </a:extLst>
          </p:cNvPr>
          <p:cNvSpPr/>
          <p:nvPr/>
        </p:nvSpPr>
        <p:spPr>
          <a:xfrm>
            <a:off x="8063313" y="4117677"/>
            <a:ext cx="3772600" cy="479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Article 1 : score 0,84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87638537-358B-2D8E-05EE-CBB8541BC866}"/>
              </a:ext>
            </a:extLst>
          </p:cNvPr>
          <p:cNvSpPr/>
          <p:nvPr/>
        </p:nvSpPr>
        <p:spPr>
          <a:xfrm>
            <a:off x="8063313" y="4843499"/>
            <a:ext cx="3772600" cy="479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/>
              <a:t>…</a:t>
            </a:r>
          </a:p>
        </p:txBody>
      </p:sp>
      <p:sp>
        <p:nvSpPr>
          <p:cNvPr id="37" name="Titre 1">
            <a:extLst>
              <a:ext uri="{FF2B5EF4-FFF2-40B4-BE49-F238E27FC236}">
                <a16:creationId xmlns:a16="http://schemas.microsoft.com/office/drawing/2014/main" id="{7792A136-856B-9204-7235-A977C19EF0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0521"/>
            <a:ext cx="12192000" cy="1012257"/>
          </a:xfrm>
        </p:spPr>
        <p:txBody>
          <a:bodyPr anchor="ctr">
            <a:normAutofit/>
          </a:bodyPr>
          <a:lstStyle/>
          <a:p>
            <a:r>
              <a:rPr lang="fr-FR" sz="5400" dirty="0"/>
              <a:t>Besoin =&gt; Problème ML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3839169-162B-6743-4B2B-2C900371E8D2}"/>
              </a:ext>
            </a:extLst>
          </p:cNvPr>
          <p:cNvSpPr txBox="1"/>
          <p:nvPr/>
        </p:nvSpPr>
        <p:spPr>
          <a:xfrm>
            <a:off x="393213" y="899931"/>
            <a:ext cx="12538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Prédire la pertinence des articles d’un utilisateur, puis classer les articles afin de sélectionner les </a:t>
            </a:r>
            <a:r>
              <a:rPr lang="fr-FR" b="1" dirty="0"/>
              <a:t>Top N recommandations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8102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98BD6-2285-7CAF-9691-B5F25D2A0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66AF9B-CE90-ED05-2A95-53E9C5E64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0465" y="1214377"/>
            <a:ext cx="4448014" cy="935752"/>
          </a:xfrm>
        </p:spPr>
        <p:txBody>
          <a:bodyPr>
            <a:normAutofit fontScale="90000"/>
          </a:bodyPr>
          <a:lstStyle/>
          <a:p>
            <a:r>
              <a:rPr lang="fr-FR" dirty="0"/>
              <a:t>(A Consolider)</a:t>
            </a: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53EE2062-1392-76BA-1461-44187966E9E8}"/>
              </a:ext>
            </a:extLst>
          </p:cNvPr>
          <p:cNvGrpSpPr/>
          <p:nvPr/>
        </p:nvGrpSpPr>
        <p:grpSpPr>
          <a:xfrm>
            <a:off x="944750" y="2377549"/>
            <a:ext cx="4448014" cy="3950068"/>
            <a:chOff x="108488" y="2094271"/>
            <a:chExt cx="4448014" cy="395006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5BEE4C-021C-B8AF-2AD8-C06AF32E1DDB}"/>
                </a:ext>
              </a:extLst>
            </p:cNvPr>
            <p:cNvSpPr/>
            <p:nvPr/>
          </p:nvSpPr>
          <p:spPr>
            <a:xfrm>
              <a:off x="108488" y="2094271"/>
              <a:ext cx="4448014" cy="3950068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3600" dirty="0"/>
                <a:t>Utilisateur</a:t>
              </a:r>
            </a:p>
          </p:txBody>
        </p: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D9FA7C74-0893-28C1-B2AF-D59E57EFA8AC}"/>
                </a:ext>
              </a:extLst>
            </p:cNvPr>
            <p:cNvSpPr/>
            <p:nvPr/>
          </p:nvSpPr>
          <p:spPr>
            <a:xfrm>
              <a:off x="385519" y="2913680"/>
              <a:ext cx="1724185" cy="128635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Garde Robe</a:t>
              </a:r>
            </a:p>
          </p:txBody>
        </p:sp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4C09E376-F447-052B-AADF-B3620C38FBD9}"/>
                </a:ext>
              </a:extLst>
            </p:cNvPr>
            <p:cNvSpPr/>
            <p:nvPr/>
          </p:nvSpPr>
          <p:spPr>
            <a:xfrm>
              <a:off x="2425483" y="2913680"/>
              <a:ext cx="1786178" cy="1286359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Préférences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9FF1D9B4-44DD-2394-35C5-CAA7693D0F6F}"/>
                </a:ext>
              </a:extLst>
            </p:cNvPr>
            <p:cNvSpPr txBox="1"/>
            <p:nvPr/>
          </p:nvSpPr>
          <p:spPr>
            <a:xfrm>
              <a:off x="385519" y="4419285"/>
              <a:ext cx="178617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Photos de l’utilisateur avec des vêtements qu’il possède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65352CC7-948D-6E08-545D-09E3F53FBCF1}"/>
                </a:ext>
              </a:extLst>
            </p:cNvPr>
            <p:cNvSpPr txBox="1"/>
            <p:nvPr/>
          </p:nvSpPr>
          <p:spPr>
            <a:xfrm>
              <a:off x="2369302" y="4419284"/>
              <a:ext cx="178617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Marques, Styles, Influenceuses, blogs, tendances préférées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8CC611F-7075-EA39-8F27-69CB8F090144}"/>
              </a:ext>
            </a:extLst>
          </p:cNvPr>
          <p:cNvGrpSpPr/>
          <p:nvPr/>
        </p:nvGrpSpPr>
        <p:grpSpPr>
          <a:xfrm>
            <a:off x="6800464" y="2377549"/>
            <a:ext cx="4448014" cy="3950068"/>
            <a:chOff x="108488" y="2094271"/>
            <a:chExt cx="4448014" cy="395006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C0D53A3-0A99-D03E-7F16-F589E56DB98A}"/>
                </a:ext>
              </a:extLst>
            </p:cNvPr>
            <p:cNvSpPr/>
            <p:nvPr/>
          </p:nvSpPr>
          <p:spPr>
            <a:xfrm>
              <a:off x="108488" y="2094271"/>
              <a:ext cx="4448014" cy="3950068"/>
            </a:xfrm>
            <a:prstGeom prst="rect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fr-FR" sz="3600" dirty="0"/>
                <a:t>Fashion Insta</a:t>
              </a:r>
            </a:p>
          </p:txBody>
        </p:sp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32278593-82DA-12AF-85B2-F16157E28CA5}"/>
                </a:ext>
              </a:extLst>
            </p:cNvPr>
            <p:cNvSpPr/>
            <p:nvPr/>
          </p:nvSpPr>
          <p:spPr>
            <a:xfrm>
              <a:off x="432013" y="2913680"/>
              <a:ext cx="1724185" cy="128635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Catalogue</a:t>
              </a:r>
            </a:p>
          </p:txBody>
        </p:sp>
        <p:sp>
          <p:nvSpPr>
            <p:cNvPr id="17" name="Rectangle : coins arrondis 16">
              <a:extLst>
                <a:ext uri="{FF2B5EF4-FFF2-40B4-BE49-F238E27FC236}">
                  <a16:creationId xmlns:a16="http://schemas.microsoft.com/office/drawing/2014/main" id="{8F4BB81F-EDAD-FB26-F27F-819A0CF7D8C5}"/>
                </a:ext>
              </a:extLst>
            </p:cNvPr>
            <p:cNvSpPr/>
            <p:nvPr/>
          </p:nvSpPr>
          <p:spPr>
            <a:xfrm>
              <a:off x="2471977" y="2913680"/>
              <a:ext cx="1786178" cy="1286359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Tendances</a:t>
              </a:r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F0F38440-B3A8-E528-8D55-EF67713EDF54}"/>
                </a:ext>
              </a:extLst>
            </p:cNvPr>
            <p:cNvSpPr txBox="1"/>
            <p:nvPr/>
          </p:nvSpPr>
          <p:spPr>
            <a:xfrm>
              <a:off x="432013" y="4419285"/>
              <a:ext cx="1786179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Images différents angles, description, prix, tags des styles de vêtement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6D011F79-7AC5-08FD-021E-44A41CE184B8}"/>
                </a:ext>
              </a:extLst>
            </p:cNvPr>
            <p:cNvSpPr txBox="1"/>
            <p:nvPr/>
          </p:nvSpPr>
          <p:spPr>
            <a:xfrm>
              <a:off x="2415796" y="4419284"/>
              <a:ext cx="1786179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dirty="0"/>
                <a:t>Libellé des styles vendus dans le catalogue</a:t>
              </a:r>
            </a:p>
          </p:txBody>
        </p:sp>
      </p:grpSp>
      <p:sp>
        <p:nvSpPr>
          <p:cNvPr id="24" name="Titre 1">
            <a:extLst>
              <a:ext uri="{FF2B5EF4-FFF2-40B4-BE49-F238E27FC236}">
                <a16:creationId xmlns:a16="http://schemas.microsoft.com/office/drawing/2014/main" id="{9F2935A6-D500-BDB8-0ACC-292A44B1C76F}"/>
              </a:ext>
            </a:extLst>
          </p:cNvPr>
          <p:cNvSpPr txBox="1">
            <a:spLocks/>
          </p:cNvSpPr>
          <p:nvPr/>
        </p:nvSpPr>
        <p:spPr>
          <a:xfrm>
            <a:off x="944750" y="1214377"/>
            <a:ext cx="4448014" cy="9334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A Construire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806FEBD2-696A-E5D1-3FBF-7DB1A5784A9E}"/>
              </a:ext>
            </a:extLst>
          </p:cNvPr>
          <p:cNvSpPr txBox="1">
            <a:spLocks/>
          </p:cNvSpPr>
          <p:nvPr/>
        </p:nvSpPr>
        <p:spPr>
          <a:xfrm>
            <a:off x="0" y="100521"/>
            <a:ext cx="12192000" cy="1012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400" dirty="0"/>
              <a:t>Données nécessaires et disponibles</a:t>
            </a:r>
          </a:p>
        </p:txBody>
      </p:sp>
    </p:spTree>
    <p:extLst>
      <p:ext uri="{BB962C8B-B14F-4D97-AF65-F5344CB8AC3E}">
        <p14:creationId xmlns:p14="http://schemas.microsoft.com/office/powerpoint/2010/main" val="3154111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AA4D-4343-7D95-054D-2500643DE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5AB0A6-EF46-6EED-82DF-18772A6907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Approche 1 :</a:t>
            </a:r>
            <a:br>
              <a:rPr lang="fr-FR" dirty="0"/>
            </a:br>
            <a:r>
              <a:rPr lang="fr-FR" dirty="0"/>
              <a:t>Recommandation par similarité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ABA053-FA6D-68E8-436D-3AB27B8BB6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 quel autre vêtement se vêtement ressemble ?</a:t>
            </a:r>
          </a:p>
        </p:txBody>
      </p:sp>
    </p:spTree>
    <p:extLst>
      <p:ext uri="{BB962C8B-B14F-4D97-AF65-F5344CB8AC3E}">
        <p14:creationId xmlns:p14="http://schemas.microsoft.com/office/powerpoint/2010/main" val="644731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7FA34-4FE7-40E6-3B66-06C11477E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9439C8-F357-E8C3-5A17-CCC627FDF7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017" y="294468"/>
            <a:ext cx="9144000" cy="6377150"/>
          </a:xfrm>
          <a:noFill/>
        </p:spPr>
        <p:txBody>
          <a:bodyPr anchor="ctr">
            <a:noAutofit/>
          </a:bodyPr>
          <a:lstStyle/>
          <a:p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Photo utilisateur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Segmentation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Vectorisation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Recherche d'articles similaires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Classement</a:t>
            </a:r>
          </a:p>
        </p:txBody>
      </p:sp>
    </p:spTree>
    <p:extLst>
      <p:ext uri="{BB962C8B-B14F-4D97-AF65-F5344CB8AC3E}">
        <p14:creationId xmlns:p14="http://schemas.microsoft.com/office/powerpoint/2010/main" val="15484371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49F78-6911-817E-0CD4-9371E9683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50788DF6-07B1-5552-69AD-DB68FB174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D'où vient le signal de similarité 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DAFF54A-6FCE-EF21-FA80-1F5A18944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0" y="1976853"/>
            <a:ext cx="2181529" cy="243874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D0EA8286-8EFB-57AE-2CED-C09E4AD43949}"/>
              </a:ext>
            </a:extLst>
          </p:cNvPr>
          <p:cNvSpPr txBox="1"/>
          <p:nvPr/>
        </p:nvSpPr>
        <p:spPr>
          <a:xfrm>
            <a:off x="2546313" y="4518708"/>
            <a:ext cx="1584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 err="1"/>
              <a:t>Embedding</a:t>
            </a:r>
            <a:r>
              <a:rPr lang="fr-FR" dirty="0"/>
              <a:t> A</a:t>
            </a:r>
          </a:p>
          <a:p>
            <a:pPr algn="ctr"/>
            <a:r>
              <a:rPr lang="fr-FR" dirty="0"/>
              <a:t>[0.8, 0.2, 0.6]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FA82769-8D61-7AC4-AA25-E47929A70AFD}"/>
              </a:ext>
            </a:extLst>
          </p:cNvPr>
          <p:cNvSpPr txBox="1"/>
          <p:nvPr/>
        </p:nvSpPr>
        <p:spPr>
          <a:xfrm>
            <a:off x="5828510" y="4518708"/>
            <a:ext cx="1584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 err="1"/>
              <a:t>Embedding</a:t>
            </a:r>
            <a:r>
              <a:rPr lang="fr-FR" dirty="0"/>
              <a:t> B</a:t>
            </a:r>
          </a:p>
          <a:p>
            <a:pPr algn="ctr"/>
            <a:r>
              <a:rPr lang="fr-FR" dirty="0"/>
              <a:t>[0.7, 0.3, 0.5]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FC13D8B-3304-5B61-DB93-A5986C7179A2}"/>
              </a:ext>
            </a:extLst>
          </p:cNvPr>
          <p:cNvSpPr txBox="1"/>
          <p:nvPr/>
        </p:nvSpPr>
        <p:spPr>
          <a:xfrm>
            <a:off x="749300" y="2842279"/>
            <a:ext cx="11470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4000" b="1" dirty="0"/>
              <a:t>+1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4969C26-CADF-1F60-8D97-4669D10BCBBB}"/>
              </a:ext>
            </a:extLst>
          </p:cNvPr>
          <p:cNvSpPr txBox="1"/>
          <p:nvPr/>
        </p:nvSpPr>
        <p:spPr>
          <a:xfrm>
            <a:off x="8641455" y="4518708"/>
            <a:ext cx="15847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 err="1"/>
              <a:t>Embedding</a:t>
            </a:r>
            <a:r>
              <a:rPr lang="fr-FR" dirty="0"/>
              <a:t> C</a:t>
            </a:r>
          </a:p>
          <a:p>
            <a:pPr algn="ctr"/>
            <a:r>
              <a:rPr lang="fr-FR" dirty="0"/>
              <a:t>[0.1, 0.9, 0.2]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6BB5D92-830E-ABA4-FAB0-3BEF8CF3E775}"/>
              </a:ext>
            </a:extLst>
          </p:cNvPr>
          <p:cNvSpPr txBox="1"/>
          <p:nvPr/>
        </p:nvSpPr>
        <p:spPr>
          <a:xfrm>
            <a:off x="10226156" y="2873057"/>
            <a:ext cx="1235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/>
              <a:t>-1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8A203028-44E3-13E3-C872-0FBE1A78D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0693" y="1976853"/>
            <a:ext cx="1066227" cy="2418134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832DFF4-C089-0FF7-03B5-4009B4C35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5889" y="2108478"/>
            <a:ext cx="2169944" cy="2144712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493802DA-7CC0-3A79-11B2-08C6779532F9}"/>
              </a:ext>
            </a:extLst>
          </p:cNvPr>
          <p:cNvSpPr txBox="1"/>
          <p:nvPr/>
        </p:nvSpPr>
        <p:spPr>
          <a:xfrm>
            <a:off x="3667575" y="5491857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/>
              <a:t>On compare 2 vecteurs dans leur espace</a:t>
            </a:r>
          </a:p>
        </p:txBody>
      </p:sp>
    </p:spTree>
    <p:extLst>
      <p:ext uri="{BB962C8B-B14F-4D97-AF65-F5344CB8AC3E}">
        <p14:creationId xmlns:p14="http://schemas.microsoft.com/office/powerpoint/2010/main" val="881353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ZoneTexte 36">
            <a:extLst>
              <a:ext uri="{FF2B5EF4-FFF2-40B4-BE49-F238E27FC236}">
                <a16:creationId xmlns:a16="http://schemas.microsoft.com/office/drawing/2014/main" id="{49E46C17-DC37-8287-A69B-E3236364979D}"/>
              </a:ext>
            </a:extLst>
          </p:cNvPr>
          <p:cNvSpPr txBox="1"/>
          <p:nvPr/>
        </p:nvSpPr>
        <p:spPr>
          <a:xfrm>
            <a:off x="4033775" y="3358553"/>
            <a:ext cx="75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Veste rouge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3E3038-96A4-F0D9-0482-5590AC8A1D33}"/>
              </a:ext>
            </a:extLst>
          </p:cNvPr>
          <p:cNvSpPr/>
          <p:nvPr/>
        </p:nvSpPr>
        <p:spPr>
          <a:xfrm>
            <a:off x="4994040" y="2300888"/>
            <a:ext cx="2185518" cy="613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Embedding</a:t>
            </a:r>
            <a:r>
              <a:rPr lang="fr-FR" sz="1400" dirty="0"/>
              <a:t> / Multimodal</a:t>
            </a: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fr-FR" sz="12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embedding</a:t>
            </a:r>
            <a:r>
              <a:rPr lang="fr-FR" sz="1200" b="1" dirty="0">
                <a:solidFill>
                  <a:schemeClr val="bg1"/>
                </a:solidFill>
                <a:latin typeface="Courier New" panose="02070309020205020404" pitchFamily="49" charset="0"/>
              </a:rPr>
              <a:t> model</a:t>
            </a:r>
            <a:r>
              <a:rPr lang="fr-FR" sz="12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BBBBD4F-A7B0-23FE-49C4-0C5797C2B5D0}"/>
              </a:ext>
            </a:extLst>
          </p:cNvPr>
          <p:cNvSpPr txBox="1"/>
          <p:nvPr/>
        </p:nvSpPr>
        <p:spPr>
          <a:xfrm>
            <a:off x="5313270" y="602972"/>
            <a:ext cx="15102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/>
              <a:t>Photo utilisateur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C32EBB8-CFB3-73C7-08B6-38D0248567C8}"/>
              </a:ext>
            </a:extLst>
          </p:cNvPr>
          <p:cNvSpPr txBox="1"/>
          <p:nvPr/>
        </p:nvSpPr>
        <p:spPr>
          <a:xfrm>
            <a:off x="5313270" y="1312924"/>
            <a:ext cx="15102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Segmentation</a:t>
            </a:r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4649E143-FE4A-4E47-F63A-58D2152B76DB}"/>
              </a:ext>
            </a:extLst>
          </p:cNvPr>
          <p:cNvCxnSpPr>
            <a:cxnSpLocks/>
            <a:stCxn id="98" idx="2"/>
          </p:cNvCxnSpPr>
          <p:nvPr/>
        </p:nvCxnSpPr>
        <p:spPr>
          <a:xfrm flipH="1">
            <a:off x="6086799" y="1801656"/>
            <a:ext cx="9201" cy="2226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1955BEA7-572D-7CD8-AA43-BA1E570DCA17}"/>
              </a:ext>
            </a:extLst>
          </p:cNvPr>
          <p:cNvCxnSpPr>
            <a:cxnSpLocks/>
            <a:stCxn id="98" idx="1"/>
            <a:endCxn id="138" idx="0"/>
          </p:cNvCxnSpPr>
          <p:nvPr/>
        </p:nvCxnSpPr>
        <p:spPr>
          <a:xfrm rot="10800000" flipV="1">
            <a:off x="4411331" y="1559796"/>
            <a:ext cx="591911" cy="42698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 : en angle 19">
            <a:extLst>
              <a:ext uri="{FF2B5EF4-FFF2-40B4-BE49-F238E27FC236}">
                <a16:creationId xmlns:a16="http://schemas.microsoft.com/office/drawing/2014/main" id="{BAE458C0-465B-573C-246F-2D7A8DB54A7C}"/>
              </a:ext>
            </a:extLst>
          </p:cNvPr>
          <p:cNvCxnSpPr>
            <a:cxnSpLocks/>
            <a:stCxn id="98" idx="3"/>
            <a:endCxn id="139" idx="0"/>
          </p:cNvCxnSpPr>
          <p:nvPr/>
        </p:nvCxnSpPr>
        <p:spPr>
          <a:xfrm>
            <a:off x="7188759" y="1559797"/>
            <a:ext cx="801664" cy="4305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66D44C7B-9EE7-6E07-24E5-684383E7A8D6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6086799" y="2914797"/>
            <a:ext cx="0" cy="3398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 : en angle 34">
            <a:extLst>
              <a:ext uri="{FF2B5EF4-FFF2-40B4-BE49-F238E27FC236}">
                <a16:creationId xmlns:a16="http://schemas.microsoft.com/office/drawing/2014/main" id="{F5F76310-8F2C-8A23-74B2-98E66FD56249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4411332" y="2607843"/>
            <a:ext cx="582708" cy="6468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 : en angle 35">
            <a:extLst>
              <a:ext uri="{FF2B5EF4-FFF2-40B4-BE49-F238E27FC236}">
                <a16:creationId xmlns:a16="http://schemas.microsoft.com/office/drawing/2014/main" id="{356F72D7-7F3D-06A7-9304-80E74793125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179558" y="2607843"/>
            <a:ext cx="838494" cy="609590"/>
          </a:xfrm>
          <a:prstGeom prst="bentConnector3">
            <a:avLst>
              <a:gd name="adj1" fmla="val 1003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503B9B53-5980-543D-6043-E4CC5B681530}"/>
              </a:ext>
            </a:extLst>
          </p:cNvPr>
          <p:cNvSpPr txBox="1"/>
          <p:nvPr/>
        </p:nvSpPr>
        <p:spPr>
          <a:xfrm>
            <a:off x="7540206" y="3362092"/>
            <a:ext cx="8912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Pantalon vert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A9CC93F3-6B43-FB00-2C83-9E1B23DF9C32}"/>
              </a:ext>
            </a:extLst>
          </p:cNvPr>
          <p:cNvSpPr txBox="1"/>
          <p:nvPr/>
        </p:nvSpPr>
        <p:spPr>
          <a:xfrm>
            <a:off x="5522135" y="3351733"/>
            <a:ext cx="1080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Ceinture noire</a:t>
            </a:r>
          </a:p>
        </p:txBody>
      </p:sp>
      <p:cxnSp>
        <p:nvCxnSpPr>
          <p:cNvPr id="41" name="Connecteur : en angle 40">
            <a:extLst>
              <a:ext uri="{FF2B5EF4-FFF2-40B4-BE49-F238E27FC236}">
                <a16:creationId xmlns:a16="http://schemas.microsoft.com/office/drawing/2014/main" id="{23652DEA-860C-5928-95D9-8E996E1536AD}"/>
              </a:ext>
            </a:extLst>
          </p:cNvPr>
          <p:cNvCxnSpPr>
            <a:cxnSpLocks/>
            <a:stCxn id="39" idx="2"/>
          </p:cNvCxnSpPr>
          <p:nvPr/>
        </p:nvCxnSpPr>
        <p:spPr>
          <a:xfrm rot="5400000">
            <a:off x="5275346" y="3912878"/>
            <a:ext cx="824813" cy="748962"/>
          </a:xfrm>
          <a:prstGeom prst="bentConnector3">
            <a:avLst>
              <a:gd name="adj1" fmla="val 50000"/>
            </a:avLst>
          </a:prstGeom>
          <a:ln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C925F02B-6CA7-F394-2706-2D9973C8916D}"/>
              </a:ext>
            </a:extLst>
          </p:cNvPr>
          <p:cNvCxnSpPr>
            <a:cxnSpLocks/>
            <a:stCxn id="39" idx="2"/>
          </p:cNvCxnSpPr>
          <p:nvPr/>
        </p:nvCxnSpPr>
        <p:spPr>
          <a:xfrm rot="16200000" flipH="1">
            <a:off x="6016893" y="3920293"/>
            <a:ext cx="821223" cy="730542"/>
          </a:xfrm>
          <a:prstGeom prst="bentConnector3">
            <a:avLst>
              <a:gd name="adj1" fmla="val 50000"/>
            </a:avLst>
          </a:prstGeom>
          <a:ln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E69A6A9-F882-A50E-D09D-86A56D53EFC1}"/>
              </a:ext>
            </a:extLst>
          </p:cNvPr>
          <p:cNvSpPr txBox="1"/>
          <p:nvPr/>
        </p:nvSpPr>
        <p:spPr>
          <a:xfrm>
            <a:off x="4383700" y="4754613"/>
            <a:ext cx="3634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Caractéristiques + </a:t>
            </a:r>
            <a:r>
              <a:rPr lang="fr-FR" sz="1400" dirty="0" err="1"/>
              <a:t>Embedding</a:t>
            </a:r>
            <a:endParaRPr lang="fr-FR" sz="1400" dirty="0"/>
          </a:p>
        </p:txBody>
      </p: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75D9D6DB-4BA8-8B03-E5D8-9E2C3DC24707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4411329" y="3881773"/>
            <a:ext cx="1" cy="1088113"/>
          </a:xfrm>
          <a:prstGeom prst="straightConnector1">
            <a:avLst/>
          </a:prstGeom>
          <a:ln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41AEBA4B-6AED-0F8E-CA68-213AC92376EA}"/>
              </a:ext>
            </a:extLst>
          </p:cNvPr>
          <p:cNvCxnSpPr>
            <a:cxnSpLocks/>
          </p:cNvCxnSpPr>
          <p:nvPr/>
        </p:nvCxnSpPr>
        <p:spPr>
          <a:xfrm>
            <a:off x="7975065" y="3870595"/>
            <a:ext cx="0" cy="1099291"/>
          </a:xfrm>
          <a:prstGeom prst="straightConnector1">
            <a:avLst/>
          </a:prstGeom>
          <a:ln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77">
            <a:extLst>
              <a:ext uri="{FF2B5EF4-FFF2-40B4-BE49-F238E27FC236}">
                <a16:creationId xmlns:a16="http://schemas.microsoft.com/office/drawing/2014/main" id="{C965A423-7B79-7CED-1B58-7C6109BEB357}"/>
              </a:ext>
            </a:extLst>
          </p:cNvPr>
          <p:cNvCxnSpPr>
            <a:cxnSpLocks/>
          </p:cNvCxnSpPr>
          <p:nvPr/>
        </p:nvCxnSpPr>
        <p:spPr>
          <a:xfrm>
            <a:off x="4383700" y="5067461"/>
            <a:ext cx="3713130" cy="0"/>
          </a:xfrm>
          <a:prstGeom prst="line">
            <a:avLst/>
          </a:prstGeom>
          <a:ln w="698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A7150D41-81C2-E828-FE09-A4BD1289E48F}"/>
              </a:ext>
            </a:extLst>
          </p:cNvPr>
          <p:cNvCxnSpPr>
            <a:cxnSpLocks/>
          </p:cNvCxnSpPr>
          <p:nvPr/>
        </p:nvCxnSpPr>
        <p:spPr>
          <a:xfrm>
            <a:off x="4383700" y="4774865"/>
            <a:ext cx="3685508" cy="0"/>
          </a:xfrm>
          <a:prstGeom prst="line">
            <a:avLst/>
          </a:prstGeom>
          <a:ln w="698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Flèche : bas 93">
            <a:extLst>
              <a:ext uri="{FF2B5EF4-FFF2-40B4-BE49-F238E27FC236}">
                <a16:creationId xmlns:a16="http://schemas.microsoft.com/office/drawing/2014/main" id="{D9DEA241-24B8-6FFB-7D32-1A89E87100A2}"/>
              </a:ext>
            </a:extLst>
          </p:cNvPr>
          <p:cNvSpPr/>
          <p:nvPr/>
        </p:nvSpPr>
        <p:spPr>
          <a:xfrm>
            <a:off x="5819218" y="5318749"/>
            <a:ext cx="747430" cy="493455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ZoneTexte 95">
            <a:extLst>
              <a:ext uri="{FF2B5EF4-FFF2-40B4-BE49-F238E27FC236}">
                <a16:creationId xmlns:a16="http://schemas.microsoft.com/office/drawing/2014/main" id="{232B429E-D583-F442-FC4A-683A7C58ECD2}"/>
              </a:ext>
            </a:extLst>
          </p:cNvPr>
          <p:cNvSpPr txBox="1"/>
          <p:nvPr/>
        </p:nvSpPr>
        <p:spPr>
          <a:xfrm>
            <a:off x="4339847" y="0"/>
            <a:ext cx="34263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/>
              <a:t>Base Line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E35AD00-7325-7934-96B1-683CCA59A8FD}"/>
              </a:ext>
            </a:extLst>
          </p:cNvPr>
          <p:cNvSpPr/>
          <p:nvPr/>
        </p:nvSpPr>
        <p:spPr>
          <a:xfrm>
            <a:off x="5003241" y="1317937"/>
            <a:ext cx="2185518" cy="483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Segmentation</a:t>
            </a:r>
          </a:p>
          <a:p>
            <a:pPr algn="ctr"/>
            <a:r>
              <a:rPr lang="fr-FR" sz="1400" dirty="0"/>
              <a:t>(vision model)</a:t>
            </a:r>
          </a:p>
        </p:txBody>
      </p:sp>
      <p:cxnSp>
        <p:nvCxnSpPr>
          <p:cNvPr id="100" name="Connecteur droit avec flèche 99">
            <a:extLst>
              <a:ext uri="{FF2B5EF4-FFF2-40B4-BE49-F238E27FC236}">
                <a16:creationId xmlns:a16="http://schemas.microsoft.com/office/drawing/2014/main" id="{655810AA-29A0-5DAE-A958-7943D6A9A53B}"/>
              </a:ext>
            </a:extLst>
          </p:cNvPr>
          <p:cNvCxnSpPr>
            <a:cxnSpLocks/>
          </p:cNvCxnSpPr>
          <p:nvPr/>
        </p:nvCxnSpPr>
        <p:spPr>
          <a:xfrm flipH="1">
            <a:off x="7197962" y="2054717"/>
            <a:ext cx="3228738" cy="448223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CE366D0-7FFD-1D10-25FC-CD261A75D952}"/>
              </a:ext>
            </a:extLst>
          </p:cNvPr>
          <p:cNvSpPr txBox="1"/>
          <p:nvPr/>
        </p:nvSpPr>
        <p:spPr>
          <a:xfrm>
            <a:off x="10267222" y="1731942"/>
            <a:ext cx="15102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 err="1">
                <a:solidFill>
                  <a:srgbClr val="FF0000"/>
                </a:solidFill>
              </a:rPr>
              <a:t>Embedding</a:t>
            </a:r>
            <a:r>
              <a:rPr lang="fr-FR" sz="1600" b="1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fr-FR" sz="1600" b="1" dirty="0">
                <a:solidFill>
                  <a:srgbClr val="FF0000"/>
                </a:solidFill>
              </a:rPr>
              <a:t>Utilisateur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DFDBAE3-E8C1-9229-FE04-A079D7EEA7A5}"/>
              </a:ext>
            </a:extLst>
          </p:cNvPr>
          <p:cNvSpPr/>
          <p:nvPr/>
        </p:nvSpPr>
        <p:spPr>
          <a:xfrm>
            <a:off x="4929890" y="5915111"/>
            <a:ext cx="2526086" cy="613909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Recherche par similarité</a:t>
            </a:r>
          </a:p>
          <a:p>
            <a:pPr algn="ctr"/>
            <a:r>
              <a:rPr lang="fr-FR" sz="1400" dirty="0"/>
              <a:t>(</a:t>
            </a:r>
            <a:r>
              <a:rPr lang="fr-FR" sz="1400" b="1" dirty="0"/>
              <a:t>similarité cosinus / caractéristiques)</a:t>
            </a:r>
            <a:endParaRPr lang="fr-FR" sz="1400" dirty="0"/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3A8A702D-0C79-685C-5A86-0FB816C870CD}"/>
              </a:ext>
            </a:extLst>
          </p:cNvPr>
          <p:cNvSpPr txBox="1"/>
          <p:nvPr/>
        </p:nvSpPr>
        <p:spPr>
          <a:xfrm>
            <a:off x="4033775" y="1986786"/>
            <a:ext cx="755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Haut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ABAD4916-8A53-0C09-F5EC-103749BF7668}"/>
              </a:ext>
            </a:extLst>
          </p:cNvPr>
          <p:cNvSpPr txBox="1"/>
          <p:nvPr/>
        </p:nvSpPr>
        <p:spPr>
          <a:xfrm>
            <a:off x="7612868" y="1990325"/>
            <a:ext cx="7551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Bas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034C7E1D-808D-2AF3-6224-C302A68987BB}"/>
              </a:ext>
            </a:extLst>
          </p:cNvPr>
          <p:cNvSpPr txBox="1"/>
          <p:nvPr/>
        </p:nvSpPr>
        <p:spPr>
          <a:xfrm>
            <a:off x="5522135" y="1979966"/>
            <a:ext cx="1080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Accessoire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ED48326C-E28F-802A-6497-D93B8357E2E8}"/>
              </a:ext>
            </a:extLst>
          </p:cNvPr>
          <p:cNvSpPr txBox="1"/>
          <p:nvPr/>
        </p:nvSpPr>
        <p:spPr>
          <a:xfrm rot="16200000">
            <a:off x="518856" y="6070053"/>
            <a:ext cx="15102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/>
              <a:t>Catalogue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1C5EA689-CBA2-2BBA-87BA-93782CD14A32}"/>
              </a:ext>
            </a:extLst>
          </p:cNvPr>
          <p:cNvSpPr/>
          <p:nvPr/>
        </p:nvSpPr>
        <p:spPr>
          <a:xfrm>
            <a:off x="1609077" y="5932375"/>
            <a:ext cx="2185518" cy="6139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err="1"/>
              <a:t>Embedding</a:t>
            </a:r>
            <a:r>
              <a:rPr lang="fr-FR" sz="1400" dirty="0"/>
              <a:t> / Multimodal</a:t>
            </a: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fr-FR" sz="12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embedding</a:t>
            </a:r>
            <a:r>
              <a:rPr lang="fr-FR" sz="1200" b="1" dirty="0">
                <a:solidFill>
                  <a:schemeClr val="bg1"/>
                </a:solidFill>
                <a:latin typeface="Courier New" panose="02070309020205020404" pitchFamily="49" charset="0"/>
              </a:rPr>
              <a:t> model</a:t>
            </a:r>
            <a:r>
              <a:rPr lang="fr-FR" sz="12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159" name="Flèche : bas 158">
            <a:extLst>
              <a:ext uri="{FF2B5EF4-FFF2-40B4-BE49-F238E27FC236}">
                <a16:creationId xmlns:a16="http://schemas.microsoft.com/office/drawing/2014/main" id="{9F209706-4521-9BD6-540E-AA0BBE72BF08}"/>
              </a:ext>
            </a:extLst>
          </p:cNvPr>
          <p:cNvSpPr/>
          <p:nvPr/>
        </p:nvSpPr>
        <p:spPr>
          <a:xfrm rot="16200000">
            <a:off x="4001404" y="5975339"/>
            <a:ext cx="747430" cy="493455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1C0314B-CBF2-6A1D-3E83-476CC6FA853B}"/>
              </a:ext>
            </a:extLst>
          </p:cNvPr>
          <p:cNvSpPr txBox="1"/>
          <p:nvPr/>
        </p:nvSpPr>
        <p:spPr>
          <a:xfrm>
            <a:off x="7764019" y="5877322"/>
            <a:ext cx="41489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score = 0.7 × </a:t>
            </a:r>
            <a:r>
              <a:rPr lang="fr-FR" dirty="0" err="1"/>
              <a:t>similarité_image</a:t>
            </a:r>
            <a:r>
              <a:rPr lang="fr-FR" dirty="0"/>
              <a:t> + 0.2 × </a:t>
            </a:r>
            <a:r>
              <a:rPr lang="fr-FR" dirty="0" err="1"/>
              <a:t>similarité_style</a:t>
            </a:r>
            <a:r>
              <a:rPr lang="fr-FR" dirty="0"/>
              <a:t> + 0.1 × </a:t>
            </a:r>
            <a:r>
              <a:rPr lang="fr-FR" dirty="0" err="1"/>
              <a:t>similarité_couleur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99564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206792B-9D39-C28A-5C7D-FD245CE05FBD}"/>
              </a:ext>
            </a:extLst>
          </p:cNvPr>
          <p:cNvSpPr/>
          <p:nvPr/>
        </p:nvSpPr>
        <p:spPr>
          <a:xfrm>
            <a:off x="618186" y="4153145"/>
            <a:ext cx="11214100" cy="232752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CC15CF0-832B-5101-A9A3-7BF6F7A503A2}"/>
              </a:ext>
            </a:extLst>
          </p:cNvPr>
          <p:cNvSpPr/>
          <p:nvPr/>
        </p:nvSpPr>
        <p:spPr>
          <a:xfrm>
            <a:off x="618186" y="1690688"/>
            <a:ext cx="11214100" cy="232752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AC5E50E-37DD-04D9-F88F-BA02B8CE4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b="1" dirty="0"/>
              <a:t>Exemple</a:t>
            </a:r>
            <a:endParaRPr lang="fr-FR" sz="60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0C8CC1-6600-255B-4C35-CD7673881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214100" cy="4351338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L'utilisateur possède :</a:t>
            </a:r>
          </a:p>
          <a:p>
            <a:r>
              <a:rPr lang="fr-FR" dirty="0"/>
              <a:t>Jean bleu</a:t>
            </a:r>
          </a:p>
          <a:p>
            <a:r>
              <a:rPr lang="fr-FR" dirty="0"/>
              <a:t>Veste noire</a:t>
            </a:r>
          </a:p>
          <a:p>
            <a:r>
              <a:rPr lang="fr-FR" dirty="0"/>
              <a:t>T-shirt blanc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/>
              <a:t>Le système recherche:</a:t>
            </a:r>
          </a:p>
          <a:p>
            <a:r>
              <a:rPr lang="fr-FR" dirty="0"/>
              <a:t>Articles (dans le catalogue) dont la représentation est proche de celles de la garde-robe et du profil utilisateur.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880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3F50C-01FA-05DF-6D11-27A618702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AFA4F8-FF70-8338-DDC7-A47D5921F4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Approche 2 :</a:t>
            </a:r>
            <a:br>
              <a:rPr lang="it-IT" dirty="0"/>
            </a:br>
            <a:r>
              <a:rPr lang="fr-FR" dirty="0"/>
              <a:t>Recommandation par compatibilité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EF3B5EA-D2B9-7907-4A5F-12E86B2C5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Avec quels autres vêtements ce vêtement peut-il être associé ?</a:t>
            </a:r>
          </a:p>
        </p:txBody>
      </p:sp>
    </p:spTree>
    <p:extLst>
      <p:ext uri="{BB962C8B-B14F-4D97-AF65-F5344CB8AC3E}">
        <p14:creationId xmlns:p14="http://schemas.microsoft.com/office/powerpoint/2010/main" val="1823636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7A27C-EF4E-A0C4-2D67-1BBDA7FDB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46F7EC-A0B7-AEFA-2D7C-63D30C66B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9017" y="294468"/>
            <a:ext cx="9144000" cy="6377150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Photo utilisateur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Segmentation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Vectorisation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Recherche par compatibilité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4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Classement</a:t>
            </a:r>
          </a:p>
        </p:txBody>
      </p:sp>
    </p:spTree>
    <p:extLst>
      <p:ext uri="{BB962C8B-B14F-4D97-AF65-F5344CB8AC3E}">
        <p14:creationId xmlns:p14="http://schemas.microsoft.com/office/powerpoint/2010/main" val="3922114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EAB0A-06DB-0DDA-4F2F-A7457EF4F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285DC324-7A6A-8053-4672-8A05ACB54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 dirty="0"/>
              <a:t>D'où vient le signal de compatibilité ?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AF5B0648-CD21-DCAC-FDC0-0BDC83117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792016"/>
              </p:ext>
            </p:extLst>
          </p:nvPr>
        </p:nvGraphicFramePr>
        <p:xfrm>
          <a:off x="2243371" y="2284731"/>
          <a:ext cx="6027873" cy="1463040"/>
        </p:xfrm>
        <a:graphic>
          <a:graphicData uri="http://schemas.openxmlformats.org/drawingml/2006/table">
            <a:tbl>
              <a:tblPr/>
              <a:tblGrid>
                <a:gridCol w="2009291">
                  <a:extLst>
                    <a:ext uri="{9D8B030D-6E8A-4147-A177-3AD203B41FA5}">
                      <a16:colId xmlns:a16="http://schemas.microsoft.com/office/drawing/2014/main" val="2969228565"/>
                    </a:ext>
                  </a:extLst>
                </a:gridCol>
                <a:gridCol w="2009291">
                  <a:extLst>
                    <a:ext uri="{9D8B030D-6E8A-4147-A177-3AD203B41FA5}">
                      <a16:colId xmlns:a16="http://schemas.microsoft.com/office/drawing/2014/main" val="3677953315"/>
                    </a:ext>
                  </a:extLst>
                </a:gridCol>
                <a:gridCol w="2009291">
                  <a:extLst>
                    <a:ext uri="{9D8B030D-6E8A-4147-A177-3AD203B41FA5}">
                      <a16:colId xmlns:a16="http://schemas.microsoft.com/office/drawing/2014/main" val="2094220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Outfit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Vêtement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Vêtement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433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jean bleu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T-shirt blanc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21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O2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pantalon noir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chemise blanche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039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jupe noire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pull beige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621533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F8E05188-0A34-E35B-4265-B63248389F23}"/>
              </a:ext>
            </a:extLst>
          </p:cNvPr>
          <p:cNvSpPr txBox="1"/>
          <p:nvPr/>
        </p:nvSpPr>
        <p:spPr>
          <a:xfrm>
            <a:off x="1698997" y="1690688"/>
            <a:ext cx="9331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Dataset</a:t>
            </a:r>
            <a:r>
              <a:rPr lang="fr-FR" sz="2400" b="1" dirty="0"/>
              <a:t> existant (associations cohérentes)</a:t>
            </a:r>
          </a:p>
        </p:txBody>
      </p:sp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06F6195A-D566-FA56-AB08-570501A66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8084049"/>
              </p:ext>
            </p:extLst>
          </p:nvPr>
        </p:nvGraphicFramePr>
        <p:xfrm>
          <a:off x="2243371" y="4671101"/>
          <a:ext cx="6027873" cy="1463040"/>
        </p:xfrm>
        <a:graphic>
          <a:graphicData uri="http://schemas.openxmlformats.org/drawingml/2006/table">
            <a:tbl>
              <a:tblPr/>
              <a:tblGrid>
                <a:gridCol w="2009291">
                  <a:extLst>
                    <a:ext uri="{9D8B030D-6E8A-4147-A177-3AD203B41FA5}">
                      <a16:colId xmlns:a16="http://schemas.microsoft.com/office/drawing/2014/main" val="2969228565"/>
                    </a:ext>
                  </a:extLst>
                </a:gridCol>
                <a:gridCol w="2009291">
                  <a:extLst>
                    <a:ext uri="{9D8B030D-6E8A-4147-A177-3AD203B41FA5}">
                      <a16:colId xmlns:a16="http://schemas.microsoft.com/office/drawing/2014/main" val="3677953315"/>
                    </a:ext>
                  </a:extLst>
                </a:gridCol>
                <a:gridCol w="2009291">
                  <a:extLst>
                    <a:ext uri="{9D8B030D-6E8A-4147-A177-3AD203B41FA5}">
                      <a16:colId xmlns:a16="http://schemas.microsoft.com/office/drawing/2014/main" val="2094220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Outfit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Vêtement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Vêtement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3433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jean bleu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robe rouge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9219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O2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pantalon noir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maillot de bain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3039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jupe noire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manteau de cuire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621533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B7A5482E-A56A-39D9-5174-B22FFF95982D}"/>
              </a:ext>
            </a:extLst>
          </p:cNvPr>
          <p:cNvSpPr txBox="1"/>
          <p:nvPr/>
        </p:nvSpPr>
        <p:spPr>
          <a:xfrm>
            <a:off x="1698997" y="4077058"/>
            <a:ext cx="9821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Dataset</a:t>
            </a:r>
            <a:r>
              <a:rPr lang="fr-FR" sz="2400" b="1" dirty="0"/>
              <a:t> construit (associations potentiellement incohérente)</a:t>
            </a:r>
          </a:p>
        </p:txBody>
      </p:sp>
      <p:sp>
        <p:nvSpPr>
          <p:cNvPr id="11" name="Flèche : courbe vers la gauche 10">
            <a:extLst>
              <a:ext uri="{FF2B5EF4-FFF2-40B4-BE49-F238E27FC236}">
                <a16:creationId xmlns:a16="http://schemas.microsoft.com/office/drawing/2014/main" id="{C2AFD99C-9F26-AEEC-91B9-F7C784C7020A}"/>
              </a:ext>
            </a:extLst>
          </p:cNvPr>
          <p:cNvSpPr/>
          <p:nvPr/>
        </p:nvSpPr>
        <p:spPr>
          <a:xfrm>
            <a:off x="10268918" y="2888476"/>
            <a:ext cx="1084882" cy="282233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5BD98B7-387F-6EA0-E693-A488668163B1}"/>
              </a:ext>
            </a:extLst>
          </p:cNvPr>
          <p:cNvSpPr txBox="1"/>
          <p:nvPr/>
        </p:nvSpPr>
        <p:spPr>
          <a:xfrm>
            <a:off x="9011612" y="2284731"/>
            <a:ext cx="90019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800" b="1" dirty="0"/>
              <a:t>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3187B84-5F58-3343-2C7C-7D32AEDAFC0E}"/>
              </a:ext>
            </a:extLst>
          </p:cNvPr>
          <p:cNvSpPr txBox="1"/>
          <p:nvPr/>
        </p:nvSpPr>
        <p:spPr>
          <a:xfrm>
            <a:off x="9011611" y="4679346"/>
            <a:ext cx="90019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8800" b="1" dirty="0"/>
              <a:t>0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40E9456-CBD2-9650-7A79-E30B83D10E0F}"/>
              </a:ext>
            </a:extLst>
          </p:cNvPr>
          <p:cNvSpPr txBox="1"/>
          <p:nvPr/>
        </p:nvSpPr>
        <p:spPr>
          <a:xfrm>
            <a:off x="9011611" y="2185981"/>
            <a:ext cx="900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positifs</a:t>
            </a:r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44B6A0D-DA2A-5A36-D523-B3C30979CEA9}"/>
              </a:ext>
            </a:extLst>
          </p:cNvPr>
          <p:cNvSpPr txBox="1"/>
          <p:nvPr/>
        </p:nvSpPr>
        <p:spPr>
          <a:xfrm>
            <a:off x="8928550" y="5875802"/>
            <a:ext cx="10663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/>
              <a:t>négatifs</a:t>
            </a:r>
            <a:endParaRPr lang="fr-FR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16DEBC6-53D8-D8B6-7E1A-AD3A418C217E}"/>
              </a:ext>
            </a:extLst>
          </p:cNvPr>
          <p:cNvSpPr txBox="1"/>
          <p:nvPr/>
        </p:nvSpPr>
        <p:spPr>
          <a:xfrm rot="16200000">
            <a:off x="-1057036" y="3633188"/>
            <a:ext cx="4294017" cy="70788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4000" b="1" dirty="0" err="1"/>
              <a:t>Dataset</a:t>
            </a:r>
            <a:r>
              <a:rPr lang="fr-FR" sz="4000" b="1" dirty="0"/>
              <a:t> </a:t>
            </a:r>
            <a:r>
              <a:rPr lang="fr-FR" sz="4000" b="1" dirty="0" err="1"/>
              <a:t>Outfits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4107969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61412-CEC4-05BD-2367-50D7ECF7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ZoneTexte 45">
            <a:extLst>
              <a:ext uri="{FF2B5EF4-FFF2-40B4-BE49-F238E27FC236}">
                <a16:creationId xmlns:a16="http://schemas.microsoft.com/office/drawing/2014/main" id="{9633CDE1-6458-33F6-71C4-986F46505BF3}"/>
              </a:ext>
            </a:extLst>
          </p:cNvPr>
          <p:cNvSpPr txBox="1"/>
          <p:nvPr/>
        </p:nvSpPr>
        <p:spPr>
          <a:xfrm>
            <a:off x="4505912" y="2318020"/>
            <a:ext cx="27912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Caractéristiques + </a:t>
            </a:r>
            <a:r>
              <a:rPr lang="fr-FR" sz="1400" dirty="0" err="1"/>
              <a:t>Embedding</a:t>
            </a:r>
            <a:endParaRPr lang="fr-FR" sz="1400" dirty="0"/>
          </a:p>
        </p:txBody>
      </p:sp>
      <p:cxnSp>
        <p:nvCxnSpPr>
          <p:cNvPr id="48" name="Connecteur : en angle 47">
            <a:extLst>
              <a:ext uri="{FF2B5EF4-FFF2-40B4-BE49-F238E27FC236}">
                <a16:creationId xmlns:a16="http://schemas.microsoft.com/office/drawing/2014/main" id="{5C5A5F11-3517-0197-4993-138E24EDEB87}"/>
              </a:ext>
            </a:extLst>
          </p:cNvPr>
          <p:cNvCxnSpPr>
            <a:cxnSpLocks/>
          </p:cNvCxnSpPr>
          <p:nvPr/>
        </p:nvCxnSpPr>
        <p:spPr>
          <a:xfrm rot="16200000" flipV="1">
            <a:off x="5286652" y="2668338"/>
            <a:ext cx="752791" cy="750646"/>
          </a:xfrm>
          <a:prstGeom prst="bentConnector3">
            <a:avLst>
              <a:gd name="adj1" fmla="val 50000"/>
            </a:avLst>
          </a:prstGeom>
          <a:ln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 : en angle 48">
            <a:extLst>
              <a:ext uri="{FF2B5EF4-FFF2-40B4-BE49-F238E27FC236}">
                <a16:creationId xmlns:a16="http://schemas.microsoft.com/office/drawing/2014/main" id="{79329E26-5730-F375-D5C1-EC5678035D6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037293" y="2664695"/>
            <a:ext cx="752791" cy="750646"/>
          </a:xfrm>
          <a:prstGeom prst="bentConnector3">
            <a:avLst>
              <a:gd name="adj1" fmla="val 50000"/>
            </a:avLst>
          </a:prstGeom>
          <a:ln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3E598774-56A1-C0AB-A75B-8EE535902032}"/>
              </a:ext>
            </a:extLst>
          </p:cNvPr>
          <p:cNvSpPr/>
          <p:nvPr/>
        </p:nvSpPr>
        <p:spPr>
          <a:xfrm>
            <a:off x="4957546" y="3423700"/>
            <a:ext cx="2217696" cy="6229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/>
              <a:t>Recherche par compatibilité</a:t>
            </a:r>
          </a:p>
          <a:p>
            <a:pPr algn="ctr"/>
            <a:r>
              <a:rPr lang="fr-FR" sz="1400" b="1" dirty="0">
                <a:solidFill>
                  <a:schemeClr val="bg1"/>
                </a:solidFill>
                <a:latin typeface="Courier New" panose="02070309020205020404" pitchFamily="49" charset="0"/>
              </a:rPr>
              <a:t>(Modèle entrainé)</a:t>
            </a:r>
          </a:p>
        </p:txBody>
      </p:sp>
      <p:cxnSp>
        <p:nvCxnSpPr>
          <p:cNvPr id="52" name="Connecteur droit avec flèche 51">
            <a:extLst>
              <a:ext uri="{FF2B5EF4-FFF2-40B4-BE49-F238E27FC236}">
                <a16:creationId xmlns:a16="http://schemas.microsoft.com/office/drawing/2014/main" id="{1056A6FB-92F1-F206-F134-7BF13F61BCFD}"/>
              </a:ext>
            </a:extLst>
          </p:cNvPr>
          <p:cNvCxnSpPr>
            <a:cxnSpLocks/>
          </p:cNvCxnSpPr>
          <p:nvPr/>
        </p:nvCxnSpPr>
        <p:spPr>
          <a:xfrm>
            <a:off x="6070558" y="4030206"/>
            <a:ext cx="0" cy="327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eur : en angle 52">
            <a:extLst>
              <a:ext uri="{FF2B5EF4-FFF2-40B4-BE49-F238E27FC236}">
                <a16:creationId xmlns:a16="http://schemas.microsoft.com/office/drawing/2014/main" id="{BC845E41-C8F8-3629-25B0-F46253BD23C1}"/>
              </a:ext>
            </a:extLst>
          </p:cNvPr>
          <p:cNvCxnSpPr>
            <a:cxnSpLocks/>
          </p:cNvCxnSpPr>
          <p:nvPr/>
        </p:nvCxnSpPr>
        <p:spPr>
          <a:xfrm rot="10800000" flipV="1">
            <a:off x="5139251" y="4022497"/>
            <a:ext cx="931308" cy="327259"/>
          </a:xfrm>
          <a:prstGeom prst="bentConnector3">
            <a:avLst>
              <a:gd name="adj1" fmla="val 9949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 : en angle 53">
            <a:extLst>
              <a:ext uri="{FF2B5EF4-FFF2-40B4-BE49-F238E27FC236}">
                <a16:creationId xmlns:a16="http://schemas.microsoft.com/office/drawing/2014/main" id="{EE85A33F-9478-C88B-23B6-7B97D6582A85}"/>
              </a:ext>
            </a:extLst>
          </p:cNvPr>
          <p:cNvCxnSpPr>
            <a:cxnSpLocks/>
          </p:cNvCxnSpPr>
          <p:nvPr/>
        </p:nvCxnSpPr>
        <p:spPr>
          <a:xfrm>
            <a:off x="6070558" y="4001302"/>
            <a:ext cx="980323" cy="348455"/>
          </a:xfrm>
          <a:prstGeom prst="bentConnector3">
            <a:avLst>
              <a:gd name="adj1" fmla="val 1000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ZoneTexte 54">
            <a:extLst>
              <a:ext uri="{FF2B5EF4-FFF2-40B4-BE49-F238E27FC236}">
                <a16:creationId xmlns:a16="http://schemas.microsoft.com/office/drawing/2014/main" id="{06BED708-A908-0A0E-4496-BDB13B24595E}"/>
              </a:ext>
            </a:extLst>
          </p:cNvPr>
          <p:cNvSpPr txBox="1"/>
          <p:nvPr/>
        </p:nvSpPr>
        <p:spPr>
          <a:xfrm>
            <a:off x="4756136" y="4455184"/>
            <a:ext cx="7662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Article</a:t>
            </a:r>
          </a:p>
          <a:p>
            <a:pPr algn="ctr"/>
            <a:r>
              <a:rPr lang="fr-FR" sz="1400" dirty="0"/>
              <a:t>B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9BB3A8D3-0A3F-031D-3F07-3C2A1F9EF536}"/>
              </a:ext>
            </a:extLst>
          </p:cNvPr>
          <p:cNvSpPr txBox="1"/>
          <p:nvPr/>
        </p:nvSpPr>
        <p:spPr>
          <a:xfrm>
            <a:off x="6600064" y="4455184"/>
            <a:ext cx="7662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Article</a:t>
            </a:r>
          </a:p>
          <a:p>
            <a:pPr algn="ctr"/>
            <a:r>
              <a:rPr lang="fr-FR" sz="1400" dirty="0"/>
              <a:t>D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22B02E79-C20C-EB24-5B59-D1BD03CE32D7}"/>
              </a:ext>
            </a:extLst>
          </p:cNvPr>
          <p:cNvSpPr txBox="1"/>
          <p:nvPr/>
        </p:nvSpPr>
        <p:spPr>
          <a:xfrm>
            <a:off x="5678100" y="4455184"/>
            <a:ext cx="7662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Article</a:t>
            </a:r>
          </a:p>
          <a:p>
            <a:pPr algn="ctr"/>
            <a:r>
              <a:rPr lang="fr-FR" sz="1400" dirty="0"/>
              <a:t>C</a:t>
            </a:r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32E96EDD-5C42-7974-330A-3512B1D73D0E}"/>
              </a:ext>
            </a:extLst>
          </p:cNvPr>
          <p:cNvSpPr/>
          <p:nvPr/>
        </p:nvSpPr>
        <p:spPr>
          <a:xfrm>
            <a:off x="4756136" y="4455184"/>
            <a:ext cx="2610153" cy="528711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64" name="Rectangle : coins arrondis 63">
            <a:extLst>
              <a:ext uri="{FF2B5EF4-FFF2-40B4-BE49-F238E27FC236}">
                <a16:creationId xmlns:a16="http://schemas.microsoft.com/office/drawing/2014/main" id="{942FAFFB-D548-317B-80FE-E4526B3667D4}"/>
              </a:ext>
            </a:extLst>
          </p:cNvPr>
          <p:cNvSpPr/>
          <p:nvPr/>
        </p:nvSpPr>
        <p:spPr>
          <a:xfrm>
            <a:off x="3470795" y="4452451"/>
            <a:ext cx="845650" cy="528711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fr-FR" sz="1400" dirty="0"/>
              <a:t>Article</a:t>
            </a:r>
          </a:p>
          <a:p>
            <a:pPr algn="ctr"/>
            <a:r>
              <a:rPr lang="fr-FR" sz="1400" dirty="0"/>
              <a:t>A</a:t>
            </a:r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3513BF21-2424-544E-DF09-342AE6B7EE3E}"/>
              </a:ext>
            </a:extLst>
          </p:cNvPr>
          <p:cNvSpPr/>
          <p:nvPr/>
        </p:nvSpPr>
        <p:spPr>
          <a:xfrm>
            <a:off x="7810649" y="4458775"/>
            <a:ext cx="845639" cy="528711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fr-FR" sz="1400" dirty="0"/>
              <a:t>Article</a:t>
            </a:r>
          </a:p>
          <a:p>
            <a:pPr algn="ctr"/>
            <a:r>
              <a:rPr lang="fr-FR" sz="1400" dirty="0"/>
              <a:t>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81DF959-BCFF-AFBF-638E-AD03D872A58C}"/>
              </a:ext>
            </a:extLst>
          </p:cNvPr>
          <p:cNvSpPr/>
          <p:nvPr/>
        </p:nvSpPr>
        <p:spPr>
          <a:xfrm>
            <a:off x="3470795" y="3434404"/>
            <a:ext cx="845648" cy="6229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  <a:latin typeface="Courier New" panose="02070309020205020404" pitchFamily="49" charset="0"/>
              </a:rPr>
              <a:t>Modèle</a:t>
            </a:r>
            <a:endParaRPr lang="fr-FR" sz="14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7E83963-7547-4D1C-BA22-CCE3A4116BC6}"/>
              </a:ext>
            </a:extLst>
          </p:cNvPr>
          <p:cNvSpPr/>
          <p:nvPr/>
        </p:nvSpPr>
        <p:spPr>
          <a:xfrm>
            <a:off x="7783149" y="3434404"/>
            <a:ext cx="845648" cy="6229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chemeClr val="bg1"/>
                </a:solidFill>
                <a:latin typeface="Courier New" panose="02070309020205020404" pitchFamily="49" charset="0"/>
              </a:rPr>
              <a:t>Modèle</a:t>
            </a:r>
            <a:endParaRPr lang="fr-FR" sz="1400" dirty="0"/>
          </a:p>
        </p:txBody>
      </p: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DDE9399B-2FFC-15DA-2CB5-D492DAD145A7}"/>
              </a:ext>
            </a:extLst>
          </p:cNvPr>
          <p:cNvCxnSpPr>
            <a:cxnSpLocks/>
          </p:cNvCxnSpPr>
          <p:nvPr/>
        </p:nvCxnSpPr>
        <p:spPr>
          <a:xfrm>
            <a:off x="3882960" y="2432738"/>
            <a:ext cx="0" cy="1001666"/>
          </a:xfrm>
          <a:prstGeom prst="straightConnector1">
            <a:avLst/>
          </a:prstGeom>
          <a:ln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FB918D5C-0183-B95C-F74A-10D43D7C7FED}"/>
              </a:ext>
            </a:extLst>
          </p:cNvPr>
          <p:cNvCxnSpPr>
            <a:cxnSpLocks/>
          </p:cNvCxnSpPr>
          <p:nvPr/>
        </p:nvCxnSpPr>
        <p:spPr>
          <a:xfrm>
            <a:off x="8230613" y="2432738"/>
            <a:ext cx="0" cy="1001666"/>
          </a:xfrm>
          <a:prstGeom prst="straightConnector1">
            <a:avLst/>
          </a:prstGeom>
          <a:ln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53953034-7FA6-93A3-E19F-F8209147A089}"/>
              </a:ext>
            </a:extLst>
          </p:cNvPr>
          <p:cNvCxnSpPr>
            <a:cxnSpLocks/>
          </p:cNvCxnSpPr>
          <p:nvPr/>
        </p:nvCxnSpPr>
        <p:spPr>
          <a:xfrm>
            <a:off x="3882960" y="4057352"/>
            <a:ext cx="0" cy="327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DD5F1B1F-3C22-81B5-47E0-79E327D3E8DD}"/>
              </a:ext>
            </a:extLst>
          </p:cNvPr>
          <p:cNvCxnSpPr>
            <a:cxnSpLocks/>
          </p:cNvCxnSpPr>
          <p:nvPr/>
        </p:nvCxnSpPr>
        <p:spPr>
          <a:xfrm>
            <a:off x="8230613" y="4057352"/>
            <a:ext cx="0" cy="3272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B95E0432-CEC6-CE9D-7B46-D342F8406251}"/>
              </a:ext>
            </a:extLst>
          </p:cNvPr>
          <p:cNvCxnSpPr/>
          <p:nvPr/>
        </p:nvCxnSpPr>
        <p:spPr>
          <a:xfrm>
            <a:off x="3729823" y="2614923"/>
            <a:ext cx="4593205" cy="0"/>
          </a:xfrm>
          <a:prstGeom prst="line">
            <a:avLst/>
          </a:prstGeom>
          <a:ln w="698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3DFDFD67-77EB-32C8-8273-6A2ECBF43692}"/>
              </a:ext>
            </a:extLst>
          </p:cNvPr>
          <p:cNvCxnSpPr/>
          <p:nvPr/>
        </p:nvCxnSpPr>
        <p:spPr>
          <a:xfrm>
            <a:off x="3729823" y="2318020"/>
            <a:ext cx="4593205" cy="0"/>
          </a:xfrm>
          <a:prstGeom prst="line">
            <a:avLst/>
          </a:prstGeom>
          <a:ln w="698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Croix 83">
            <a:extLst>
              <a:ext uri="{FF2B5EF4-FFF2-40B4-BE49-F238E27FC236}">
                <a16:creationId xmlns:a16="http://schemas.microsoft.com/office/drawing/2014/main" id="{8F5A6C4E-1072-814D-1DC8-0CEB2D10EB21}"/>
              </a:ext>
            </a:extLst>
          </p:cNvPr>
          <p:cNvSpPr/>
          <p:nvPr/>
        </p:nvSpPr>
        <p:spPr>
          <a:xfrm>
            <a:off x="4391772" y="4575359"/>
            <a:ext cx="314459" cy="314459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85" name="Croix 84">
            <a:extLst>
              <a:ext uri="{FF2B5EF4-FFF2-40B4-BE49-F238E27FC236}">
                <a16:creationId xmlns:a16="http://schemas.microsoft.com/office/drawing/2014/main" id="{EB2F9DD6-860D-8FD7-5AC9-9DDBF6219891}"/>
              </a:ext>
            </a:extLst>
          </p:cNvPr>
          <p:cNvSpPr/>
          <p:nvPr/>
        </p:nvSpPr>
        <p:spPr>
          <a:xfrm>
            <a:off x="7441616" y="4575359"/>
            <a:ext cx="314459" cy="314459"/>
          </a:xfrm>
          <a:prstGeom prst="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91" name="Accolade ouvrante 90">
            <a:extLst>
              <a:ext uri="{FF2B5EF4-FFF2-40B4-BE49-F238E27FC236}">
                <a16:creationId xmlns:a16="http://schemas.microsoft.com/office/drawing/2014/main" id="{B9D02342-36F8-3839-C712-20834FEB5742}"/>
              </a:ext>
            </a:extLst>
          </p:cNvPr>
          <p:cNvSpPr/>
          <p:nvPr/>
        </p:nvSpPr>
        <p:spPr>
          <a:xfrm rot="16200000" flipV="1">
            <a:off x="5837499" y="2959711"/>
            <a:ext cx="519581" cy="5063017"/>
          </a:xfrm>
          <a:prstGeom prst="leftBrace">
            <a:avLst>
              <a:gd name="adj1" fmla="val 121034"/>
              <a:gd name="adj2" fmla="val 47961"/>
            </a:avLst>
          </a:prstGeom>
          <a:ln w="539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400"/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5FB10201-64C6-F698-A5AE-B9E056C9A13D}"/>
              </a:ext>
            </a:extLst>
          </p:cNvPr>
          <p:cNvSpPr txBox="1"/>
          <p:nvPr/>
        </p:nvSpPr>
        <p:spPr>
          <a:xfrm>
            <a:off x="3631610" y="5852553"/>
            <a:ext cx="51580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600" b="1"/>
            </a:lvl1pPr>
          </a:lstStyle>
          <a:p>
            <a:r>
              <a:rPr lang="fr-FR" dirty="0"/>
              <a:t>Tri par:</a:t>
            </a:r>
          </a:p>
          <a:p>
            <a:r>
              <a:rPr lang="fr-FR" dirty="0"/>
              <a:t>Score moyen du </a:t>
            </a:r>
            <a:r>
              <a:rPr lang="fr-FR" dirty="0" err="1"/>
              <a:t>outfit</a:t>
            </a:r>
            <a:r>
              <a:rPr lang="fr-FR" dirty="0"/>
              <a:t> + score article popularité/préférence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5676CC42-D23B-364F-BFC6-64082D2AD729}"/>
              </a:ext>
            </a:extLst>
          </p:cNvPr>
          <p:cNvSpPr txBox="1"/>
          <p:nvPr/>
        </p:nvSpPr>
        <p:spPr>
          <a:xfrm>
            <a:off x="3183778" y="0"/>
            <a:ext cx="58586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/>
              <a:t>Approche avancée</a:t>
            </a:r>
          </a:p>
        </p:txBody>
      </p:sp>
      <p:cxnSp>
        <p:nvCxnSpPr>
          <p:cNvPr id="103" name="Connecteur droit avec flèche 102">
            <a:extLst>
              <a:ext uri="{FF2B5EF4-FFF2-40B4-BE49-F238E27FC236}">
                <a16:creationId xmlns:a16="http://schemas.microsoft.com/office/drawing/2014/main" id="{81A833E4-C78F-6056-1B52-822A2E6DAC9F}"/>
              </a:ext>
            </a:extLst>
          </p:cNvPr>
          <p:cNvCxnSpPr>
            <a:cxnSpLocks/>
          </p:cNvCxnSpPr>
          <p:nvPr/>
        </p:nvCxnSpPr>
        <p:spPr>
          <a:xfrm>
            <a:off x="2268055" y="2761714"/>
            <a:ext cx="2656295" cy="752283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4" name="ZoneTexte 103">
            <a:extLst>
              <a:ext uri="{FF2B5EF4-FFF2-40B4-BE49-F238E27FC236}">
                <a16:creationId xmlns:a16="http://schemas.microsoft.com/office/drawing/2014/main" id="{599033BE-A698-54CE-6975-5F039A73642A}"/>
              </a:ext>
            </a:extLst>
          </p:cNvPr>
          <p:cNvSpPr txBox="1"/>
          <p:nvPr/>
        </p:nvSpPr>
        <p:spPr>
          <a:xfrm>
            <a:off x="619581" y="3461873"/>
            <a:ext cx="1590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rgbClr val="FF0000"/>
                </a:solidFill>
              </a:rPr>
              <a:t>Caractéristiques Catalogue</a:t>
            </a:r>
          </a:p>
        </p:txBody>
      </p:sp>
      <p:sp>
        <p:nvSpPr>
          <p:cNvPr id="125" name="Flèche : bas 124">
            <a:extLst>
              <a:ext uri="{FF2B5EF4-FFF2-40B4-BE49-F238E27FC236}">
                <a16:creationId xmlns:a16="http://schemas.microsoft.com/office/drawing/2014/main" id="{01CA8169-0672-702C-6FF6-3CB3F4391001}"/>
              </a:ext>
            </a:extLst>
          </p:cNvPr>
          <p:cNvSpPr/>
          <p:nvPr/>
        </p:nvSpPr>
        <p:spPr>
          <a:xfrm>
            <a:off x="5678100" y="993311"/>
            <a:ext cx="747430" cy="545905"/>
          </a:xfrm>
          <a:prstGeom prst="down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21ECD349-771E-8796-C6EE-D93ADB82CA70}"/>
              </a:ext>
            </a:extLst>
          </p:cNvPr>
          <p:cNvGrpSpPr/>
          <p:nvPr/>
        </p:nvGrpSpPr>
        <p:grpSpPr>
          <a:xfrm>
            <a:off x="539065" y="2090142"/>
            <a:ext cx="1671250" cy="1298272"/>
            <a:chOff x="4558277" y="1511483"/>
            <a:chExt cx="1671250" cy="1298272"/>
          </a:xfrm>
        </p:grpSpPr>
        <p:sp>
          <p:nvSpPr>
            <p:cNvPr id="3" name="Légende : double flèche horizontale 2">
              <a:extLst>
                <a:ext uri="{FF2B5EF4-FFF2-40B4-BE49-F238E27FC236}">
                  <a16:creationId xmlns:a16="http://schemas.microsoft.com/office/drawing/2014/main" id="{1301D1E2-726F-114F-C43E-E68B480842C8}"/>
                </a:ext>
              </a:extLst>
            </p:cNvPr>
            <p:cNvSpPr/>
            <p:nvPr/>
          </p:nvSpPr>
          <p:spPr>
            <a:xfrm rot="5400000">
              <a:off x="4744766" y="1440420"/>
              <a:ext cx="1298272" cy="1440397"/>
            </a:xfrm>
            <a:prstGeom prst="leftRightArrowCallout">
              <a:avLst>
                <a:gd name="adj1" fmla="val 24595"/>
                <a:gd name="adj2" fmla="val 26803"/>
                <a:gd name="adj3" fmla="val 24054"/>
                <a:gd name="adj4" fmla="val 37082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D36837FC-9C16-ADD5-70BC-E58742D390BB}"/>
                </a:ext>
              </a:extLst>
            </p:cNvPr>
            <p:cNvSpPr txBox="1"/>
            <p:nvPr/>
          </p:nvSpPr>
          <p:spPr>
            <a:xfrm>
              <a:off x="4558277" y="1951029"/>
              <a:ext cx="16712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1200" b="1" dirty="0"/>
                <a:t>normalisation des taxonomies</a:t>
              </a:r>
              <a:endParaRPr lang="fr-FR" sz="1200" dirty="0"/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AA63A3DE-61D8-1058-1D1E-F080D4D62D79}"/>
              </a:ext>
            </a:extLst>
          </p:cNvPr>
          <p:cNvSpPr txBox="1"/>
          <p:nvPr/>
        </p:nvSpPr>
        <p:spPr>
          <a:xfrm>
            <a:off x="619581" y="1471202"/>
            <a:ext cx="15907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rgbClr val="FF0000"/>
                </a:solidFill>
              </a:rPr>
              <a:t>Caractéristiques </a:t>
            </a:r>
          </a:p>
          <a:p>
            <a:pPr algn="ctr"/>
            <a:r>
              <a:rPr lang="fr-FR" sz="1600" b="1" dirty="0">
                <a:solidFill>
                  <a:srgbClr val="FF0000"/>
                </a:solidFill>
              </a:rPr>
              <a:t>Utilisateur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FE8434E-3582-A94C-4E67-28B8333C12C5}"/>
              </a:ext>
            </a:extLst>
          </p:cNvPr>
          <p:cNvSpPr txBox="1"/>
          <p:nvPr/>
        </p:nvSpPr>
        <p:spPr>
          <a:xfrm>
            <a:off x="5355850" y="599804"/>
            <a:ext cx="1391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/>
              <a:t>+ Base Line 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4A3B143-1520-B832-CCCE-6C8E56283DB9}"/>
              </a:ext>
            </a:extLst>
          </p:cNvPr>
          <p:cNvSpPr txBox="1"/>
          <p:nvPr/>
        </p:nvSpPr>
        <p:spPr>
          <a:xfrm>
            <a:off x="3505405" y="1711969"/>
            <a:ext cx="75510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Veste rouge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EE41387-FDDC-D94D-7F3B-E0424E63D257}"/>
              </a:ext>
            </a:extLst>
          </p:cNvPr>
          <p:cNvSpPr txBox="1"/>
          <p:nvPr/>
        </p:nvSpPr>
        <p:spPr>
          <a:xfrm>
            <a:off x="7765006" y="1690280"/>
            <a:ext cx="8912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Pantalon vert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1D8F50C-222B-2711-8C79-AAEA48BF7D71}"/>
              </a:ext>
            </a:extLst>
          </p:cNvPr>
          <p:cNvSpPr txBox="1"/>
          <p:nvPr/>
        </p:nvSpPr>
        <p:spPr>
          <a:xfrm>
            <a:off x="5498267" y="1690437"/>
            <a:ext cx="10801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/>
              <a:t>Ceinture noire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51723EA-74D9-C200-95EA-569CD0690F75}"/>
              </a:ext>
            </a:extLst>
          </p:cNvPr>
          <p:cNvSpPr txBox="1"/>
          <p:nvPr/>
        </p:nvSpPr>
        <p:spPr>
          <a:xfrm>
            <a:off x="7959144" y="5940737"/>
            <a:ext cx="423285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/>
              <a:t>score =</a:t>
            </a:r>
          </a:p>
          <a:p>
            <a:pPr lvl="0">
              <a:defRPr/>
            </a:pPr>
            <a:r>
              <a:rPr lang="fr-FR" sz="1400" dirty="0"/>
              <a:t>(0,17 × tête + 0,17 × haut + 0.17 × bas + 0.17 × pieds)</a:t>
            </a:r>
          </a:p>
          <a:p>
            <a:pPr lvl="0">
              <a:defRPr/>
            </a:pPr>
            <a:r>
              <a:rPr lang="fr-FR" sz="1400" dirty="0"/>
              <a:t>+ (0.2 × </a:t>
            </a:r>
            <a:r>
              <a:rPr lang="fr-FR" sz="1400" dirty="0" err="1"/>
              <a:t>similarité_style</a:t>
            </a:r>
            <a:r>
              <a:rPr lang="fr-FR" sz="1400" dirty="0"/>
              <a:t> + 0.1 × </a:t>
            </a:r>
            <a:r>
              <a:rPr lang="fr-FR" sz="1400" dirty="0" err="1"/>
              <a:t>similarité_couleur</a:t>
            </a:r>
            <a:r>
              <a:rPr lang="fr-FR" sz="1400" dirty="0"/>
              <a:t>)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1EFF199-BBB9-BF34-EFBF-776E792F740D}"/>
              </a:ext>
            </a:extLst>
          </p:cNvPr>
          <p:cNvSpPr txBox="1"/>
          <p:nvPr/>
        </p:nvSpPr>
        <p:spPr>
          <a:xfrm>
            <a:off x="5571158" y="5121667"/>
            <a:ext cx="12587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600" b="1" dirty="0">
                <a:solidFill>
                  <a:srgbClr val="FF0000"/>
                </a:solidFill>
              </a:rPr>
              <a:t>(A+C+E) ÷ 3</a:t>
            </a:r>
          </a:p>
        </p:txBody>
      </p:sp>
    </p:spTree>
    <p:extLst>
      <p:ext uri="{BB962C8B-B14F-4D97-AF65-F5344CB8AC3E}">
        <p14:creationId xmlns:p14="http://schemas.microsoft.com/office/powerpoint/2010/main" val="1914711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C68215-C275-E746-D66D-EC98CEC65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Ce que le modèle apprend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DCCC3F41-F317-A065-AE4D-D1CE1772F103}"/>
              </a:ext>
            </a:extLst>
          </p:cNvPr>
          <p:cNvGrpSpPr/>
          <p:nvPr/>
        </p:nvGrpSpPr>
        <p:grpSpPr>
          <a:xfrm>
            <a:off x="990600" y="2029490"/>
            <a:ext cx="4739326" cy="4460852"/>
            <a:chOff x="838200" y="2001665"/>
            <a:chExt cx="4739326" cy="4460852"/>
          </a:xfrm>
        </p:grpSpPr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506F3689-C67F-BE37-46C5-BCE2C4D57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2001665"/>
              <a:ext cx="2181529" cy="2438740"/>
            </a:xfrm>
            <a:prstGeom prst="rect">
              <a:avLst/>
            </a:prstGeom>
          </p:spPr>
        </p:pic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CDEEA4EB-9754-245B-B37D-764E5303D54D}"/>
                </a:ext>
              </a:extLst>
            </p:cNvPr>
            <p:cNvSpPr txBox="1"/>
            <p:nvPr/>
          </p:nvSpPr>
          <p:spPr>
            <a:xfrm>
              <a:off x="1136613" y="4543520"/>
              <a:ext cx="15847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 err="1"/>
                <a:t>Embedding</a:t>
              </a:r>
              <a:r>
                <a:rPr lang="fr-FR" dirty="0"/>
                <a:t> 1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997A7F91-3333-DF5D-2E6C-42EB318CB8BD}"/>
                </a:ext>
              </a:extLst>
            </p:cNvPr>
            <p:cNvSpPr txBox="1"/>
            <p:nvPr/>
          </p:nvSpPr>
          <p:spPr>
            <a:xfrm>
              <a:off x="3992825" y="4543520"/>
              <a:ext cx="15847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dirty="0" err="1"/>
                <a:t>Embedding</a:t>
              </a:r>
              <a:r>
                <a:rPr lang="fr-FR" dirty="0"/>
                <a:t> 2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E02622B4-9FE7-2D18-C48C-8E76618BB197}"/>
                </a:ext>
              </a:extLst>
            </p:cNvPr>
            <p:cNvSpPr txBox="1"/>
            <p:nvPr/>
          </p:nvSpPr>
          <p:spPr>
            <a:xfrm>
              <a:off x="3108128" y="2497760"/>
              <a:ext cx="900193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8800" b="1" dirty="0"/>
                <a:t>+</a:t>
              </a:r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C2B40044-3492-1DD1-95A2-7A10B7E9BF08}"/>
                </a:ext>
              </a:extLst>
            </p:cNvPr>
            <p:cNvSpPr txBox="1"/>
            <p:nvPr/>
          </p:nvSpPr>
          <p:spPr>
            <a:xfrm>
              <a:off x="1599701" y="5015967"/>
              <a:ext cx="3054670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8800" b="1" dirty="0"/>
                <a:t>= 0,91</a:t>
              </a:r>
            </a:p>
          </p:txBody>
        </p:sp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6EB3172E-BB4F-ED62-6FE5-A8FDD9711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1258" y="2001665"/>
              <a:ext cx="1066227" cy="2418134"/>
            </a:xfrm>
            <a:prstGeom prst="rect">
              <a:avLst/>
            </a:prstGeom>
          </p:spPr>
        </p:pic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22EB9826-6343-1499-1205-039E85C87B8A}"/>
              </a:ext>
            </a:extLst>
          </p:cNvPr>
          <p:cNvGrpSpPr/>
          <p:nvPr/>
        </p:nvGrpSpPr>
        <p:grpSpPr>
          <a:xfrm>
            <a:off x="6614474" y="2028184"/>
            <a:ext cx="4739326" cy="4464691"/>
            <a:chOff x="6614474" y="2028184"/>
            <a:chExt cx="4739326" cy="4464691"/>
          </a:xfrm>
        </p:grpSpPr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CF7294C3-532D-313C-8424-486679CB26F4}"/>
                </a:ext>
              </a:extLst>
            </p:cNvPr>
            <p:cNvGrpSpPr/>
            <p:nvPr/>
          </p:nvGrpSpPr>
          <p:grpSpPr>
            <a:xfrm>
              <a:off x="6614474" y="2032023"/>
              <a:ext cx="4739326" cy="4460852"/>
              <a:chOff x="838200" y="2001665"/>
              <a:chExt cx="4739326" cy="4460852"/>
            </a:xfrm>
          </p:grpSpPr>
          <p:pic>
            <p:nvPicPr>
              <p:cNvPr id="7" name="Image 6">
                <a:extLst>
                  <a:ext uri="{FF2B5EF4-FFF2-40B4-BE49-F238E27FC236}">
                    <a16:creationId xmlns:a16="http://schemas.microsoft.com/office/drawing/2014/main" id="{D48F2FD5-3F2C-4EE7-82BD-828178B87C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8200" y="2001665"/>
                <a:ext cx="2181529" cy="2438740"/>
              </a:xfrm>
              <a:prstGeom prst="rect">
                <a:avLst/>
              </a:prstGeom>
            </p:spPr>
          </p:pic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30D77E4B-8D79-5FC7-464C-044C8BA01AA7}"/>
                  </a:ext>
                </a:extLst>
              </p:cNvPr>
              <p:cNvSpPr txBox="1"/>
              <p:nvPr/>
            </p:nvSpPr>
            <p:spPr>
              <a:xfrm>
                <a:off x="1136613" y="4543520"/>
                <a:ext cx="1584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 err="1"/>
                  <a:t>Embedding</a:t>
                </a:r>
                <a:r>
                  <a:rPr lang="fr-FR" dirty="0"/>
                  <a:t> 1</a:t>
                </a:r>
              </a:p>
            </p:txBody>
          </p:sp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AC471F0B-FE25-E7EB-7ED0-F2256DC80C95}"/>
                  </a:ext>
                </a:extLst>
              </p:cNvPr>
              <p:cNvSpPr txBox="1"/>
              <p:nvPr/>
            </p:nvSpPr>
            <p:spPr>
              <a:xfrm>
                <a:off x="3992825" y="4543520"/>
                <a:ext cx="15847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dirty="0" err="1"/>
                  <a:t>Embedding</a:t>
                </a:r>
                <a:r>
                  <a:rPr lang="fr-FR" dirty="0"/>
                  <a:t> 2</a:t>
                </a:r>
              </a:p>
            </p:txBody>
          </p:sp>
          <p:sp>
            <p:nvSpPr>
              <p:cNvPr id="13" name="ZoneTexte 12">
                <a:extLst>
                  <a:ext uri="{FF2B5EF4-FFF2-40B4-BE49-F238E27FC236}">
                    <a16:creationId xmlns:a16="http://schemas.microsoft.com/office/drawing/2014/main" id="{E9EBEECF-65D4-B75C-BF0D-71728510627D}"/>
                  </a:ext>
                </a:extLst>
              </p:cNvPr>
              <p:cNvSpPr txBox="1"/>
              <p:nvPr/>
            </p:nvSpPr>
            <p:spPr>
              <a:xfrm>
                <a:off x="3108128" y="2497760"/>
                <a:ext cx="900193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8800" b="1" dirty="0"/>
                  <a:t>+</a:t>
                </a:r>
              </a:p>
            </p:txBody>
          </p:sp>
          <p:sp>
            <p:nvSpPr>
              <p:cNvPr id="14" name="ZoneTexte 13">
                <a:extLst>
                  <a:ext uri="{FF2B5EF4-FFF2-40B4-BE49-F238E27FC236}">
                    <a16:creationId xmlns:a16="http://schemas.microsoft.com/office/drawing/2014/main" id="{96367F6E-6A8F-BC75-49AA-D75F9796CFB2}"/>
                  </a:ext>
                </a:extLst>
              </p:cNvPr>
              <p:cNvSpPr txBox="1"/>
              <p:nvPr/>
            </p:nvSpPr>
            <p:spPr>
              <a:xfrm>
                <a:off x="1599701" y="5015967"/>
                <a:ext cx="3054670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8800" b="1" dirty="0"/>
                  <a:t>= 0,54</a:t>
                </a:r>
              </a:p>
            </p:txBody>
          </p:sp>
        </p:grpSp>
        <p:graphicFrame>
          <p:nvGraphicFramePr>
            <p:cNvPr id="29" name="Objet 28">
              <a:extLst>
                <a:ext uri="{FF2B5EF4-FFF2-40B4-BE49-F238E27FC236}">
                  <a16:creationId xmlns:a16="http://schemas.microsoft.com/office/drawing/2014/main" id="{1A9954F9-9DE8-53B2-AAD8-6A652D870D8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007244"/>
                </p:ext>
              </p:extLst>
            </p:nvPr>
          </p:nvGraphicFramePr>
          <p:xfrm>
            <a:off x="9960797" y="2028184"/>
            <a:ext cx="942190" cy="2543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992384" imgH="2677988" progId="">
                    <p:embed/>
                  </p:oleObj>
                </mc:Choice>
                <mc:Fallback>
                  <p:oleObj r:id="rId5" imgW="992384" imgH="2677988" progId="">
                    <p:embed/>
                    <p:pic>
                      <p:nvPicPr>
                        <p:cNvPr id="28" name="Objet 27">
                          <a:extLst>
                            <a:ext uri="{FF2B5EF4-FFF2-40B4-BE49-F238E27FC236}">
                              <a16:creationId xmlns:a16="http://schemas.microsoft.com/office/drawing/2014/main" id="{1A9954F9-9DE8-53B2-AAD8-6A652D870D8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9960797" y="2028184"/>
                          <a:ext cx="942190" cy="25431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9179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CA8F2-4565-45B5-52A3-E7D424DAF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DCDC51-D903-50FB-0CA5-06B4CA375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Utiliser ces scores pour rechercher les meilleurs compléments à la garde-robe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683242FC-7565-1E92-8CC2-F35D271FFE17}"/>
              </a:ext>
            </a:extLst>
          </p:cNvPr>
          <p:cNvGrpSpPr/>
          <p:nvPr/>
        </p:nvGrpSpPr>
        <p:grpSpPr>
          <a:xfrm>
            <a:off x="1070674" y="2912895"/>
            <a:ext cx="2868478" cy="2362903"/>
            <a:chOff x="838200" y="2001665"/>
            <a:chExt cx="4739326" cy="3746245"/>
          </a:xfrm>
        </p:grpSpPr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EAE0B616-5CF3-E827-893E-08C93017F3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2001665"/>
              <a:ext cx="2181529" cy="2438740"/>
            </a:xfrm>
            <a:prstGeom prst="rect">
              <a:avLst/>
            </a:prstGeom>
          </p:spPr>
        </p:pic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97B5AE23-EB73-FC32-48CC-0F2887090847}"/>
                </a:ext>
              </a:extLst>
            </p:cNvPr>
            <p:cNvSpPr txBox="1"/>
            <p:nvPr/>
          </p:nvSpPr>
          <p:spPr>
            <a:xfrm>
              <a:off x="1136613" y="4543520"/>
              <a:ext cx="158470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100" dirty="0" err="1"/>
                <a:t>Embedding</a:t>
              </a:r>
              <a:r>
                <a:rPr lang="fr-FR" sz="1100" dirty="0"/>
                <a:t> 1</a:t>
              </a:r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4399111C-62DE-2CC3-9CA9-19FCAC983771}"/>
                </a:ext>
              </a:extLst>
            </p:cNvPr>
            <p:cNvSpPr txBox="1"/>
            <p:nvPr/>
          </p:nvSpPr>
          <p:spPr>
            <a:xfrm>
              <a:off x="3992825" y="4543520"/>
              <a:ext cx="158470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100" dirty="0" err="1"/>
                <a:t>Embedding</a:t>
              </a:r>
              <a:r>
                <a:rPr lang="fr-FR" sz="1100" dirty="0"/>
                <a:t> 2</a:t>
              </a:r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E15C5F9C-B7BA-BB3D-E158-D96E4FD20E6C}"/>
                </a:ext>
              </a:extLst>
            </p:cNvPr>
            <p:cNvSpPr txBox="1"/>
            <p:nvPr/>
          </p:nvSpPr>
          <p:spPr>
            <a:xfrm>
              <a:off x="3108128" y="2497760"/>
              <a:ext cx="900193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6000" b="1" dirty="0"/>
                <a:t>+</a:t>
              </a:r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8652BB88-DCAC-31CC-30C5-C4837D48299F}"/>
                </a:ext>
              </a:extLst>
            </p:cNvPr>
            <p:cNvSpPr txBox="1"/>
            <p:nvPr/>
          </p:nvSpPr>
          <p:spPr>
            <a:xfrm>
              <a:off x="1599702" y="5015967"/>
              <a:ext cx="3054671" cy="731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400" b="1" dirty="0"/>
                <a:t>= 0,91</a:t>
              </a:r>
            </a:p>
          </p:txBody>
        </p:sp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7D6C244C-31DF-393A-4087-560E8AD3C8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1258" y="2001665"/>
              <a:ext cx="1066227" cy="2418134"/>
            </a:xfrm>
            <a:prstGeom prst="rect">
              <a:avLst/>
            </a:prstGeom>
          </p:spPr>
        </p:pic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64F20F8E-E2F6-EA27-F55A-AAD1F78D1DC6}"/>
              </a:ext>
            </a:extLst>
          </p:cNvPr>
          <p:cNvGrpSpPr/>
          <p:nvPr/>
        </p:nvGrpSpPr>
        <p:grpSpPr>
          <a:xfrm>
            <a:off x="4850862" y="2912896"/>
            <a:ext cx="2868477" cy="2362904"/>
            <a:chOff x="838200" y="2001665"/>
            <a:chExt cx="4739326" cy="3746245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58405D62-9728-C131-4EDA-4EC32F3E7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2001665"/>
              <a:ext cx="2181529" cy="2438740"/>
            </a:xfrm>
            <a:prstGeom prst="rect">
              <a:avLst/>
            </a:prstGeom>
          </p:spPr>
        </p:pic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0CC23336-521E-92BE-4274-A2D9BDD29432}"/>
                </a:ext>
              </a:extLst>
            </p:cNvPr>
            <p:cNvSpPr txBox="1"/>
            <p:nvPr/>
          </p:nvSpPr>
          <p:spPr>
            <a:xfrm>
              <a:off x="1136613" y="4543520"/>
              <a:ext cx="158470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100" dirty="0" err="1"/>
                <a:t>Embedding</a:t>
              </a:r>
              <a:r>
                <a:rPr lang="fr-FR" sz="1100" dirty="0"/>
                <a:t> 1</a:t>
              </a: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1AD841C2-1C58-87FE-8A72-204AE13D3485}"/>
                </a:ext>
              </a:extLst>
            </p:cNvPr>
            <p:cNvSpPr txBox="1"/>
            <p:nvPr/>
          </p:nvSpPr>
          <p:spPr>
            <a:xfrm>
              <a:off x="3992825" y="4543520"/>
              <a:ext cx="158470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100" dirty="0" err="1"/>
                <a:t>Embedding</a:t>
              </a:r>
              <a:r>
                <a:rPr lang="fr-FR" sz="1100" dirty="0"/>
                <a:t> 2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D9687C89-7722-3665-2392-4BB0B359B6D3}"/>
                </a:ext>
              </a:extLst>
            </p:cNvPr>
            <p:cNvSpPr txBox="1"/>
            <p:nvPr/>
          </p:nvSpPr>
          <p:spPr>
            <a:xfrm>
              <a:off x="3108129" y="2497760"/>
              <a:ext cx="900193" cy="10156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6000" b="1" dirty="0"/>
                <a:t>+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41260C29-67A4-99FA-EF53-6406B25399AB}"/>
                </a:ext>
              </a:extLst>
            </p:cNvPr>
            <p:cNvSpPr txBox="1"/>
            <p:nvPr/>
          </p:nvSpPr>
          <p:spPr>
            <a:xfrm>
              <a:off x="1599702" y="5015967"/>
              <a:ext cx="3054671" cy="731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400" b="1" dirty="0"/>
                <a:t>= 0,78</a:t>
              </a:r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11FB109-1743-C50C-E50B-A8F48A602471}"/>
              </a:ext>
            </a:extLst>
          </p:cNvPr>
          <p:cNvGrpSpPr/>
          <p:nvPr/>
        </p:nvGrpSpPr>
        <p:grpSpPr>
          <a:xfrm>
            <a:off x="8665936" y="2912895"/>
            <a:ext cx="2687863" cy="2362903"/>
            <a:chOff x="1136613" y="2001665"/>
            <a:chExt cx="4440913" cy="3746245"/>
          </a:xfrm>
        </p:grpSpPr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F7B7BB13-521E-D4CF-4B01-0CCB2A6FED62}"/>
                </a:ext>
              </a:extLst>
            </p:cNvPr>
            <p:cNvSpPr txBox="1"/>
            <p:nvPr/>
          </p:nvSpPr>
          <p:spPr>
            <a:xfrm>
              <a:off x="1136613" y="4543520"/>
              <a:ext cx="158470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100" dirty="0" err="1"/>
                <a:t>Embedding</a:t>
              </a:r>
              <a:r>
                <a:rPr lang="fr-FR" sz="1100" dirty="0"/>
                <a:t> 1</a:t>
              </a:r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551C5BAE-A026-149F-E17E-99C6B7FC20A5}"/>
                </a:ext>
              </a:extLst>
            </p:cNvPr>
            <p:cNvSpPr txBox="1"/>
            <p:nvPr/>
          </p:nvSpPr>
          <p:spPr>
            <a:xfrm>
              <a:off x="3992825" y="4543520"/>
              <a:ext cx="1584701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100" dirty="0" err="1"/>
                <a:t>Embedding</a:t>
              </a:r>
              <a:r>
                <a:rPr lang="fr-FR" sz="1100" dirty="0"/>
                <a:t> 2</a:t>
              </a:r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514414CB-6056-CC8E-173D-BC3D1581AA35}"/>
                </a:ext>
              </a:extLst>
            </p:cNvPr>
            <p:cNvSpPr txBox="1"/>
            <p:nvPr/>
          </p:nvSpPr>
          <p:spPr>
            <a:xfrm>
              <a:off x="3108128" y="2497760"/>
              <a:ext cx="900193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6000" b="1" dirty="0"/>
                <a:t>+</a:t>
              </a:r>
            </a:p>
          </p:txBody>
        </p:sp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B5A784A4-DCB6-DC8A-696B-1664A7921B95}"/>
                </a:ext>
              </a:extLst>
            </p:cNvPr>
            <p:cNvSpPr txBox="1"/>
            <p:nvPr/>
          </p:nvSpPr>
          <p:spPr>
            <a:xfrm>
              <a:off x="1599702" y="5015967"/>
              <a:ext cx="3054671" cy="731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400" b="1" dirty="0"/>
                <a:t>= 0,86</a:t>
              </a:r>
            </a:p>
          </p:txBody>
        </p:sp>
        <p:pic>
          <p:nvPicPr>
            <p:cNvPr id="31" name="Image 30">
              <a:extLst>
                <a:ext uri="{FF2B5EF4-FFF2-40B4-BE49-F238E27FC236}">
                  <a16:creationId xmlns:a16="http://schemas.microsoft.com/office/drawing/2014/main" id="{9C9FDED8-593D-5334-4B44-9DB79C79B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21258" y="2001665"/>
              <a:ext cx="1066227" cy="2418134"/>
            </a:xfrm>
            <a:prstGeom prst="rect">
              <a:avLst/>
            </a:prstGeom>
          </p:spPr>
        </p:pic>
      </p:grpSp>
      <p:pic>
        <p:nvPicPr>
          <p:cNvPr id="33" name="Image 32">
            <a:extLst>
              <a:ext uri="{FF2B5EF4-FFF2-40B4-BE49-F238E27FC236}">
                <a16:creationId xmlns:a16="http://schemas.microsoft.com/office/drawing/2014/main" id="{CAC3D5EF-892B-85A1-9537-8BE613396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668" y="3546110"/>
            <a:ext cx="1143220" cy="570402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912CB452-9B54-7DD9-C5EB-A838CCB8D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896" y="3484673"/>
            <a:ext cx="1143220" cy="570402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7A9AD6AE-6A7E-AA3F-2210-D7F8416C81EA}"/>
              </a:ext>
            </a:extLst>
          </p:cNvPr>
          <p:cNvSpPr txBox="1"/>
          <p:nvPr/>
        </p:nvSpPr>
        <p:spPr>
          <a:xfrm>
            <a:off x="3031635" y="1736555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fr-FR" dirty="0">
                <a:latin typeface="Courier New" panose="02070309020205020404" pitchFamily="49" charset="0"/>
              </a:rPr>
              <a:t>Modèle de compatibilité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436A3C01-44DA-5B53-5F4D-E8549B18EC15}"/>
              </a:ext>
            </a:extLst>
          </p:cNvPr>
          <p:cNvSpPr txBox="1"/>
          <p:nvPr/>
        </p:nvSpPr>
        <p:spPr>
          <a:xfrm>
            <a:off x="3031635" y="6143592"/>
            <a:ext cx="6098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latin typeface="Courier New" panose="02070309020205020404" pitchFamily="49" charset="0"/>
              </a:rPr>
              <a:t> Score de tenue</a:t>
            </a:r>
            <a:endParaRPr lang="fr-FR" dirty="0"/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F132F79A-2956-D42B-381D-1E348B0FE92E}"/>
              </a:ext>
            </a:extLst>
          </p:cNvPr>
          <p:cNvGrpSpPr/>
          <p:nvPr/>
        </p:nvGrpSpPr>
        <p:grpSpPr>
          <a:xfrm>
            <a:off x="1038227" y="2105887"/>
            <a:ext cx="10315572" cy="619728"/>
            <a:chOff x="1038227" y="2105887"/>
            <a:chExt cx="10315572" cy="619728"/>
          </a:xfrm>
        </p:grpSpPr>
        <p:sp>
          <p:nvSpPr>
            <p:cNvPr id="37" name="Parenthèse ouvrante 36">
              <a:extLst>
                <a:ext uri="{FF2B5EF4-FFF2-40B4-BE49-F238E27FC236}">
                  <a16:creationId xmlns:a16="http://schemas.microsoft.com/office/drawing/2014/main" id="{3BAF097D-7A02-785F-DA56-8996E63471AE}"/>
                </a:ext>
              </a:extLst>
            </p:cNvPr>
            <p:cNvSpPr/>
            <p:nvPr/>
          </p:nvSpPr>
          <p:spPr>
            <a:xfrm rot="5400000">
              <a:off x="6040919" y="-2587265"/>
              <a:ext cx="310188" cy="10315572"/>
            </a:xfrm>
            <a:prstGeom prst="leftBracket">
              <a:avLst/>
            </a:prstGeom>
            <a:ln w="920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2" name="Connecteur droit 41">
              <a:extLst>
                <a:ext uri="{FF2B5EF4-FFF2-40B4-BE49-F238E27FC236}">
                  <a16:creationId xmlns:a16="http://schemas.microsoft.com/office/drawing/2014/main" id="{6312C6DA-1561-7A42-75E5-4E82479AC62A}"/>
                </a:ext>
              </a:extLst>
            </p:cNvPr>
            <p:cNvCxnSpPr>
              <a:stCxn id="37" idx="1"/>
            </p:cNvCxnSpPr>
            <p:nvPr/>
          </p:nvCxnSpPr>
          <p:spPr>
            <a:xfrm flipH="1" flipV="1">
              <a:off x="6196012" y="2105887"/>
              <a:ext cx="1" cy="309540"/>
            </a:xfrm>
            <a:prstGeom prst="line">
              <a:avLst/>
            </a:prstGeom>
            <a:ln w="920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e 43">
            <a:extLst>
              <a:ext uri="{FF2B5EF4-FFF2-40B4-BE49-F238E27FC236}">
                <a16:creationId xmlns:a16="http://schemas.microsoft.com/office/drawing/2014/main" id="{E514FB1E-E682-1F19-BD6B-8C949AE952FC}"/>
              </a:ext>
            </a:extLst>
          </p:cNvPr>
          <p:cNvGrpSpPr/>
          <p:nvPr/>
        </p:nvGrpSpPr>
        <p:grpSpPr>
          <a:xfrm>
            <a:off x="1038227" y="5408781"/>
            <a:ext cx="10315572" cy="644131"/>
            <a:chOff x="1038227" y="5408781"/>
            <a:chExt cx="10315572" cy="644131"/>
          </a:xfrm>
        </p:grpSpPr>
        <p:sp>
          <p:nvSpPr>
            <p:cNvPr id="38" name="Parenthèse ouvrante 37">
              <a:extLst>
                <a:ext uri="{FF2B5EF4-FFF2-40B4-BE49-F238E27FC236}">
                  <a16:creationId xmlns:a16="http://schemas.microsoft.com/office/drawing/2014/main" id="{7DD88C53-4BC5-940A-165C-6ADA840E6CBF}"/>
                </a:ext>
              </a:extLst>
            </p:cNvPr>
            <p:cNvSpPr/>
            <p:nvPr/>
          </p:nvSpPr>
          <p:spPr>
            <a:xfrm rot="16200000">
              <a:off x="6040919" y="406089"/>
              <a:ext cx="310188" cy="10315572"/>
            </a:xfrm>
            <a:prstGeom prst="leftBracket">
              <a:avLst/>
            </a:prstGeom>
            <a:ln w="920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F984EF9E-D951-F694-1A53-6ED0F74C7D44}"/>
                </a:ext>
              </a:extLst>
            </p:cNvPr>
            <p:cNvCxnSpPr/>
            <p:nvPr/>
          </p:nvCxnSpPr>
          <p:spPr>
            <a:xfrm flipH="1" flipV="1">
              <a:off x="6196011" y="5743372"/>
              <a:ext cx="1" cy="309540"/>
            </a:xfrm>
            <a:prstGeom prst="line">
              <a:avLst/>
            </a:prstGeom>
            <a:ln w="920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7132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679DA1-3FD0-55DD-A9B9-4C53821F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Données nécessaires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DFAE38-C8A3-B52B-2C31-39332FA8F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Un </a:t>
            </a:r>
            <a:r>
              <a:rPr lang="fr-FR" dirty="0" err="1"/>
              <a:t>dataset</a:t>
            </a:r>
            <a:r>
              <a:rPr lang="fr-FR" dirty="0"/>
              <a:t> d'</a:t>
            </a:r>
            <a:r>
              <a:rPr lang="fr-FR" dirty="0" err="1"/>
              <a:t>outfits</a:t>
            </a:r>
            <a:r>
              <a:rPr lang="fr-FR" dirty="0"/>
              <a:t> permettant d'identifier individuellement les vêtements composant chaque </a:t>
            </a:r>
            <a:r>
              <a:rPr lang="fr-FR" dirty="0" err="1"/>
              <a:t>outfit</a:t>
            </a:r>
            <a:r>
              <a:rPr lang="fr-FR" dirty="0"/>
              <a:t>, idéalement avec une image individuelle, une catégorie et/ou des attributs pour chaque vêtement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Un </a:t>
            </a:r>
            <a:r>
              <a:rPr lang="fr-FR" dirty="0" err="1"/>
              <a:t>dataset</a:t>
            </a:r>
            <a:r>
              <a:rPr lang="fr-FR" dirty="0"/>
              <a:t> de photos d'utilisateurs portant différentes tenues</a:t>
            </a:r>
          </a:p>
        </p:txBody>
      </p:sp>
    </p:spTree>
    <p:extLst>
      <p:ext uri="{BB962C8B-B14F-4D97-AF65-F5344CB8AC3E}">
        <p14:creationId xmlns:p14="http://schemas.microsoft.com/office/powerpoint/2010/main" val="3522599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7E8AF6-A809-509D-561D-6E1961651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Résumé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78CE8B-7F36-4A11-B553-19B0DBA7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 err="1"/>
              <a:t>Dataset</a:t>
            </a:r>
            <a:r>
              <a:rPr lang="fr-FR" sz="3200" dirty="0"/>
              <a:t> d'</a:t>
            </a:r>
            <a:r>
              <a:rPr lang="fr-FR" sz="3200" dirty="0" err="1"/>
              <a:t>outfits</a:t>
            </a:r>
            <a:r>
              <a:rPr lang="fr-FR" sz="3200" dirty="0"/>
              <a:t> et Utilisateurs → (Téléchargeable)</a:t>
            </a:r>
          </a:p>
          <a:p>
            <a:r>
              <a:rPr lang="fr-FR" sz="3200" dirty="0"/>
              <a:t>Génération des paires → (Transformation du </a:t>
            </a:r>
            <a:r>
              <a:rPr lang="fr-FR" sz="3200" dirty="0" err="1"/>
              <a:t>dataset</a:t>
            </a:r>
            <a:r>
              <a:rPr lang="fr-FR" sz="3200" dirty="0"/>
              <a:t>)</a:t>
            </a:r>
          </a:p>
          <a:p>
            <a:r>
              <a:rPr lang="fr-FR" sz="3200" dirty="0" err="1"/>
              <a:t>Embeddings</a:t>
            </a:r>
            <a:r>
              <a:rPr lang="fr-FR" sz="3200" dirty="0"/>
              <a:t> des vêtements → (Vectorisation des images)</a:t>
            </a:r>
          </a:p>
          <a:p>
            <a:r>
              <a:rPr lang="fr-FR" sz="3200" dirty="0"/>
              <a:t>Modèle de compatibilité → (Entrainement)</a:t>
            </a:r>
          </a:p>
          <a:p>
            <a:r>
              <a:rPr lang="fr-FR" sz="3200" dirty="0"/>
              <a:t>Score de compatibilité</a:t>
            </a:r>
          </a:p>
        </p:txBody>
      </p:sp>
    </p:spTree>
    <p:extLst>
      <p:ext uri="{BB962C8B-B14F-4D97-AF65-F5344CB8AC3E}">
        <p14:creationId xmlns:p14="http://schemas.microsoft.com/office/powerpoint/2010/main" val="2702522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03B53E-7518-D6EF-3E46-E3B8BDE6A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Comparaison des deux approches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88E24AF0-3CD1-10B2-2400-B302CA5F5F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7276809"/>
              </p:ext>
            </p:extLst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1926587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536947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148603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Similarité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Compatibilité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242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Question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« À quoi cela ressemble ? 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« Avec quoi l'associer ? »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470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Données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Images + texte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Outfits + articles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033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Complexité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Faible à moyenne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Moyenne à élevée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592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Personnalisation garde robe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À construire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Plus naturelle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809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Données publiques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Nombreuses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Plus difficiles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730487"/>
                  </a:ext>
                </a:extLst>
              </a:tr>
              <a:tr h="1211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Intérêt </a:t>
                      </a:r>
                      <a:r>
                        <a:rPr lang="fr-FR" b="1" dirty="0" err="1"/>
                        <a:t>PoC</a:t>
                      </a:r>
                      <a:endParaRPr lang="fr-FR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Approche avancée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858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Intérêt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Produits similaires ou équivalent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Tenue complète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5234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5507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23EC-8C25-0550-D597-1CE268AE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D4F8D6-33F5-58BF-D67A-F0CDBA1C11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Protocole expérimental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1DCF27-2861-AB07-0789-88B90E7D1F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Comment le </a:t>
            </a:r>
            <a:r>
              <a:rPr lang="fr-FR" dirty="0" err="1"/>
              <a:t>PoC</a:t>
            </a:r>
            <a:r>
              <a:rPr lang="fr-FR" dirty="0"/>
              <a:t> sera réellement évalué</a:t>
            </a:r>
          </a:p>
        </p:txBody>
      </p:sp>
    </p:spTree>
    <p:extLst>
      <p:ext uri="{BB962C8B-B14F-4D97-AF65-F5344CB8AC3E}">
        <p14:creationId xmlns:p14="http://schemas.microsoft.com/office/powerpoint/2010/main" val="343842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F169D4-815A-2BFA-93EA-C21D476B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fr-FR" dirty="0"/>
              <a:t>1. Évaluer chaque brique technique</a:t>
            </a:r>
            <a:endParaRPr lang="fr-FR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6A7D0DD-E523-0CAA-C2B6-CC6C70D43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572184"/>
              </p:ext>
            </p:extLst>
          </p:nvPr>
        </p:nvGraphicFramePr>
        <p:xfrm>
          <a:off x="1044262" y="2714051"/>
          <a:ext cx="10515600" cy="2133600"/>
        </p:xfrm>
        <a:graphic>
          <a:graphicData uri="http://schemas.openxmlformats.org/drawingml/2006/table">
            <a:tbl>
              <a:tblPr/>
              <a:tblGrid>
                <a:gridCol w="2458792">
                  <a:extLst>
                    <a:ext uri="{9D8B030D-6E8A-4147-A177-3AD203B41FA5}">
                      <a16:colId xmlns:a16="http://schemas.microsoft.com/office/drawing/2014/main" val="3319194609"/>
                    </a:ext>
                  </a:extLst>
                </a:gridCol>
                <a:gridCol w="4301543">
                  <a:extLst>
                    <a:ext uri="{9D8B030D-6E8A-4147-A177-3AD203B41FA5}">
                      <a16:colId xmlns:a16="http://schemas.microsoft.com/office/drawing/2014/main" val="2874097778"/>
                    </a:ext>
                  </a:extLst>
                </a:gridCol>
                <a:gridCol w="3755265">
                  <a:extLst>
                    <a:ext uri="{9D8B030D-6E8A-4147-A177-3AD203B41FA5}">
                      <a16:colId xmlns:a16="http://schemas.microsoft.com/office/drawing/2014/main" val="2708171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Brique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Ce que l'on vérifie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Métriques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12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Segmentation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 vêtement est correctement isolé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IoU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008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 err="1"/>
                        <a:t>Embedding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Les vêtements similaires sont proches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Recall@K / similarité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96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Caractéristiques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Les attributs sont correctement identifiés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Accuracy / Precision / Recall / 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03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Compatibilité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Les associations pertinentes sont correctement classées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Precision@K</a:t>
                      </a:r>
                      <a:r>
                        <a:rPr lang="fr-FR" dirty="0"/>
                        <a:t> / </a:t>
                      </a:r>
                      <a:r>
                        <a:rPr lang="fr-FR" dirty="0" err="1"/>
                        <a:t>Recall@K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674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2329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0C5E-12A7-7862-45EF-2AC64CDE6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65B12B-3011-E8EA-97DC-1A70F4640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2000" cy="1325563"/>
          </a:xfrm>
        </p:spPr>
        <p:txBody>
          <a:bodyPr/>
          <a:lstStyle/>
          <a:p>
            <a:r>
              <a:rPr lang="fr-FR" dirty="0"/>
              <a:t>2. Évaluer la valeur ajoutée des caractéristiques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FEA4F26D-2B6C-3EC1-856F-F5D6CC967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35760"/>
              </p:ext>
            </p:extLst>
          </p:nvPr>
        </p:nvGraphicFramePr>
        <p:xfrm>
          <a:off x="2000250" y="2733476"/>
          <a:ext cx="8191500" cy="1828800"/>
        </p:xfrm>
        <a:graphic>
          <a:graphicData uri="http://schemas.openxmlformats.org/drawingml/2006/table">
            <a:tbl>
              <a:tblPr/>
              <a:tblGrid>
                <a:gridCol w="2832100">
                  <a:extLst>
                    <a:ext uri="{9D8B030D-6E8A-4147-A177-3AD203B41FA5}">
                      <a16:colId xmlns:a16="http://schemas.microsoft.com/office/drawing/2014/main" val="1367119193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1649385846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1109441758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35649953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Expérience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 err="1"/>
                        <a:t>Embedding</a:t>
                      </a:r>
                      <a:endParaRPr lang="fr-FR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Caractéristiques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/>
                        <a:t>Compatibilité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43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A — Baseline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fr-FR" b="1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fr-FR" b="1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716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/>
                        <a:t>B — Similarité enrichie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fr-FR" b="1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9087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 — Compatibilité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endParaRPr lang="fr-FR" b="1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61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 — Compatibilité enrichie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✓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0464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6896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E74E0-F6AB-C9BF-F687-86298B74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67667F-F149-B60E-1AA6-7BECB66533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Critères de succès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3BDE7BF-2760-AE8E-5346-F644AAD33A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 </a:t>
            </a:r>
            <a:r>
              <a:rPr lang="fr-FR" dirty="0" err="1"/>
              <a:t>PoC</a:t>
            </a:r>
            <a:r>
              <a:rPr lang="fr-FR" dirty="0"/>
              <a:t> sera considéré comme concluant s’il permet de démontrer qu’une recommandation personnalisée peut apporter une valeur mesurable pour </a:t>
            </a:r>
            <a:r>
              <a:rPr lang="fr-FR" dirty="0" err="1"/>
              <a:t>FashionInsta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1010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DEDA0-A9F4-E394-4773-A443A632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0671A4-F267-621B-B7F0-1DE575E0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Critères métier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082625-B5B1-65C4-4502-B27A0A71D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3200" u="sng" dirty="0"/>
              <a:t>Une recommandation est considérée comme pertinente:</a:t>
            </a:r>
          </a:p>
          <a:p>
            <a:r>
              <a:rPr lang="fr-FR" dirty="0"/>
              <a:t>correspond au style/préférences de l'utilisateur</a:t>
            </a:r>
          </a:p>
          <a:p>
            <a:r>
              <a:rPr lang="fr-FR" dirty="0"/>
              <a:t>complète de manière cohérente au moins une partie de sa garde-robe</a:t>
            </a:r>
          </a:p>
        </p:txBody>
      </p:sp>
      <p:pic>
        <p:nvPicPr>
          <p:cNvPr id="6146" name="Picture 2" descr="Matching Your Personality to Your Style - Image Intelligence">
            <a:extLst>
              <a:ext uri="{FF2B5EF4-FFF2-40B4-BE49-F238E27FC236}">
                <a16:creationId xmlns:a16="http://schemas.microsoft.com/office/drawing/2014/main" id="{A45D98D6-E279-344C-B32E-44193D611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499" y="3501468"/>
            <a:ext cx="5934075" cy="2991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9313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CE52-4F15-7716-B310-E774D5CE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01866A-0229-BDAE-D323-DFF9446CB7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Planning et Ressources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DA9FB90-D7C9-F69F-24C7-2DE0C926A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Cadrage du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800191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D1FB55-5EE6-6FF4-6A31-FBC65ECC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12 semaines homme / 7 semaines travail</a:t>
            </a:r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376A4D85-0D1D-4C5F-2239-C647D9BC97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8826333"/>
              </p:ext>
            </p:extLst>
          </p:nvPr>
        </p:nvGraphicFramePr>
        <p:xfrm>
          <a:off x="0" y="2484436"/>
          <a:ext cx="12192000" cy="13255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itre 1">
            <a:extLst>
              <a:ext uri="{FF2B5EF4-FFF2-40B4-BE49-F238E27FC236}">
                <a16:creationId xmlns:a16="http://schemas.microsoft.com/office/drawing/2014/main" id="{FC7A7C1E-DD4D-4238-CB4B-3BCC87E690CF}"/>
              </a:ext>
            </a:extLst>
          </p:cNvPr>
          <p:cNvSpPr txBox="1">
            <a:spLocks/>
          </p:cNvSpPr>
          <p:nvPr/>
        </p:nvSpPr>
        <p:spPr>
          <a:xfrm>
            <a:off x="57150" y="2058192"/>
            <a:ext cx="952500" cy="852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latin typeface="Arial Black" panose="020B0A04020102020204" pitchFamily="34" charset="0"/>
              </a:rPr>
              <a:t>S1</a:t>
            </a:r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3B837EA3-F2F7-A52C-311B-F82869BADA8A}"/>
              </a:ext>
            </a:extLst>
          </p:cNvPr>
          <p:cNvSpPr txBox="1">
            <a:spLocks/>
          </p:cNvSpPr>
          <p:nvPr/>
        </p:nvSpPr>
        <p:spPr>
          <a:xfrm>
            <a:off x="1712119" y="2058192"/>
            <a:ext cx="952500" cy="852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latin typeface="Arial Black" panose="020B0A04020102020204" pitchFamily="34" charset="0"/>
              </a:rPr>
              <a:t>S2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62D6D08E-D181-AFD1-F772-1680A67D70C4}"/>
              </a:ext>
            </a:extLst>
          </p:cNvPr>
          <p:cNvSpPr txBox="1">
            <a:spLocks/>
          </p:cNvSpPr>
          <p:nvPr/>
        </p:nvSpPr>
        <p:spPr>
          <a:xfrm>
            <a:off x="3509962" y="2058192"/>
            <a:ext cx="952500" cy="852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latin typeface="Arial Black" panose="020B0A04020102020204" pitchFamily="34" charset="0"/>
              </a:rPr>
              <a:t>S3</a:t>
            </a:r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55306922-09A2-3D4D-3AD5-820A2CC0AC6A}"/>
              </a:ext>
            </a:extLst>
          </p:cNvPr>
          <p:cNvSpPr txBox="1">
            <a:spLocks/>
          </p:cNvSpPr>
          <p:nvPr/>
        </p:nvSpPr>
        <p:spPr>
          <a:xfrm>
            <a:off x="5329237" y="2083592"/>
            <a:ext cx="952500" cy="852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latin typeface="Arial Black" panose="020B0A04020102020204" pitchFamily="34" charset="0"/>
              </a:rPr>
              <a:t>S4</a:t>
            </a:r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2FFDA80E-4ACE-60AB-12F8-C6B63BCC8AF3}"/>
              </a:ext>
            </a:extLst>
          </p:cNvPr>
          <p:cNvSpPr txBox="1">
            <a:spLocks/>
          </p:cNvSpPr>
          <p:nvPr/>
        </p:nvSpPr>
        <p:spPr>
          <a:xfrm>
            <a:off x="8305799" y="2083592"/>
            <a:ext cx="952500" cy="852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latin typeface="Arial Black" panose="020B0A04020102020204" pitchFamily="34" charset="0"/>
              </a:rPr>
              <a:t>S6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4E2F4348-487F-E69B-8164-65458FACD5B8}"/>
              </a:ext>
            </a:extLst>
          </p:cNvPr>
          <p:cNvSpPr txBox="1">
            <a:spLocks/>
          </p:cNvSpPr>
          <p:nvPr/>
        </p:nvSpPr>
        <p:spPr>
          <a:xfrm>
            <a:off x="10125074" y="2083592"/>
            <a:ext cx="952500" cy="8524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>
                <a:latin typeface="Arial Black" panose="020B0A04020102020204" pitchFamily="34" charset="0"/>
              </a:rPr>
              <a:t>S7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DA98098-DE00-592F-AB43-80C535B0E21A}"/>
              </a:ext>
            </a:extLst>
          </p:cNvPr>
          <p:cNvSpPr txBox="1"/>
          <p:nvPr/>
        </p:nvSpPr>
        <p:spPr>
          <a:xfrm>
            <a:off x="57150" y="3809999"/>
            <a:ext cx="3575049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Data </a:t>
            </a:r>
            <a:r>
              <a:rPr lang="fr-FR" altLang="fr-FR" b="1" dirty="0" err="1">
                <a:solidFill>
                  <a:sysClr val="windowText" lastClr="000000"/>
                </a:solidFill>
                <a:latin typeface="Arial" panose="020B0604020202020204" pitchFamily="34" charset="0"/>
              </a:rPr>
              <a:t>Scientist</a:t>
            </a:r>
            <a:endParaRPr lang="fr-FR" altLang="fr-FR" b="1" dirty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DD1D870-51A4-AB06-089C-58A97F1DCA78}"/>
              </a:ext>
            </a:extLst>
          </p:cNvPr>
          <p:cNvSpPr txBox="1"/>
          <p:nvPr/>
        </p:nvSpPr>
        <p:spPr>
          <a:xfrm>
            <a:off x="3721100" y="4220110"/>
            <a:ext cx="4584699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ML </a:t>
            </a:r>
            <a:r>
              <a:rPr lang="fr-FR" altLang="fr-FR" b="1" dirty="0" err="1">
                <a:solidFill>
                  <a:sysClr val="windowText" lastClr="000000"/>
                </a:solidFill>
                <a:latin typeface="Arial" panose="020B0604020202020204" pitchFamily="34" charset="0"/>
              </a:rPr>
              <a:t>Engineer</a:t>
            </a:r>
            <a:r>
              <a:rPr lang="fr-FR" altLang="fr-FR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 </a:t>
            </a:r>
            <a:endParaRPr lang="fr-FR" b="1" dirty="0">
              <a:solidFill>
                <a:sysClr val="windowText" lastClr="000000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9F623B4-F469-42D8-199E-AB4E15480E4E}"/>
              </a:ext>
            </a:extLst>
          </p:cNvPr>
          <p:cNvSpPr txBox="1"/>
          <p:nvPr/>
        </p:nvSpPr>
        <p:spPr>
          <a:xfrm>
            <a:off x="8407399" y="4630221"/>
            <a:ext cx="3619501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Expertise métier</a:t>
            </a:r>
            <a:endParaRPr lang="fr-FR" b="1" dirty="0">
              <a:solidFill>
                <a:sysClr val="windowText" lastClr="000000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BB39F96-7FBA-E19B-6972-9C05C5BD8A65}"/>
              </a:ext>
            </a:extLst>
          </p:cNvPr>
          <p:cNvSpPr txBox="1"/>
          <p:nvPr/>
        </p:nvSpPr>
        <p:spPr>
          <a:xfrm>
            <a:off x="57150" y="5040332"/>
            <a:ext cx="3575049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 algn="ctr">
              <a:defRPr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altLang="fr-FR" dirty="0"/>
              <a:t>Product </a:t>
            </a:r>
            <a:r>
              <a:rPr lang="fr-FR" altLang="fr-FR" dirty="0" err="1"/>
              <a:t>Owner</a:t>
            </a:r>
            <a:r>
              <a:rPr lang="fr-FR" altLang="fr-FR" dirty="0"/>
              <a:t> </a:t>
            </a:r>
            <a:endParaRPr lang="fr-FR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467ECEF-87A8-564C-1362-44F30C11D8EB}"/>
              </a:ext>
            </a:extLst>
          </p:cNvPr>
          <p:cNvSpPr txBox="1"/>
          <p:nvPr/>
        </p:nvSpPr>
        <p:spPr>
          <a:xfrm>
            <a:off x="8407399" y="5040332"/>
            <a:ext cx="3619500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 algn="ctr">
              <a:defRPr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altLang="fr-FR" dirty="0"/>
              <a:t>Product </a:t>
            </a:r>
            <a:r>
              <a:rPr lang="fr-FR" altLang="fr-FR" dirty="0" err="1"/>
              <a:t>Owner</a:t>
            </a:r>
            <a:r>
              <a:rPr lang="fr-FR" altLang="fr-FR" dirty="0"/>
              <a:t> </a:t>
            </a:r>
            <a:endParaRPr lang="fr-FR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45BEF4D-A993-079D-9219-BBF23254A3F5}"/>
              </a:ext>
            </a:extLst>
          </p:cNvPr>
          <p:cNvSpPr txBox="1"/>
          <p:nvPr/>
        </p:nvSpPr>
        <p:spPr>
          <a:xfrm>
            <a:off x="8429625" y="3809999"/>
            <a:ext cx="1695450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Data </a:t>
            </a:r>
            <a:r>
              <a:rPr lang="fr-FR" altLang="fr-FR" b="1" dirty="0" err="1">
                <a:solidFill>
                  <a:sysClr val="windowText" lastClr="000000"/>
                </a:solidFill>
                <a:latin typeface="Arial" panose="020B0604020202020204" pitchFamily="34" charset="0"/>
              </a:rPr>
              <a:t>Scientist</a:t>
            </a:r>
            <a:endParaRPr lang="fr-FR" altLang="fr-FR" b="1" dirty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456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D1166-0026-CA59-CF02-8DACBFEB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D085CC-6B9B-B083-258D-750F67DCD6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Résultat attendu et décision à l'issue du </a:t>
            </a:r>
            <a:r>
              <a:rPr lang="fr-FR" dirty="0" err="1"/>
              <a:t>PoC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4B6C0F8-E6F3-A896-DEA8-99556808C5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Nous saurons si les données utilisées permettent de construire un moteur de recommandation suffisamment pertinent, quelle approche technique est exploitable et quelles sont les conditions nécessaires pour passer à un MVP</a:t>
            </a:r>
          </a:p>
        </p:txBody>
      </p:sp>
    </p:spTree>
    <p:extLst>
      <p:ext uri="{BB962C8B-B14F-4D97-AF65-F5344CB8AC3E}">
        <p14:creationId xmlns:p14="http://schemas.microsoft.com/office/powerpoint/2010/main" val="14247666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3929</TotalTime>
  <Words>2352</Words>
  <Application>Microsoft Office PowerPoint</Application>
  <PresentationFormat>Grand écran</PresentationFormat>
  <Paragraphs>461</Paragraphs>
  <Slides>29</Slides>
  <Notes>28</Notes>
  <HiddenSlides>0</HiddenSlides>
  <MMClips>0</MMClips>
  <ScaleCrop>false</ScaleCrop>
  <HeadingPairs>
    <vt:vector size="8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0</vt:i4>
      </vt:variant>
      <vt:variant>
        <vt:lpstr>Titres des diapositives</vt:lpstr>
      </vt:variant>
      <vt:variant>
        <vt:i4>29</vt:i4>
      </vt:variant>
    </vt:vector>
  </HeadingPairs>
  <TitlesOfParts>
    <vt:vector size="35" baseType="lpstr">
      <vt:lpstr>Arial</vt:lpstr>
      <vt:lpstr>Arial Black</vt:lpstr>
      <vt:lpstr>Calibri</vt:lpstr>
      <vt:lpstr>Calibri Light</vt:lpstr>
      <vt:lpstr>Courier New</vt:lpstr>
      <vt:lpstr>Thème Office</vt:lpstr>
      <vt:lpstr>Proof of Concept (PoC)</vt:lpstr>
      <vt:lpstr>Contexte et objectif du PoC</vt:lpstr>
      <vt:lpstr>Besoin métier</vt:lpstr>
      <vt:lpstr>Fonctionnalité centrale</vt:lpstr>
      <vt:lpstr>Périmètre du PoC</vt:lpstr>
      <vt:lpstr>Besoin =&gt; Problème ML</vt:lpstr>
      <vt:lpstr>(A Consolider)</vt:lpstr>
      <vt:lpstr>Approche 1 : Recommandation par similarité</vt:lpstr>
      <vt:lpstr>Photo utilisateur ↓ Segmentation ↓ Vectorisation ↓ Recherche d'articles similaires ↓ Classement</vt:lpstr>
      <vt:lpstr>D'où vient le signal de similarité ?</vt:lpstr>
      <vt:lpstr>Présentation PowerPoint</vt:lpstr>
      <vt:lpstr>Exemple</vt:lpstr>
      <vt:lpstr>Approche 2 : Recommandation par compatibilité</vt:lpstr>
      <vt:lpstr>Photo utilisateur ↓ Segmentation ↓ Vectorisation ↓ Recherche par compatibilité ↓ Classement</vt:lpstr>
      <vt:lpstr>D'où vient le signal de compatibilité ?</vt:lpstr>
      <vt:lpstr>Présentation PowerPoint</vt:lpstr>
      <vt:lpstr>Ce que le modèle apprend</vt:lpstr>
      <vt:lpstr>Utiliser ces scores pour rechercher les meilleurs compléments à la garde-robe</vt:lpstr>
      <vt:lpstr>Données nécessaires</vt:lpstr>
      <vt:lpstr>Résumé</vt:lpstr>
      <vt:lpstr>Comparaison des deux approches</vt:lpstr>
      <vt:lpstr>Protocole expérimental</vt:lpstr>
      <vt:lpstr>1. Évaluer chaque brique technique</vt:lpstr>
      <vt:lpstr>2. Évaluer la valeur ajoutée des caractéristiques</vt:lpstr>
      <vt:lpstr>Critères de succès</vt:lpstr>
      <vt:lpstr>Critères métier</vt:lpstr>
      <vt:lpstr>Planning et Ressources</vt:lpstr>
      <vt:lpstr>12 semaines homme / 7 semaines travail</vt:lpstr>
      <vt:lpstr>Résultat attendu et décision à l'issue du PoC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auguey</dc:creator>
  <cp:lastModifiedBy>thomas auguey</cp:lastModifiedBy>
  <cp:revision>225</cp:revision>
  <dcterms:created xsi:type="dcterms:W3CDTF">2026-09-21T07:42:57Z</dcterms:created>
  <dcterms:modified xsi:type="dcterms:W3CDTF">2026-09-29T15:17:02Z</dcterms:modified>
</cp:coreProperties>
</file>